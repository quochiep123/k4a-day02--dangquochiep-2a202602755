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965960"/>
            <a:ext cx="1463040" cy="64008"/>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457200"/>
          </a:xfrm>
          <a:prstGeom prst="rect">
            <a:avLst/>
          </a:prstGeom>
          <a:noFill/>
        </p:spPr>
        <p:txBody>
          <a:bodyPr wrap="square" anchor="t" lIns="0" rIns="0" tIns="0" bIns="0">
            <a:spAutoFit/>
          </a:bodyPr>
          <a:lstStyle/>
          <a:p>
            <a:pPr algn="l">
              <a:lnSpc>
                <a:spcPct val="105000"/>
              </a:lnSpc>
              <a:spcAft>
                <a:spcPts val="600"/>
              </a:spcAft>
            </a:pPr>
            <a:r>
              <a:rPr sz="1300" b="1">
                <a:solidFill>
                  <a:srgbClr val="E0A458"/>
                </a:solidFill>
                <a:latin typeface="Arial"/>
              </a:rPr>
              <a:t>DAY 02 LAB — TÌM ĐÚNG BÀI TOÁN CHO AI</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lnSpc>
                <a:spcPct val="112000"/>
              </a:lnSpc>
              <a:spcAft>
                <a:spcPts val="200"/>
              </a:spcAft>
            </a:pPr>
            <a:r>
              <a:rPr sz="3600" b="1">
                <a:solidFill>
                  <a:srgbClr val="FFFFFF"/>
                </a:solidFill>
                <a:latin typeface="Arial"/>
              </a:rPr>
              <a:t>Meeting note: vấn đề không nằm ở 15 phút gõ chữ,</a:t>
            </a:r>
          </a:p>
          <a:p>
            <a:pPr algn="l">
              <a:lnSpc>
                <a:spcPct val="112000"/>
              </a:lnSpc>
              <a:spcAft>
                <a:spcPts val="200"/>
              </a:spcAft>
            </a:pPr>
            <a:r>
              <a:rPr sz="3600" b="1">
                <a:solidFill>
                  <a:srgbClr val="FFFFFF"/>
                </a:solidFill>
                <a:latin typeface="Arial"/>
              </a:rPr>
              <a:t>mà ở ngữ cảnh dự án không đi theo bản ghi âm</a:t>
            </a:r>
          </a:p>
        </p:txBody>
      </p:sp>
      <p:sp>
        <p:nvSpPr>
          <p:cNvPr id="7" name="TextBox 6"/>
          <p:cNvSpPr txBox="1"/>
          <p:nvPr/>
        </p:nvSpPr>
        <p:spPr>
          <a:xfrm>
            <a:off x="822960" y="4114800"/>
            <a:ext cx="10515600" cy="822960"/>
          </a:xfrm>
          <a:prstGeom prst="rect">
            <a:avLst/>
          </a:prstGeom>
          <a:noFill/>
        </p:spPr>
        <p:txBody>
          <a:bodyPr wrap="square" anchor="t" lIns="0" rIns="0" tIns="0" bIns="0">
            <a:spAutoFit/>
          </a:bodyPr>
          <a:lstStyle/>
          <a:p>
            <a:pPr algn="l">
              <a:lnSpc>
                <a:spcPct val="105000"/>
              </a:lnSpc>
              <a:spcAft>
                <a:spcPts val="600"/>
              </a:spcAft>
            </a:pPr>
            <a:r>
              <a:rPr sz="1500" b="0">
                <a:solidFill>
                  <a:srgbClr val="C9D3DC"/>
                </a:solidFill>
                <a:latin typeface="Arial"/>
              </a:rPr>
              <a:t>Bản nộp nhóm · Phase 3 → Phase 6 · Quyết định cuối: GO có điều kiện, mức Workflow</a:t>
            </a:r>
          </a:p>
        </p:txBody>
      </p:sp>
      <p:sp>
        <p:nvSpPr>
          <p:cNvPr id="8" name="Rectangle 7"/>
          <p:cNvSpPr/>
          <p:nvPr/>
        </p:nvSpPr>
        <p:spPr>
          <a:xfrm>
            <a:off x="822960" y="5029200"/>
            <a:ext cx="10515600" cy="36576"/>
          </a:xfrm>
          <a:prstGeom prst="rect">
            <a:avLst/>
          </a:prstGeom>
          <a:solidFill>
            <a:srgbClr val="2B44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303520"/>
            <a:ext cx="10515600" cy="822960"/>
          </a:xfrm>
          <a:prstGeom prst="rect">
            <a:avLst/>
          </a:prstGeom>
          <a:noFill/>
        </p:spPr>
        <p:txBody>
          <a:bodyPr wrap="square" anchor="t" lIns="0" rIns="0" tIns="0" bIns="0">
            <a:spAutoFit/>
          </a:bodyPr>
          <a:lstStyle/>
          <a:p>
            <a:pPr algn="l">
              <a:lnSpc>
                <a:spcPct val="105000"/>
              </a:lnSpc>
              <a:spcAft>
                <a:spcPts val="600"/>
              </a:spcAft>
            </a:pPr>
            <a:r>
              <a:rPr sz="1300" b="0">
                <a:solidFill>
                  <a:srgbClr val="9FAFBC"/>
                </a:solidFill>
                <a:latin typeface="Arial"/>
              </a:rPr>
              <a:t>Khang · Hiệp · Sơn · Hoàng · Uyên · Dũng   |   Lớp AI Thực Chiến K4A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
            <a:ext cx="10972800" cy="274320"/>
          </a:xfrm>
          <a:prstGeom prst="rect">
            <a:avLst/>
          </a:prstGeom>
          <a:noFill/>
        </p:spPr>
        <p:txBody>
          <a:bodyPr wrap="square" anchor="t" lIns="0" rIns="0" tIns="0" bIns="0">
            <a:spAutoFit/>
          </a:bodyPr>
          <a:lstStyle/>
          <a:p>
            <a:pPr algn="l">
              <a:lnSpc>
                <a:spcPct val="105000"/>
              </a:lnSpc>
              <a:spcAft>
                <a:spcPts val="600"/>
              </a:spcAft>
            </a:pPr>
            <a:r>
              <a:rPr sz="1100" b="1">
                <a:solidFill>
                  <a:srgbClr val="E0A458"/>
                </a:solidFill>
                <a:latin typeface="Arial"/>
              </a:rPr>
              <a:t>NHÓM</a:t>
            </a:r>
          </a:p>
        </p:txBody>
      </p:sp>
      <p:sp>
        <p:nvSpPr>
          <p:cNvPr id="6" name="TextBox 5"/>
          <p:cNvSpPr txBox="1"/>
          <p:nvPr/>
        </p:nvSpPr>
        <p:spPr>
          <a:xfrm>
            <a:off x="640080" y="475488"/>
            <a:ext cx="10972800" cy="548640"/>
          </a:xfrm>
          <a:prstGeom prst="rect">
            <a:avLst/>
          </a:prstGeom>
          <a:noFill/>
        </p:spPr>
        <p:txBody>
          <a:bodyPr wrap="square" anchor="t" lIns="0" rIns="0" tIns="0" bIns="0">
            <a:spAutoFit/>
          </a:bodyPr>
          <a:lstStyle/>
          <a:p>
            <a:pPr algn="l">
              <a:lnSpc>
                <a:spcPct val="105000"/>
              </a:lnSpc>
              <a:spcAft>
                <a:spcPts val="600"/>
              </a:spcAft>
            </a:pPr>
            <a:r>
              <a:rPr sz="2600" b="1">
                <a:solidFill>
                  <a:srgbClr val="FFFFFF"/>
                </a:solidFill>
                <a:latin typeface="Arial"/>
              </a:rPr>
              <a:t>6 người, 6 vai trò tách bạch</a:t>
            </a:r>
          </a:p>
        </p:txBody>
      </p:sp>
      <p:sp>
        <p:nvSpPr>
          <p:cNvPr id="7" name="TextBox 6"/>
          <p:cNvSpPr txBox="1"/>
          <p:nvPr/>
        </p:nvSpPr>
        <p:spPr>
          <a:xfrm>
            <a:off x="640080" y="1325880"/>
            <a:ext cx="10972800" cy="365760"/>
          </a:xfrm>
          <a:prstGeom prst="rect">
            <a:avLst/>
          </a:prstGeom>
          <a:noFill/>
        </p:spPr>
        <p:txBody>
          <a:bodyPr wrap="square" anchor="t" lIns="0" rIns="0" tIns="0" bIns="0">
            <a:spAutoFit/>
          </a:bodyPr>
          <a:lstStyle/>
          <a:p>
            <a:pPr algn="l">
              <a:lnSpc>
                <a:spcPct val="105000"/>
              </a:lnSpc>
              <a:spcAft>
                <a:spcPts val="600"/>
              </a:spcAft>
            </a:pPr>
            <a:r>
              <a:rPr sz="1300" b="0">
                <a:solidFill>
                  <a:srgbClr val="6B7280"/>
                </a:solidFill>
                <a:latin typeface="Arial"/>
              </a:rPr>
              <a:t>Chia vai trước khi pitch để không ai vừa bảo vệ ý mình vừa chấm điểm ý mình</a:t>
            </a:r>
          </a:p>
        </p:txBody>
      </p:sp>
      <p:graphicFrame>
        <p:nvGraphicFramePr>
          <p:cNvPr id="8" name="Table 7"/>
          <p:cNvGraphicFramePr>
            <a:graphicFrameLocks noGrp="1"/>
          </p:cNvGraphicFramePr>
          <p:nvPr/>
        </p:nvGraphicFramePr>
        <p:xfrm>
          <a:off x="640080" y="1874519"/>
          <a:ext cx="10881360" cy="3218688"/>
        </p:xfrm>
        <a:graphic>
          <a:graphicData uri="http://schemas.openxmlformats.org/drawingml/2006/table">
            <a:tbl>
              <a:tblPr firstRow="1" bandRow="1">
                <a:tableStyleId>{5C22544A-7EE6-4342-B048-85BDC9FD1C3A}</a:tableStyleId>
              </a:tblPr>
              <a:tblGrid>
                <a:gridCol w="2286000"/>
                <a:gridCol w="1920240"/>
                <a:gridCol w="6675120"/>
              </a:tblGrid>
              <a:tr h="365760">
                <a:tc>
                  <a:txBody>
                    <a:bodyPr wrap="square"/>
                    <a:lstStyle/>
                    <a:p>
                      <a:pPr algn="l"/>
                      <a:r>
                        <a:rPr sz="1050" b="1">
                          <a:solidFill>
                            <a:srgbClr val="FFFFFF"/>
                          </a:solidFill>
                          <a:latin typeface="Arial"/>
                        </a:rPr>
                        <a:t>Thành viên</a:t>
                      </a:r>
                    </a:p>
                  </a:txBody>
                  <a:tcPr marL="73152" marR="73152" marT="36576" marB="36576" anchor="ctr">
                    <a:solidFill>
                      <a:srgbClr val="10263A"/>
                    </a:solidFill>
                  </a:tcPr>
                </a:tc>
                <a:tc>
                  <a:txBody>
                    <a:bodyPr wrap="square"/>
                    <a:lstStyle/>
                    <a:p>
                      <a:pPr algn="l"/>
                      <a:r>
                        <a:rPr sz="1050" b="1">
                          <a:solidFill>
                            <a:srgbClr val="FFFFFF"/>
                          </a:solidFill>
                          <a:latin typeface="Arial"/>
                        </a:rPr>
                        <a:t>Vai trò</a:t>
                      </a:r>
                    </a:p>
                  </a:txBody>
                  <a:tcPr marL="73152" marR="73152" marT="36576" marB="36576" anchor="ctr">
                    <a:solidFill>
                      <a:srgbClr val="10263A"/>
                    </a:solidFill>
                  </a:tcPr>
                </a:tc>
                <a:tc>
                  <a:txBody>
                    <a:bodyPr wrap="square"/>
                    <a:lstStyle/>
                    <a:p>
                      <a:pPr algn="l"/>
                      <a:r>
                        <a:rPr sz="1050" b="1">
                          <a:solidFill>
                            <a:srgbClr val="FFFFFF"/>
                          </a:solidFill>
                          <a:latin typeface="Arial"/>
                        </a:rPr>
                        <a:t>Việc cụ thể trong buổi lab</a:t>
                      </a:r>
                    </a:p>
                  </a:txBody>
                  <a:tcPr marL="73152" marR="73152" marT="36576" marB="36576" anchor="ctr">
                    <a:solidFill>
                      <a:srgbClr val="10263A"/>
                    </a:solidFill>
                  </a:tcPr>
                </a:tc>
              </a:tr>
              <a:tr h="475488">
                <a:tc>
                  <a:txBody>
                    <a:bodyPr wrap="square"/>
                    <a:lstStyle/>
                    <a:p>
                      <a:pPr algn="l"/>
                      <a:r>
                        <a:rPr sz="1050" b="0">
                          <a:solidFill>
                            <a:srgbClr val="1F2933"/>
                          </a:solidFill>
                          <a:latin typeface="Arial"/>
                        </a:rPr>
                        <a:t>Bùi Thị Thu Uyên</a:t>
                      </a:r>
                    </a:p>
                  </a:txBody>
                  <a:tcPr marL="73152" marR="73152" marT="36576" marB="36576" anchor="ctr">
                    <a:solidFill>
                      <a:srgbClr val="FFFFFF"/>
                    </a:solidFill>
                  </a:tcPr>
                </a:tc>
                <a:tc>
                  <a:txBody>
                    <a:bodyPr wrap="square"/>
                    <a:lstStyle/>
                    <a:p>
                      <a:pPr algn="l"/>
                      <a:r>
                        <a:rPr sz="1050" b="0">
                          <a:solidFill>
                            <a:srgbClr val="1F2933"/>
                          </a:solidFill>
                          <a:latin typeface="Arial"/>
                        </a:rPr>
                        <a:t>Facilitator</a:t>
                      </a:r>
                    </a:p>
                  </a:txBody>
                  <a:tcPr marL="73152" marR="73152" marT="36576" marB="36576" anchor="ctr">
                    <a:solidFill>
                      <a:srgbClr val="FFFFFF"/>
                    </a:solidFill>
                  </a:tcPr>
                </a:tc>
                <a:tc>
                  <a:txBody>
                    <a:bodyPr wrap="square"/>
                    <a:lstStyle/>
                    <a:p>
                      <a:pPr algn="l"/>
                      <a:r>
                        <a:rPr sz="1050" b="0">
                          <a:solidFill>
                            <a:srgbClr val="1F2933"/>
                          </a:solidFill>
                          <a:latin typeface="Arial"/>
                        </a:rPr>
                        <a:t>Điều phối pitch, giữ giờ, chốt đồng thuận khi nhóm lệch</a:t>
                      </a:r>
                    </a:p>
                  </a:txBody>
                  <a:tcPr marL="73152" marR="73152" marT="36576" marB="36576" anchor="ctr">
                    <a:solidFill>
                      <a:srgbClr val="FFFFFF"/>
                    </a:solidFill>
                  </a:tcPr>
                </a:tc>
              </a:tr>
              <a:tr h="475488">
                <a:tc>
                  <a:txBody>
                    <a:bodyPr wrap="square"/>
                    <a:lstStyle/>
                    <a:p>
                      <a:pPr algn="l"/>
                      <a:r>
                        <a:rPr sz="1050" b="0">
                          <a:solidFill>
                            <a:srgbClr val="1F2933"/>
                          </a:solidFill>
                          <a:latin typeface="Arial"/>
                        </a:rPr>
                        <a:t>Nguyễn Việt Dũng</a:t>
                      </a:r>
                    </a:p>
                  </a:txBody>
                  <a:tcPr marL="73152" marR="73152" marT="36576" marB="36576" anchor="ctr">
                    <a:solidFill>
                      <a:srgbClr val="EEEEEA"/>
                    </a:solidFill>
                  </a:tcPr>
                </a:tc>
                <a:tc>
                  <a:txBody>
                    <a:bodyPr wrap="square"/>
                    <a:lstStyle/>
                    <a:p>
                      <a:pPr algn="l"/>
                      <a:r>
                        <a:rPr sz="1050" b="0">
                          <a:solidFill>
                            <a:srgbClr val="1F2933"/>
                          </a:solidFill>
                          <a:latin typeface="Arial"/>
                        </a:rPr>
                        <a:t>Domain owner</a:t>
                      </a:r>
                    </a:p>
                  </a:txBody>
                  <a:tcPr marL="73152" marR="73152" marT="36576" marB="36576" anchor="ctr">
                    <a:solidFill>
                      <a:srgbClr val="EEEEEA"/>
                    </a:solidFill>
                  </a:tcPr>
                </a:tc>
                <a:tc>
                  <a:txBody>
                    <a:bodyPr wrap="square"/>
                    <a:lstStyle/>
                    <a:p>
                      <a:pPr algn="l"/>
                      <a:r>
                        <a:rPr sz="1050" b="0">
                          <a:solidFill>
                            <a:srgbClr val="1F2933"/>
                          </a:solidFill>
                          <a:latin typeface="Arial"/>
                        </a:rPr>
                        <a:t>Người đang gặp chính bài toán được chọn — cung cấp baseline thật</a:t>
                      </a:r>
                    </a:p>
                  </a:txBody>
                  <a:tcPr marL="73152" marR="73152" marT="36576" marB="36576" anchor="ctr">
                    <a:solidFill>
                      <a:srgbClr val="EEEEEA"/>
                    </a:solidFill>
                  </a:tcPr>
                </a:tc>
              </a:tr>
              <a:tr h="475488">
                <a:tc>
                  <a:txBody>
                    <a:bodyPr wrap="square"/>
                    <a:lstStyle/>
                    <a:p>
                      <a:pPr algn="l"/>
                      <a:r>
                        <a:rPr sz="1050" b="0">
                          <a:solidFill>
                            <a:srgbClr val="1F2933"/>
                          </a:solidFill>
                          <a:latin typeface="Arial"/>
                        </a:rPr>
                        <a:t>Đặng Quốc Hiệp</a:t>
                      </a:r>
                    </a:p>
                  </a:txBody>
                  <a:tcPr marL="73152" marR="73152" marT="36576" marB="36576" anchor="ctr">
                    <a:solidFill>
                      <a:srgbClr val="FFFFFF"/>
                    </a:solidFill>
                  </a:tcPr>
                </a:tc>
                <a:tc>
                  <a:txBody>
                    <a:bodyPr wrap="square"/>
                    <a:lstStyle/>
                    <a:p>
                      <a:pPr algn="l"/>
                      <a:r>
                        <a:rPr sz="1050" b="0">
                          <a:solidFill>
                            <a:srgbClr val="1F2933"/>
                          </a:solidFill>
                          <a:latin typeface="Arial"/>
                        </a:rPr>
                        <a:t>Workflow + writer</a:t>
                      </a:r>
                    </a:p>
                  </a:txBody>
                  <a:tcPr marL="73152" marR="73152" marT="36576" marB="36576" anchor="ctr">
                    <a:solidFill>
                      <a:srgbClr val="FFFFFF"/>
                    </a:solidFill>
                  </a:tcPr>
                </a:tc>
                <a:tc>
                  <a:txBody>
                    <a:bodyPr wrap="square"/>
                    <a:lstStyle/>
                    <a:p>
                      <a:pPr algn="l"/>
                      <a:r>
                        <a:rPr sz="1050" b="0">
                          <a:solidFill>
                            <a:srgbClr val="1F2933"/>
                          </a:solidFill>
                          <a:latin typeface="Arial"/>
                        </a:rPr>
                        <a:t>Vẽ before/after, chấp bút bản nộp nhóm</a:t>
                      </a:r>
                    </a:p>
                  </a:txBody>
                  <a:tcPr marL="73152" marR="73152" marT="36576" marB="36576" anchor="ctr">
                    <a:solidFill>
                      <a:srgbClr val="FFFFFF"/>
                    </a:solidFill>
                  </a:tcPr>
                </a:tc>
              </a:tr>
              <a:tr h="475488">
                <a:tc>
                  <a:txBody>
                    <a:bodyPr wrap="square"/>
                    <a:lstStyle/>
                    <a:p>
                      <a:pPr algn="l"/>
                      <a:r>
                        <a:rPr sz="1050" b="0">
                          <a:solidFill>
                            <a:srgbClr val="1F2933"/>
                          </a:solidFill>
                          <a:latin typeface="Arial"/>
                        </a:rPr>
                        <a:t>Nguyễn Thế Khang</a:t>
                      </a:r>
                    </a:p>
                  </a:txBody>
                  <a:tcPr marL="73152" marR="73152" marT="36576" marB="36576" anchor="ctr">
                    <a:solidFill>
                      <a:srgbClr val="EEEEEA"/>
                    </a:solidFill>
                  </a:tcPr>
                </a:tc>
                <a:tc>
                  <a:txBody>
                    <a:bodyPr wrap="square"/>
                    <a:lstStyle/>
                    <a:p>
                      <a:pPr algn="l"/>
                      <a:r>
                        <a:rPr sz="1050" b="0">
                          <a:solidFill>
                            <a:srgbClr val="1F2933"/>
                          </a:solidFill>
                          <a:latin typeface="Arial"/>
                        </a:rPr>
                        <a:t>Research</a:t>
                      </a:r>
                    </a:p>
                  </a:txBody>
                  <a:tcPr marL="73152" marR="73152" marT="36576" marB="36576" anchor="ctr">
                    <a:solidFill>
                      <a:srgbClr val="EEEEEA"/>
                    </a:solidFill>
                  </a:tcPr>
                </a:tc>
                <a:tc>
                  <a:txBody>
                    <a:bodyPr wrap="square"/>
                    <a:lstStyle/>
                    <a:p>
                      <a:pPr algn="l"/>
                      <a:r>
                        <a:rPr sz="1050" b="0">
                          <a:solidFill>
                            <a:srgbClr val="1F2933"/>
                          </a:solidFill>
                          <a:latin typeface="Arial"/>
                        </a:rPr>
                        <a:t>Tìm tool/pattern đã có, kiểm link nguồn chính thức</a:t>
                      </a:r>
                    </a:p>
                  </a:txBody>
                  <a:tcPr marL="73152" marR="73152" marT="36576" marB="36576" anchor="ctr">
                    <a:solidFill>
                      <a:srgbClr val="EEEEEA"/>
                    </a:solidFill>
                  </a:tcPr>
                </a:tc>
              </a:tr>
              <a:tr h="475488">
                <a:tc>
                  <a:txBody>
                    <a:bodyPr wrap="square"/>
                    <a:lstStyle/>
                    <a:p>
                      <a:pPr algn="l"/>
                      <a:r>
                        <a:rPr sz="1050" b="0">
                          <a:solidFill>
                            <a:srgbClr val="1F2933"/>
                          </a:solidFill>
                          <a:latin typeface="Arial"/>
                        </a:rPr>
                        <a:t>Nguyễn Khánh Sơn</a:t>
                      </a:r>
                    </a:p>
                  </a:txBody>
                  <a:tcPr marL="73152" marR="73152" marT="36576" marB="36576" anchor="ctr">
                    <a:solidFill>
                      <a:srgbClr val="FFFFFF"/>
                    </a:solidFill>
                  </a:tcPr>
                </a:tc>
                <a:tc>
                  <a:txBody>
                    <a:bodyPr wrap="square"/>
                    <a:lstStyle/>
                    <a:p>
                      <a:pPr algn="l"/>
                      <a:r>
                        <a:rPr sz="1050" b="0">
                          <a:solidFill>
                            <a:srgbClr val="1F2933"/>
                          </a:solidFill>
                          <a:latin typeface="Arial"/>
                        </a:rPr>
                        <a:t>Validation</a:t>
                      </a:r>
                    </a:p>
                  </a:txBody>
                  <a:tcPr marL="73152" marR="73152" marT="36576" marB="36576" anchor="ctr">
                    <a:solidFill>
                      <a:srgbClr val="FFFFFF"/>
                    </a:solidFill>
                  </a:tcPr>
                </a:tc>
                <a:tc>
                  <a:txBody>
                    <a:bodyPr wrap="square"/>
                    <a:lstStyle/>
                    <a:p>
                      <a:pPr algn="l"/>
                      <a:r>
                        <a:rPr sz="1050" b="0">
                          <a:solidFill>
                            <a:srgbClr val="1F2933"/>
                          </a:solidFill>
                          <a:latin typeface="Arial"/>
                        </a:rPr>
                        <a:t>Soạn câu hỏi interview/poll, tổng hợp tín hiệu</a:t>
                      </a:r>
                    </a:p>
                  </a:txBody>
                  <a:tcPr marL="73152" marR="73152" marT="36576" marB="36576" anchor="ctr">
                    <a:solidFill>
                      <a:srgbClr val="FFFFFF"/>
                    </a:solidFill>
                  </a:tcPr>
                </a:tc>
              </a:tr>
              <a:tr h="475488">
                <a:tc>
                  <a:txBody>
                    <a:bodyPr wrap="square"/>
                    <a:lstStyle/>
                    <a:p>
                      <a:pPr algn="l"/>
                      <a:r>
                        <a:rPr sz="1050" b="0">
                          <a:solidFill>
                            <a:srgbClr val="1F2933"/>
                          </a:solidFill>
                          <a:latin typeface="Arial"/>
                        </a:rPr>
                        <a:t>Ngô Xuân Hoàng</a:t>
                      </a:r>
                    </a:p>
                  </a:txBody>
                  <a:tcPr marL="73152" marR="73152" marT="36576" marB="36576" anchor="ctr">
                    <a:solidFill>
                      <a:srgbClr val="EEEEEA"/>
                    </a:solidFill>
                  </a:tcPr>
                </a:tc>
                <a:tc>
                  <a:txBody>
                    <a:bodyPr wrap="square"/>
                    <a:lstStyle/>
                    <a:p>
                      <a:pPr algn="l"/>
                      <a:r>
                        <a:rPr sz="1050" b="0">
                          <a:solidFill>
                            <a:srgbClr val="1F2933"/>
                          </a:solidFill>
                          <a:latin typeface="Arial"/>
                        </a:rPr>
                        <a:t>Devil's advocate</a:t>
                      </a:r>
                    </a:p>
                  </a:txBody>
                  <a:tcPr marL="73152" marR="73152" marT="36576" marB="36576" anchor="ctr">
                    <a:solidFill>
                      <a:srgbClr val="EEEEEA"/>
                    </a:solidFill>
                  </a:tcPr>
                </a:tc>
                <a:tc>
                  <a:txBody>
                    <a:bodyPr wrap="square"/>
                    <a:lstStyle/>
                    <a:p>
                      <a:pPr algn="l"/>
                      <a:r>
                        <a:rPr sz="1050" b="0">
                          <a:solidFill>
                            <a:srgbClr val="1F2933"/>
                          </a:solidFill>
                          <a:latin typeface="Arial"/>
                        </a:rPr>
                        <a:t>Ép nhóm trả lời "non-AI có đủ không", soi rủi ro</a:t>
                      </a:r>
                    </a:p>
                  </a:txBody>
                  <a:tcPr marL="73152" marR="73152" marT="36576" marB="36576" anchor="ctr">
                    <a:solidFill>
                      <a:srgbClr val="EEEEEA"/>
                    </a:solidFill>
                  </a:tcPr>
                </a:tc>
              </a:tr>
            </a:tbl>
          </a:graphicData>
        </a:graphic>
      </p:graphicFrame>
      <p:sp>
        <p:nvSpPr>
          <p:cNvPr id="9" name="TextBox 8"/>
          <p:cNvSpPr txBox="1"/>
          <p:nvPr/>
        </p:nvSpPr>
        <p:spPr>
          <a:xfrm>
            <a:off x="640080" y="5669280"/>
            <a:ext cx="10881360" cy="457200"/>
          </a:xfrm>
          <a:prstGeom prst="rect">
            <a:avLst/>
          </a:prstGeom>
          <a:noFill/>
        </p:spPr>
        <p:txBody>
          <a:bodyPr wrap="square" anchor="t" lIns="0" rIns="0" tIns="0" bIns="0">
            <a:spAutoFit/>
          </a:bodyPr>
          <a:lstStyle/>
          <a:p>
            <a:pPr algn="l">
              <a:lnSpc>
                <a:spcPct val="105000"/>
              </a:lnSpc>
              <a:spcAft>
                <a:spcPts val="600"/>
              </a:spcAft>
            </a:pPr>
            <a:r>
              <a:rPr sz="1200" b="1">
                <a:solidFill>
                  <a:srgbClr val="1F7772"/>
                </a:solidFill>
                <a:latin typeface="Arial"/>
              </a:rPr>
              <a:t>Hoàng không pitch card nào — đó là cố ý. Nhóm cần một người không có bài để bảo vệ.</a:t>
            </a:r>
          </a:p>
        </p:txBody>
      </p:sp>
      <p:sp>
        <p:nvSpPr>
          <p:cNvPr id="10" name="TextBox 9"/>
          <p:cNvSpPr txBox="1"/>
          <p:nvPr/>
        </p:nvSpPr>
        <p:spPr>
          <a:xfrm>
            <a:off x="640080" y="6400800"/>
            <a:ext cx="8229600" cy="274320"/>
          </a:xfrm>
          <a:prstGeom prst="rect">
            <a:avLst/>
          </a:prstGeom>
          <a:noFill/>
        </p:spPr>
        <p:txBody>
          <a:bodyPr wrap="square" anchor="t" lIns="0" rIns="0" tIns="0" bIns="0">
            <a:spAutoFit/>
          </a:bodyPr>
          <a:lstStyle/>
          <a:p>
            <a:pPr algn="l">
              <a:lnSpc>
                <a:spcPct val="105000"/>
              </a:lnSpc>
              <a:spcAft>
                <a:spcPts val="600"/>
              </a:spcAft>
            </a:pPr>
            <a:r>
              <a:rPr sz="900" b="0">
                <a:solidFill>
                  <a:srgbClr val="6B7280"/>
                </a:solidFill>
                <a:latin typeface="Arial"/>
              </a:rPr>
              <a:t>Day 02 Lab · K4A · Nhóm 6 người · Candidate: Meeting note</a:t>
            </a:r>
          </a:p>
        </p:txBody>
      </p:sp>
      <p:sp>
        <p:nvSpPr>
          <p:cNvPr id="11" name="TextBox 10"/>
          <p:cNvSpPr txBox="1"/>
          <p:nvPr/>
        </p:nvSpPr>
        <p:spPr>
          <a:xfrm>
            <a:off x="11002975" y="6400800"/>
            <a:ext cx="548640" cy="274320"/>
          </a:xfrm>
          <a:prstGeom prst="rect">
            <a:avLst/>
          </a:prstGeom>
          <a:noFill/>
        </p:spPr>
        <p:txBody>
          <a:bodyPr wrap="square" anchor="t" lIns="0" rIns="0" tIns="0" bIns="0">
            <a:spAutoFit/>
          </a:bodyPr>
          <a:lstStyle/>
          <a:p>
            <a:pPr algn="r">
              <a:lnSpc>
                <a:spcPct val="105000"/>
              </a:lnSpc>
              <a:spcAft>
                <a:spcPts val="600"/>
              </a:spcAft>
            </a:pPr>
            <a:r>
              <a:rPr sz="900" b="1">
                <a:solidFill>
                  <a:srgbClr val="6B7280"/>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
            <a:ext cx="10972800" cy="274320"/>
          </a:xfrm>
          <a:prstGeom prst="rect">
            <a:avLst/>
          </a:prstGeom>
          <a:noFill/>
        </p:spPr>
        <p:txBody>
          <a:bodyPr wrap="square" anchor="t" lIns="0" rIns="0" tIns="0" bIns="0">
            <a:spAutoFit/>
          </a:bodyPr>
          <a:lstStyle/>
          <a:p>
            <a:pPr algn="l">
              <a:lnSpc>
                <a:spcPct val="105000"/>
              </a:lnSpc>
              <a:spcAft>
                <a:spcPts val="600"/>
              </a:spcAft>
            </a:pPr>
            <a:r>
              <a:rPr sz="1100" b="1">
                <a:solidFill>
                  <a:srgbClr val="E0A458"/>
                </a:solidFill>
                <a:latin typeface="Arial"/>
              </a:rPr>
              <a:t>PHASE 3</a:t>
            </a:r>
          </a:p>
        </p:txBody>
      </p:sp>
      <p:sp>
        <p:nvSpPr>
          <p:cNvPr id="6" name="TextBox 5"/>
          <p:cNvSpPr txBox="1"/>
          <p:nvPr/>
        </p:nvSpPr>
        <p:spPr>
          <a:xfrm>
            <a:off x="640080" y="475488"/>
            <a:ext cx="10972800" cy="548640"/>
          </a:xfrm>
          <a:prstGeom prst="rect">
            <a:avLst/>
          </a:prstGeom>
          <a:noFill/>
        </p:spPr>
        <p:txBody>
          <a:bodyPr wrap="square" anchor="t" lIns="0" rIns="0" tIns="0" bIns="0">
            <a:spAutoFit/>
          </a:bodyPr>
          <a:lstStyle/>
          <a:p>
            <a:pPr algn="l">
              <a:lnSpc>
                <a:spcPct val="105000"/>
              </a:lnSpc>
              <a:spcAft>
                <a:spcPts val="600"/>
              </a:spcAft>
            </a:pPr>
            <a:r>
              <a:rPr sz="2600" b="1">
                <a:solidFill>
                  <a:srgbClr val="FFFFFF"/>
                </a:solidFill>
                <a:latin typeface="Arial"/>
              </a:rPr>
              <a:t>Hội tụ: 14 candidate → 1</a:t>
            </a:r>
          </a:p>
        </p:txBody>
      </p:sp>
      <p:sp>
        <p:nvSpPr>
          <p:cNvPr id="7" name="TextBox 6"/>
          <p:cNvSpPr txBox="1"/>
          <p:nvPr/>
        </p:nvSpPr>
        <p:spPr>
          <a:xfrm>
            <a:off x="640080" y="1325880"/>
            <a:ext cx="10972800" cy="365760"/>
          </a:xfrm>
          <a:prstGeom prst="rect">
            <a:avLst/>
          </a:prstGeom>
          <a:noFill/>
        </p:spPr>
        <p:txBody>
          <a:bodyPr wrap="square" anchor="t" lIns="0" rIns="0" tIns="0" bIns="0">
            <a:spAutoFit/>
          </a:bodyPr>
          <a:lstStyle/>
          <a:p>
            <a:pPr algn="l">
              <a:lnSpc>
                <a:spcPct val="105000"/>
              </a:lnSpc>
              <a:spcAft>
                <a:spcPts val="600"/>
              </a:spcAft>
            </a:pPr>
            <a:r>
              <a:rPr sz="1300" b="0">
                <a:solidFill>
                  <a:srgbClr val="6B7280"/>
                </a:solidFill>
                <a:latin typeface="Arial"/>
              </a:rPr>
              <a:t>Nhóm chỉ chọn candidate problem ở bước này, chưa viết Problem Statement</a:t>
            </a:r>
          </a:p>
        </p:txBody>
      </p:sp>
      <p:sp>
        <p:nvSpPr>
          <p:cNvPr id="8" name="Rectangle 7"/>
          <p:cNvSpPr/>
          <p:nvPr/>
        </p:nvSpPr>
        <p:spPr>
          <a:xfrm>
            <a:off x="640080" y="2103120"/>
            <a:ext cx="2514600" cy="237744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103120"/>
            <a:ext cx="2514600" cy="82296"/>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23160"/>
            <a:ext cx="2514600" cy="822960"/>
          </a:xfrm>
          <a:prstGeom prst="rect">
            <a:avLst/>
          </a:prstGeom>
          <a:noFill/>
        </p:spPr>
        <p:txBody>
          <a:bodyPr wrap="square" anchor="t" lIns="0" rIns="0" tIns="0" bIns="0">
            <a:spAutoFit/>
          </a:bodyPr>
          <a:lstStyle/>
          <a:p>
            <a:pPr algn="ctr">
              <a:lnSpc>
                <a:spcPct val="105000"/>
              </a:lnSpc>
              <a:spcAft>
                <a:spcPts val="600"/>
              </a:spcAft>
            </a:pPr>
            <a:r>
              <a:rPr sz="4400" b="1">
                <a:solidFill>
                  <a:srgbClr val="10263A"/>
                </a:solidFill>
                <a:latin typeface="Arial"/>
              </a:rPr>
              <a:t>14</a:t>
            </a:r>
          </a:p>
        </p:txBody>
      </p:sp>
      <p:sp>
        <p:nvSpPr>
          <p:cNvPr id="11" name="TextBox 10"/>
          <p:cNvSpPr txBox="1"/>
          <p:nvPr/>
        </p:nvSpPr>
        <p:spPr>
          <a:xfrm>
            <a:off x="640080" y="3310128"/>
            <a:ext cx="2514600" cy="320040"/>
          </a:xfrm>
          <a:prstGeom prst="rect">
            <a:avLst/>
          </a:prstGeom>
          <a:noFill/>
        </p:spPr>
        <p:txBody>
          <a:bodyPr wrap="square" anchor="t" lIns="0" rIns="0" tIns="0" bIns="0">
            <a:spAutoFit/>
          </a:bodyPr>
          <a:lstStyle/>
          <a:p>
            <a:pPr algn="ctr">
              <a:lnSpc>
                <a:spcPct val="105000"/>
              </a:lnSpc>
              <a:spcAft>
                <a:spcPts val="600"/>
              </a:spcAft>
            </a:pPr>
            <a:r>
              <a:rPr sz="1200" b="1">
                <a:solidFill>
                  <a:srgbClr val="1F2933"/>
                </a:solidFill>
                <a:latin typeface="Arial"/>
              </a:rPr>
              <a:t>CANDIDATES</a:t>
            </a:r>
          </a:p>
        </p:txBody>
      </p:sp>
      <p:sp>
        <p:nvSpPr>
          <p:cNvPr id="12" name="TextBox 11"/>
          <p:cNvSpPr txBox="1"/>
          <p:nvPr/>
        </p:nvSpPr>
        <p:spPr>
          <a:xfrm>
            <a:off x="822960" y="3703320"/>
            <a:ext cx="2148840" cy="731520"/>
          </a:xfrm>
          <a:prstGeom prst="rect">
            <a:avLst/>
          </a:prstGeom>
          <a:noFill/>
        </p:spPr>
        <p:txBody>
          <a:bodyPr wrap="square" anchor="t" lIns="0" rIns="0" tIns="0" bIns="0">
            <a:spAutoFit/>
          </a:bodyPr>
          <a:lstStyle/>
          <a:p>
            <a:pPr algn="ctr">
              <a:lnSpc>
                <a:spcPct val="105000"/>
              </a:lnSpc>
              <a:spcAft>
                <a:spcPts val="200"/>
              </a:spcAft>
            </a:pPr>
            <a:r>
              <a:rPr sz="1100" b="0">
                <a:solidFill>
                  <a:srgbClr val="6B7280"/>
                </a:solidFill>
                <a:latin typeface="Arial"/>
              </a:rPr>
              <a:t>4 người pitch 3 card,</a:t>
            </a:r>
          </a:p>
          <a:p>
            <a:pPr algn="ctr">
              <a:lnSpc>
                <a:spcPct val="105000"/>
              </a:lnSpc>
              <a:spcAft>
                <a:spcPts val="200"/>
              </a:spcAft>
            </a:pPr>
            <a:r>
              <a:rPr sz="1100" b="0">
                <a:solidFill>
                  <a:srgbClr val="6B7280"/>
                </a:solidFill>
                <a:latin typeface="Arial"/>
              </a:rPr>
              <a:t>Dũng pitch 2</a:t>
            </a:r>
          </a:p>
        </p:txBody>
      </p:sp>
      <p:sp>
        <p:nvSpPr>
          <p:cNvPr id="13" name="TextBox 12"/>
          <p:cNvSpPr txBox="1"/>
          <p:nvPr/>
        </p:nvSpPr>
        <p:spPr>
          <a:xfrm>
            <a:off x="3182112" y="2971800"/>
            <a:ext cx="256032" cy="457200"/>
          </a:xfrm>
          <a:prstGeom prst="rect">
            <a:avLst/>
          </a:prstGeom>
          <a:noFill/>
        </p:spPr>
        <p:txBody>
          <a:bodyPr wrap="square" anchor="t" lIns="0" rIns="0" tIns="0" bIns="0">
            <a:spAutoFit/>
          </a:bodyPr>
          <a:lstStyle/>
          <a:p>
            <a:pPr algn="ctr">
              <a:lnSpc>
                <a:spcPct val="105000"/>
              </a:lnSpc>
              <a:spcAft>
                <a:spcPts val="600"/>
              </a:spcAft>
            </a:pPr>
            <a:r>
              <a:rPr sz="2400" b="1">
                <a:solidFill>
                  <a:srgbClr val="6B7280"/>
                </a:solidFill>
                <a:latin typeface="Arial"/>
              </a:rPr>
              <a:t>→</a:t>
            </a:r>
          </a:p>
        </p:txBody>
      </p:sp>
      <p:sp>
        <p:nvSpPr>
          <p:cNvPr id="14" name="Rectangle 13"/>
          <p:cNvSpPr/>
          <p:nvPr/>
        </p:nvSpPr>
        <p:spPr>
          <a:xfrm>
            <a:off x="3429000" y="2103120"/>
            <a:ext cx="2514600" cy="237744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29000" y="2103120"/>
            <a:ext cx="2514600" cy="82296"/>
          </a:xfrm>
          <a:prstGeom prst="rect">
            <a:avLst/>
          </a:prstGeom>
          <a:solidFill>
            <a:srgbClr val="1F77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2423160"/>
            <a:ext cx="2514600" cy="822960"/>
          </a:xfrm>
          <a:prstGeom prst="rect">
            <a:avLst/>
          </a:prstGeom>
          <a:noFill/>
        </p:spPr>
        <p:txBody>
          <a:bodyPr wrap="square" anchor="t" lIns="0" rIns="0" tIns="0" bIns="0">
            <a:spAutoFit/>
          </a:bodyPr>
          <a:lstStyle/>
          <a:p>
            <a:pPr algn="ctr">
              <a:lnSpc>
                <a:spcPct val="105000"/>
              </a:lnSpc>
              <a:spcAft>
                <a:spcPts val="600"/>
              </a:spcAft>
            </a:pPr>
            <a:r>
              <a:rPr sz="4400" b="1">
                <a:solidFill>
                  <a:srgbClr val="1F7772"/>
                </a:solidFill>
                <a:latin typeface="Arial"/>
              </a:rPr>
              <a:t>4</a:t>
            </a:r>
          </a:p>
        </p:txBody>
      </p:sp>
      <p:sp>
        <p:nvSpPr>
          <p:cNvPr id="17" name="TextBox 16"/>
          <p:cNvSpPr txBox="1"/>
          <p:nvPr/>
        </p:nvSpPr>
        <p:spPr>
          <a:xfrm>
            <a:off x="3429000" y="3310128"/>
            <a:ext cx="2514600" cy="320040"/>
          </a:xfrm>
          <a:prstGeom prst="rect">
            <a:avLst/>
          </a:prstGeom>
          <a:noFill/>
        </p:spPr>
        <p:txBody>
          <a:bodyPr wrap="square" anchor="t" lIns="0" rIns="0" tIns="0" bIns="0">
            <a:spAutoFit/>
          </a:bodyPr>
          <a:lstStyle/>
          <a:p>
            <a:pPr algn="ctr">
              <a:lnSpc>
                <a:spcPct val="105000"/>
              </a:lnSpc>
              <a:spcAft>
                <a:spcPts val="600"/>
              </a:spcAft>
            </a:pPr>
            <a:r>
              <a:rPr sz="1200" b="1">
                <a:solidFill>
                  <a:srgbClr val="1F2933"/>
                </a:solidFill>
                <a:latin typeface="Arial"/>
              </a:rPr>
              <a:t>CLUSTER</a:t>
            </a:r>
          </a:p>
        </p:txBody>
      </p:sp>
      <p:sp>
        <p:nvSpPr>
          <p:cNvPr id="18" name="TextBox 17"/>
          <p:cNvSpPr txBox="1"/>
          <p:nvPr/>
        </p:nvSpPr>
        <p:spPr>
          <a:xfrm>
            <a:off x="3611880" y="3703320"/>
            <a:ext cx="2148840" cy="731520"/>
          </a:xfrm>
          <a:prstGeom prst="rect">
            <a:avLst/>
          </a:prstGeom>
          <a:noFill/>
        </p:spPr>
        <p:txBody>
          <a:bodyPr wrap="square" anchor="t" lIns="0" rIns="0" tIns="0" bIns="0">
            <a:spAutoFit/>
          </a:bodyPr>
          <a:lstStyle/>
          <a:p>
            <a:pPr algn="ctr">
              <a:lnSpc>
                <a:spcPct val="105000"/>
              </a:lnSpc>
              <a:spcAft>
                <a:spcPts val="200"/>
              </a:spcAft>
            </a:pPr>
            <a:r>
              <a:rPr sz="1100" b="0">
                <a:solidFill>
                  <a:srgbClr val="6B7280"/>
                </a:solidFill>
                <a:latin typeface="Arial"/>
              </a:rPr>
              <a:t>Gom theo pattern chung,</a:t>
            </a:r>
          </a:p>
          <a:p>
            <a:pPr algn="ctr">
              <a:lnSpc>
                <a:spcPct val="105000"/>
              </a:lnSpc>
              <a:spcAft>
                <a:spcPts val="200"/>
              </a:spcAft>
            </a:pPr>
            <a:r>
              <a:rPr sz="1100" b="0">
                <a:solidFill>
                  <a:srgbClr val="6B7280"/>
                </a:solidFill>
                <a:latin typeface="Arial"/>
              </a:rPr>
              <a:t>không gom theo chủ đề</a:t>
            </a:r>
          </a:p>
        </p:txBody>
      </p:sp>
      <p:sp>
        <p:nvSpPr>
          <p:cNvPr id="19" name="TextBox 18"/>
          <p:cNvSpPr txBox="1"/>
          <p:nvPr/>
        </p:nvSpPr>
        <p:spPr>
          <a:xfrm>
            <a:off x="5971032" y="2971800"/>
            <a:ext cx="256032" cy="457200"/>
          </a:xfrm>
          <a:prstGeom prst="rect">
            <a:avLst/>
          </a:prstGeom>
          <a:noFill/>
        </p:spPr>
        <p:txBody>
          <a:bodyPr wrap="square" anchor="t" lIns="0" rIns="0" tIns="0" bIns="0">
            <a:spAutoFit/>
          </a:bodyPr>
          <a:lstStyle/>
          <a:p>
            <a:pPr algn="ctr">
              <a:lnSpc>
                <a:spcPct val="105000"/>
              </a:lnSpc>
              <a:spcAft>
                <a:spcPts val="600"/>
              </a:spcAft>
            </a:pPr>
            <a:r>
              <a:rPr sz="2400" b="1">
                <a:solidFill>
                  <a:srgbClr val="6B7280"/>
                </a:solidFill>
                <a:latin typeface="Arial"/>
              </a:rPr>
              <a:t>→</a:t>
            </a:r>
          </a:p>
        </p:txBody>
      </p:sp>
      <p:sp>
        <p:nvSpPr>
          <p:cNvPr id="20" name="Rectangle 19"/>
          <p:cNvSpPr/>
          <p:nvPr/>
        </p:nvSpPr>
        <p:spPr>
          <a:xfrm>
            <a:off x="6217920" y="2103120"/>
            <a:ext cx="2514600" cy="237744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103120"/>
            <a:ext cx="2514600" cy="82296"/>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2423160"/>
            <a:ext cx="2514600" cy="822960"/>
          </a:xfrm>
          <a:prstGeom prst="rect">
            <a:avLst/>
          </a:prstGeom>
          <a:noFill/>
        </p:spPr>
        <p:txBody>
          <a:bodyPr wrap="square" anchor="t" lIns="0" rIns="0" tIns="0" bIns="0">
            <a:spAutoFit/>
          </a:bodyPr>
          <a:lstStyle/>
          <a:p>
            <a:pPr algn="ctr">
              <a:lnSpc>
                <a:spcPct val="105000"/>
              </a:lnSpc>
              <a:spcAft>
                <a:spcPts val="600"/>
              </a:spcAft>
            </a:pPr>
            <a:r>
              <a:rPr sz="4400" b="1">
                <a:solidFill>
                  <a:srgbClr val="E0A458"/>
                </a:solidFill>
                <a:latin typeface="Arial"/>
              </a:rPr>
              <a:t>2 (+1)</a:t>
            </a:r>
          </a:p>
        </p:txBody>
      </p:sp>
      <p:sp>
        <p:nvSpPr>
          <p:cNvPr id="23" name="TextBox 22"/>
          <p:cNvSpPr txBox="1"/>
          <p:nvPr/>
        </p:nvSpPr>
        <p:spPr>
          <a:xfrm>
            <a:off x="6217920" y="3310128"/>
            <a:ext cx="2514600" cy="320040"/>
          </a:xfrm>
          <a:prstGeom prst="rect">
            <a:avLst/>
          </a:prstGeom>
          <a:noFill/>
        </p:spPr>
        <p:txBody>
          <a:bodyPr wrap="square" anchor="t" lIns="0" rIns="0" tIns="0" bIns="0">
            <a:spAutoFit/>
          </a:bodyPr>
          <a:lstStyle/>
          <a:p>
            <a:pPr algn="ctr">
              <a:lnSpc>
                <a:spcPct val="105000"/>
              </a:lnSpc>
              <a:spcAft>
                <a:spcPts val="600"/>
              </a:spcAft>
            </a:pPr>
            <a:r>
              <a:rPr sz="1200" b="1">
                <a:solidFill>
                  <a:srgbClr val="1F2933"/>
                </a:solidFill>
                <a:latin typeface="Arial"/>
              </a:rPr>
              <a:t>SHORTLIST</a:t>
            </a:r>
          </a:p>
        </p:txBody>
      </p:sp>
      <p:sp>
        <p:nvSpPr>
          <p:cNvPr id="24" name="TextBox 23"/>
          <p:cNvSpPr txBox="1"/>
          <p:nvPr/>
        </p:nvSpPr>
        <p:spPr>
          <a:xfrm>
            <a:off x="6400800" y="3703320"/>
            <a:ext cx="2148840" cy="731520"/>
          </a:xfrm>
          <a:prstGeom prst="rect">
            <a:avLst/>
          </a:prstGeom>
          <a:noFill/>
        </p:spPr>
        <p:txBody>
          <a:bodyPr wrap="square" anchor="t" lIns="0" rIns="0" tIns="0" bIns="0">
            <a:spAutoFit/>
          </a:bodyPr>
          <a:lstStyle/>
          <a:p>
            <a:pPr algn="ctr">
              <a:lnSpc>
                <a:spcPct val="105000"/>
              </a:lnSpc>
              <a:spcAft>
                <a:spcPts val="200"/>
              </a:spcAft>
            </a:pPr>
            <a:r>
              <a:rPr sz="1100" b="0">
                <a:solidFill>
                  <a:srgbClr val="6B7280"/>
                </a:solidFill>
                <a:latin typeface="Arial"/>
              </a:rPr>
              <a:t>2 bài mạnh nhất,</a:t>
            </a:r>
          </a:p>
          <a:p>
            <a:pPr algn="ctr">
              <a:lnSpc>
                <a:spcPct val="105000"/>
              </a:lnSpc>
              <a:spcAft>
                <a:spcPts val="200"/>
              </a:spcAft>
            </a:pPr>
            <a:r>
              <a:rPr sz="1100" b="0">
                <a:solidFill>
                  <a:srgbClr val="6B7280"/>
                </a:solidFill>
                <a:latin typeface="Arial"/>
              </a:rPr>
              <a:t>1 bài dự phòng</a:t>
            </a:r>
          </a:p>
        </p:txBody>
      </p:sp>
      <p:sp>
        <p:nvSpPr>
          <p:cNvPr id="25" name="TextBox 24"/>
          <p:cNvSpPr txBox="1"/>
          <p:nvPr/>
        </p:nvSpPr>
        <p:spPr>
          <a:xfrm>
            <a:off x="8759952" y="2971800"/>
            <a:ext cx="256032" cy="457200"/>
          </a:xfrm>
          <a:prstGeom prst="rect">
            <a:avLst/>
          </a:prstGeom>
          <a:noFill/>
        </p:spPr>
        <p:txBody>
          <a:bodyPr wrap="square" anchor="t" lIns="0" rIns="0" tIns="0" bIns="0">
            <a:spAutoFit/>
          </a:bodyPr>
          <a:lstStyle/>
          <a:p>
            <a:pPr algn="ctr">
              <a:lnSpc>
                <a:spcPct val="105000"/>
              </a:lnSpc>
              <a:spcAft>
                <a:spcPts val="600"/>
              </a:spcAft>
            </a:pPr>
            <a:r>
              <a:rPr sz="2400" b="1">
                <a:solidFill>
                  <a:srgbClr val="6B7280"/>
                </a:solidFill>
                <a:latin typeface="Arial"/>
              </a:rPr>
              <a:t>→</a:t>
            </a:r>
          </a:p>
        </p:txBody>
      </p:sp>
      <p:sp>
        <p:nvSpPr>
          <p:cNvPr id="26" name="Rectangle 25"/>
          <p:cNvSpPr/>
          <p:nvPr/>
        </p:nvSpPr>
        <p:spPr>
          <a:xfrm>
            <a:off x="9006840" y="2103120"/>
            <a:ext cx="2514600" cy="237744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06840" y="2103120"/>
            <a:ext cx="2514600" cy="82296"/>
          </a:xfrm>
          <a:prstGeom prst="rect">
            <a:avLst/>
          </a:prstGeom>
          <a:solidFill>
            <a:srgbClr val="B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06840" y="2423160"/>
            <a:ext cx="2514600" cy="822960"/>
          </a:xfrm>
          <a:prstGeom prst="rect">
            <a:avLst/>
          </a:prstGeom>
          <a:noFill/>
        </p:spPr>
        <p:txBody>
          <a:bodyPr wrap="square" anchor="t" lIns="0" rIns="0" tIns="0" bIns="0">
            <a:spAutoFit/>
          </a:bodyPr>
          <a:lstStyle/>
          <a:p>
            <a:pPr algn="ctr">
              <a:lnSpc>
                <a:spcPct val="105000"/>
              </a:lnSpc>
              <a:spcAft>
                <a:spcPts val="600"/>
              </a:spcAft>
            </a:pPr>
            <a:r>
              <a:rPr sz="4400" b="1">
                <a:solidFill>
                  <a:srgbClr val="B03A2B"/>
                </a:solidFill>
                <a:latin typeface="Arial"/>
              </a:rPr>
              <a:t>1</a:t>
            </a:r>
          </a:p>
        </p:txBody>
      </p:sp>
      <p:sp>
        <p:nvSpPr>
          <p:cNvPr id="29" name="TextBox 28"/>
          <p:cNvSpPr txBox="1"/>
          <p:nvPr/>
        </p:nvSpPr>
        <p:spPr>
          <a:xfrm>
            <a:off x="9006840" y="3310128"/>
            <a:ext cx="2514600" cy="320040"/>
          </a:xfrm>
          <a:prstGeom prst="rect">
            <a:avLst/>
          </a:prstGeom>
          <a:noFill/>
        </p:spPr>
        <p:txBody>
          <a:bodyPr wrap="square" anchor="t" lIns="0" rIns="0" tIns="0" bIns="0">
            <a:spAutoFit/>
          </a:bodyPr>
          <a:lstStyle/>
          <a:p>
            <a:pPr algn="ctr">
              <a:lnSpc>
                <a:spcPct val="105000"/>
              </a:lnSpc>
              <a:spcAft>
                <a:spcPts val="600"/>
              </a:spcAft>
            </a:pPr>
            <a:r>
              <a:rPr sz="1200" b="1">
                <a:solidFill>
                  <a:srgbClr val="1F2933"/>
                </a:solidFill>
                <a:latin typeface="Arial"/>
              </a:rPr>
              <a:t>CANDIDATE</a:t>
            </a:r>
          </a:p>
        </p:txBody>
      </p:sp>
      <p:sp>
        <p:nvSpPr>
          <p:cNvPr id="30" name="TextBox 29"/>
          <p:cNvSpPr txBox="1"/>
          <p:nvPr/>
        </p:nvSpPr>
        <p:spPr>
          <a:xfrm>
            <a:off x="9189720" y="3703320"/>
            <a:ext cx="2148840" cy="731520"/>
          </a:xfrm>
          <a:prstGeom prst="rect">
            <a:avLst/>
          </a:prstGeom>
          <a:noFill/>
        </p:spPr>
        <p:txBody>
          <a:bodyPr wrap="square" anchor="t" lIns="0" rIns="0" tIns="0" bIns="0">
            <a:spAutoFit/>
          </a:bodyPr>
          <a:lstStyle/>
          <a:p>
            <a:pPr algn="ctr">
              <a:lnSpc>
                <a:spcPct val="105000"/>
              </a:lnSpc>
              <a:spcAft>
                <a:spcPts val="200"/>
              </a:spcAft>
            </a:pPr>
            <a:r>
              <a:rPr sz="1100" b="0">
                <a:solidFill>
                  <a:srgbClr val="6B7280"/>
                </a:solidFill>
                <a:latin typeface="Arial"/>
              </a:rPr>
              <a:t>Meeting note</a:t>
            </a:r>
          </a:p>
          <a:p>
            <a:pPr algn="ctr">
              <a:lnSpc>
                <a:spcPct val="105000"/>
              </a:lnSpc>
              <a:spcAft>
                <a:spcPts val="200"/>
              </a:spcAft>
            </a:pPr>
            <a:r>
              <a:rPr sz="1100" b="0">
                <a:solidFill>
                  <a:srgbClr val="6B7280"/>
                </a:solidFill>
                <a:latin typeface="Arial"/>
              </a:rPr>
              <a:t>— 32/35 điểm</a:t>
            </a:r>
          </a:p>
        </p:txBody>
      </p:sp>
      <p:sp>
        <p:nvSpPr>
          <p:cNvPr id="31" name="Rectangle 30"/>
          <p:cNvSpPr/>
          <p:nvPr/>
        </p:nvSpPr>
        <p:spPr>
          <a:xfrm>
            <a:off x="640080" y="4800600"/>
            <a:ext cx="10881360" cy="123444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4800600"/>
            <a:ext cx="64008" cy="1234440"/>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 y="4965192"/>
            <a:ext cx="10424160" cy="365760"/>
          </a:xfrm>
          <a:prstGeom prst="rect">
            <a:avLst/>
          </a:prstGeom>
          <a:noFill/>
        </p:spPr>
        <p:txBody>
          <a:bodyPr wrap="square" anchor="t" lIns="0" rIns="0" tIns="0" bIns="0">
            <a:spAutoFit/>
          </a:bodyPr>
          <a:lstStyle/>
          <a:p>
            <a:pPr algn="l">
              <a:lnSpc>
                <a:spcPct val="105000"/>
              </a:lnSpc>
              <a:spcAft>
                <a:spcPts val="600"/>
              </a:spcAft>
            </a:pPr>
            <a:r>
              <a:rPr sz="1400" b="1">
                <a:solidFill>
                  <a:srgbClr val="E0A458"/>
                </a:solidFill>
                <a:latin typeface="Arial"/>
              </a:rPr>
              <a:t>Nguyên tắc nhóm tự đặt ra trước khi chấm</a:t>
            </a:r>
          </a:p>
        </p:txBody>
      </p:sp>
      <p:sp>
        <p:nvSpPr>
          <p:cNvPr id="34" name="TextBox 33"/>
          <p:cNvSpPr txBox="1"/>
          <p:nvPr/>
        </p:nvSpPr>
        <p:spPr>
          <a:xfrm>
            <a:off x="896112" y="5367528"/>
            <a:ext cx="10424160" cy="50292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Tách hai thứ hay bị gộp làm một: mức độ ĐÁNG GIẢI của bài toán, và mức độ nhóm CHỨNG MINH ĐƯỢC điều gì trong 4 tiếng.</a:t>
            </a:r>
          </a:p>
          <a:p>
            <a:pPr algn="l">
              <a:lnSpc>
                <a:spcPct val="112000"/>
              </a:lnSpc>
              <a:spcAft>
                <a:spcPts val="500"/>
              </a:spcAft>
            </a:pPr>
            <a:r>
              <a:rPr sz="1100" b="0">
                <a:solidFill>
                  <a:srgbClr val="1F2933"/>
                </a:solidFill>
                <a:latin typeface="Arial"/>
              </a:rPr>
              <a:t>Bài y tế thắng ở vế thứ nhất. Meeting note thắng vế thứ hai — và Day 02 chấm vế thứ hai.</a:t>
            </a:r>
          </a:p>
        </p:txBody>
      </p:sp>
      <p:sp>
        <p:nvSpPr>
          <p:cNvPr id="35" name="TextBox 34"/>
          <p:cNvSpPr txBox="1"/>
          <p:nvPr/>
        </p:nvSpPr>
        <p:spPr>
          <a:xfrm>
            <a:off x="640080" y="6400800"/>
            <a:ext cx="8229600" cy="274320"/>
          </a:xfrm>
          <a:prstGeom prst="rect">
            <a:avLst/>
          </a:prstGeom>
          <a:noFill/>
        </p:spPr>
        <p:txBody>
          <a:bodyPr wrap="square" anchor="t" lIns="0" rIns="0" tIns="0" bIns="0">
            <a:spAutoFit/>
          </a:bodyPr>
          <a:lstStyle/>
          <a:p>
            <a:pPr algn="l">
              <a:lnSpc>
                <a:spcPct val="105000"/>
              </a:lnSpc>
              <a:spcAft>
                <a:spcPts val="600"/>
              </a:spcAft>
            </a:pPr>
            <a:r>
              <a:rPr sz="900" b="0">
                <a:solidFill>
                  <a:srgbClr val="6B7280"/>
                </a:solidFill>
                <a:latin typeface="Arial"/>
              </a:rPr>
              <a:t>Day 02 Lab · K4A · Nhóm 6 người · Candidate: Meeting note</a:t>
            </a:r>
          </a:p>
        </p:txBody>
      </p:sp>
      <p:sp>
        <p:nvSpPr>
          <p:cNvPr id="36" name="TextBox 35"/>
          <p:cNvSpPr txBox="1"/>
          <p:nvPr/>
        </p:nvSpPr>
        <p:spPr>
          <a:xfrm>
            <a:off x="11002975" y="6400800"/>
            <a:ext cx="548640" cy="274320"/>
          </a:xfrm>
          <a:prstGeom prst="rect">
            <a:avLst/>
          </a:prstGeom>
          <a:noFill/>
        </p:spPr>
        <p:txBody>
          <a:bodyPr wrap="square" anchor="t" lIns="0" rIns="0" tIns="0" bIns="0">
            <a:spAutoFit/>
          </a:bodyPr>
          <a:lstStyle/>
          <a:p>
            <a:pPr algn="r">
              <a:lnSpc>
                <a:spcPct val="105000"/>
              </a:lnSpc>
              <a:spcAft>
                <a:spcPts val="600"/>
              </a:spcAft>
            </a:pPr>
            <a:r>
              <a:rPr sz="900" b="1">
                <a:solidFill>
                  <a:srgbClr val="6B7280"/>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
            <a:ext cx="10972800" cy="274320"/>
          </a:xfrm>
          <a:prstGeom prst="rect">
            <a:avLst/>
          </a:prstGeom>
          <a:noFill/>
        </p:spPr>
        <p:txBody>
          <a:bodyPr wrap="square" anchor="t" lIns="0" rIns="0" tIns="0" bIns="0">
            <a:spAutoFit/>
          </a:bodyPr>
          <a:lstStyle/>
          <a:p>
            <a:pPr algn="l">
              <a:lnSpc>
                <a:spcPct val="105000"/>
              </a:lnSpc>
              <a:spcAft>
                <a:spcPts val="600"/>
              </a:spcAft>
            </a:pPr>
            <a:r>
              <a:rPr sz="1100" b="1">
                <a:solidFill>
                  <a:srgbClr val="E0A458"/>
                </a:solidFill>
                <a:latin typeface="Arial"/>
              </a:rPr>
              <a:t>PHASE 3.2</a:t>
            </a:r>
          </a:p>
        </p:txBody>
      </p:sp>
      <p:sp>
        <p:nvSpPr>
          <p:cNvPr id="6" name="TextBox 5"/>
          <p:cNvSpPr txBox="1"/>
          <p:nvPr/>
        </p:nvSpPr>
        <p:spPr>
          <a:xfrm>
            <a:off x="640080" y="475488"/>
            <a:ext cx="10972800" cy="548640"/>
          </a:xfrm>
          <a:prstGeom prst="rect">
            <a:avLst/>
          </a:prstGeom>
          <a:noFill/>
        </p:spPr>
        <p:txBody>
          <a:bodyPr wrap="square" anchor="t" lIns="0" rIns="0" tIns="0" bIns="0">
            <a:spAutoFit/>
          </a:bodyPr>
          <a:lstStyle/>
          <a:p>
            <a:pPr algn="l">
              <a:lnSpc>
                <a:spcPct val="105000"/>
              </a:lnSpc>
              <a:spcAft>
                <a:spcPts val="600"/>
              </a:spcAft>
            </a:pPr>
            <a:r>
              <a:rPr sz="2600" b="1">
                <a:solidFill>
                  <a:srgbClr val="FFFFFF"/>
                </a:solidFill>
                <a:latin typeface="Arial"/>
              </a:rPr>
              <a:t>14 candidate gom thành 4 cụm theo pattern, không theo chủ đề</a:t>
            </a:r>
          </a:p>
        </p:txBody>
      </p:sp>
      <p:graphicFrame>
        <p:nvGraphicFramePr>
          <p:cNvPr id="7" name="Table 6"/>
          <p:cNvGraphicFramePr>
            <a:graphicFrameLocks noGrp="1"/>
          </p:cNvGraphicFramePr>
          <p:nvPr/>
        </p:nvGraphicFramePr>
        <p:xfrm>
          <a:off x="502920" y="1600200"/>
          <a:ext cx="11201400" cy="4663440"/>
        </p:xfrm>
        <a:graphic>
          <a:graphicData uri="http://schemas.openxmlformats.org/drawingml/2006/table">
            <a:tbl>
              <a:tblPr firstRow="1" bandRow="1">
                <a:tableStyleId>{5C22544A-7EE6-4342-B048-85BDC9FD1C3A}</a:tableStyleId>
              </a:tblPr>
              <a:tblGrid>
                <a:gridCol w="2194560"/>
                <a:gridCol w="3063240"/>
                <a:gridCol w="3017520"/>
                <a:gridCol w="2926080"/>
              </a:tblGrid>
              <a:tr h="347472">
                <a:tc>
                  <a:txBody>
                    <a:bodyPr wrap="square"/>
                    <a:lstStyle/>
                    <a:p>
                      <a:pPr algn="l"/>
                      <a:r>
                        <a:rPr sz="1000" b="1">
                          <a:solidFill>
                            <a:srgbClr val="FFFFFF"/>
                          </a:solidFill>
                          <a:latin typeface="Arial"/>
                        </a:rPr>
                        <a:t>Cụm</a:t>
                      </a:r>
                    </a:p>
                  </a:txBody>
                  <a:tcPr marL="73152" marR="73152" marT="36576" marB="36576" anchor="ctr">
                    <a:solidFill>
                      <a:srgbClr val="10263A"/>
                    </a:solidFill>
                  </a:tcPr>
                </a:tc>
                <a:tc>
                  <a:txBody>
                    <a:bodyPr wrap="square"/>
                    <a:lstStyle/>
                    <a:p>
                      <a:pPr algn="l"/>
                      <a:r>
                        <a:rPr sz="1000" b="1">
                          <a:solidFill>
                            <a:srgbClr val="FFFFFF"/>
                          </a:solidFill>
                          <a:latin typeface="Arial"/>
                        </a:rPr>
                        <a:t>Gồm những bài nào</a:t>
                      </a:r>
                    </a:p>
                  </a:txBody>
                  <a:tcPr marL="73152" marR="73152" marT="36576" marB="36576" anchor="ctr">
                    <a:solidFill>
                      <a:srgbClr val="10263A"/>
                    </a:solidFill>
                  </a:tcPr>
                </a:tc>
                <a:tc>
                  <a:txBody>
                    <a:bodyPr wrap="square"/>
                    <a:lstStyle/>
                    <a:p>
                      <a:pPr algn="l"/>
                      <a:r>
                        <a:rPr sz="1000" b="1">
                          <a:solidFill>
                            <a:srgbClr val="FFFFFF"/>
                          </a:solidFill>
                          <a:latin typeface="Arial"/>
                        </a:rPr>
                        <a:t>Pattern chung</a:t>
                      </a:r>
                    </a:p>
                  </a:txBody>
                  <a:tcPr marL="73152" marR="73152" marT="36576" marB="36576" anchor="ctr">
                    <a:solidFill>
                      <a:srgbClr val="10263A"/>
                    </a:solidFill>
                  </a:tcPr>
                </a:tc>
                <a:tc>
                  <a:txBody>
                    <a:bodyPr wrap="square"/>
                    <a:lstStyle/>
                    <a:p>
                      <a:pPr algn="l"/>
                      <a:r>
                        <a:rPr sz="1000" b="1">
                          <a:solidFill>
                            <a:srgbClr val="FFFFFF"/>
                          </a:solidFill>
                          <a:latin typeface="Arial"/>
                        </a:rPr>
                        <a:t>Nhận xét</a:t>
                      </a:r>
                    </a:p>
                  </a:txBody>
                  <a:tcPr marL="73152" marR="73152" marT="36576" marB="36576" anchor="ctr">
                    <a:solidFill>
                      <a:srgbClr val="10263A"/>
                    </a:solidFill>
                  </a:tcPr>
                </a:tc>
              </a:tr>
              <a:tr h="1078992">
                <a:tc>
                  <a:txBody>
                    <a:bodyPr wrap="square"/>
                    <a:lstStyle/>
                    <a:p>
                      <a:pPr algn="l"/>
                      <a:r>
                        <a:rPr sz="950" b="0">
                          <a:solidFill>
                            <a:srgbClr val="1F2933"/>
                          </a:solidFill>
                          <a:latin typeface="Arial"/>
                        </a:rPr>
                        <a:t>A. Gom nhiều nguồn rời rạc
→ viết lại thành văn bản</a:t>
                      </a:r>
                    </a:p>
                  </a:txBody>
                  <a:tcPr marL="73152" marR="73152" marT="36576" marB="36576" anchor="ctr">
                    <a:solidFill>
                      <a:srgbClr val="FFFFFF"/>
                    </a:solidFill>
                  </a:tcPr>
                </a:tc>
                <a:tc>
                  <a:txBody>
                    <a:bodyPr wrap="square"/>
                    <a:lstStyle/>
                    <a:p>
                      <a:pPr algn="l"/>
                      <a:r>
                        <a:rPr sz="950" b="0">
                          <a:solidFill>
                            <a:srgbClr val="1F2933"/>
                          </a:solidFill>
                          <a:latin typeface="Arial"/>
                        </a:rPr>
                        <a:t>Tóm tắt video bài giảng · ghi chú đa nguồn · dặn dò bệnh nhân · báo cáo đồ án · weekly report · meeting note</a:t>
                      </a:r>
                    </a:p>
                  </a:txBody>
                  <a:tcPr marL="73152" marR="73152" marT="36576" marB="36576" anchor="ctr">
                    <a:solidFill>
                      <a:srgbClr val="FFFFFF"/>
                    </a:solidFill>
                  </a:tcPr>
                </a:tc>
                <a:tc>
                  <a:txBody>
                    <a:bodyPr wrap="square"/>
                    <a:lstStyle/>
                    <a:p>
                      <a:pPr algn="l"/>
                      <a:r>
                        <a:rPr sz="950" b="0">
                          <a:solidFill>
                            <a:srgbClr val="1F2933"/>
                          </a:solidFill>
                          <a:latin typeface="Arial"/>
                        </a:rPr>
                        <a:t>Input rải rác → output là đoạn văn phải đọc là hiểu. Nghẽn ở bước biến dữ liệu thô thành câu có nghĩa</a:t>
                      </a:r>
                    </a:p>
                  </a:txBody>
                  <a:tcPr marL="73152" marR="73152" marT="36576" marB="36576" anchor="ctr">
                    <a:solidFill>
                      <a:srgbClr val="FFFFFF"/>
                    </a:solidFill>
                  </a:tcPr>
                </a:tc>
                <a:tc>
                  <a:txBody>
                    <a:bodyPr wrap="square"/>
                    <a:lstStyle/>
                    <a:p>
                      <a:pPr algn="l"/>
                      <a:r>
                        <a:rPr sz="950" b="0">
                          <a:solidFill>
                            <a:srgbClr val="1F2933"/>
                          </a:solidFill>
                          <a:latin typeface="Arial"/>
                        </a:rPr>
                        <a:t>6/14 bài. Cũng là cụm AI mạnh nhất → càng phải cẩn thận không chọn chỉ vì "AI làm được"</a:t>
                      </a:r>
                    </a:p>
                  </a:txBody>
                  <a:tcPr marL="73152" marR="73152" marT="36576" marB="36576" anchor="ctr">
                    <a:solidFill>
                      <a:srgbClr val="FFFFFF"/>
                    </a:solidFill>
                  </a:tcPr>
                </a:tc>
              </a:tr>
              <a:tr h="1078992">
                <a:tc>
                  <a:txBody>
                    <a:bodyPr wrap="square"/>
                    <a:lstStyle/>
                    <a:p>
                      <a:pPr algn="l"/>
                      <a:r>
                        <a:rPr sz="950" b="0">
                          <a:solidFill>
                            <a:srgbClr val="1F2933"/>
                          </a:solidFill>
                          <a:latin typeface="Arial"/>
                        </a:rPr>
                        <a:t>B. Truy xuất lại thông tin
trong một kho lộn xộn</a:t>
                      </a:r>
                    </a:p>
                  </a:txBody>
                  <a:tcPr marL="73152" marR="73152" marT="36576" marB="36576" anchor="ctr">
                    <a:solidFill>
                      <a:srgbClr val="EEEEEA"/>
                    </a:solidFill>
                  </a:tcPr>
                </a:tc>
                <a:tc>
                  <a:txBody>
                    <a:bodyPr wrap="square"/>
                    <a:lstStyle/>
                    <a:p>
                      <a:pPr algn="l"/>
                      <a:r>
                        <a:rPr sz="950" b="0">
                          <a:solidFill>
                            <a:srgbClr val="1F2933"/>
                          </a:solidFill>
                          <a:latin typeface="Arial"/>
                        </a:rPr>
                        <a:t>Discord search · kho 150 file PDF/ảnh</a:t>
                      </a:r>
                    </a:p>
                  </a:txBody>
                  <a:tcPr marL="73152" marR="73152" marT="36576" marB="36576" anchor="ctr">
                    <a:solidFill>
                      <a:srgbClr val="EEEEEA"/>
                    </a:solidFill>
                  </a:tcPr>
                </a:tc>
                <a:tc>
                  <a:txBody>
                    <a:bodyPr wrap="square"/>
                    <a:lstStyle/>
                    <a:p>
                      <a:pPr algn="l"/>
                      <a:r>
                        <a:rPr sz="950" b="0">
                          <a:solidFill>
                            <a:srgbClr val="1F2933"/>
                          </a:solidFill>
                          <a:latin typeface="Arial"/>
                        </a:rPr>
                        <a:t>Thông tin ĐÃ tồn tại, chỉ là không tìm ra. Nghẽn ở bước tìm, không ở bước tạo</a:t>
                      </a:r>
                    </a:p>
                  </a:txBody>
                  <a:tcPr marL="73152" marR="73152" marT="36576" marB="36576" anchor="ctr">
                    <a:solidFill>
                      <a:srgbClr val="EEEEEA"/>
                    </a:solidFill>
                  </a:tcPr>
                </a:tc>
                <a:tc>
                  <a:txBody>
                    <a:bodyPr wrap="square"/>
                    <a:lstStyle/>
                    <a:p>
                      <a:pPr algn="l"/>
                      <a:r>
                        <a:rPr sz="950" b="0">
                          <a:solidFill>
                            <a:srgbClr val="1F2933"/>
                          </a:solidFill>
                          <a:latin typeface="Arial"/>
                        </a:rPr>
                        <a:t>Non-AI quá mạnh (index, đặt tên file) → phần so sánh Workflow/Agent sẽ hình thức</a:t>
                      </a:r>
                    </a:p>
                  </a:txBody>
                  <a:tcPr marL="73152" marR="73152" marT="36576" marB="36576" anchor="ctr">
                    <a:solidFill>
                      <a:srgbClr val="EEEEEA"/>
                    </a:solidFill>
                  </a:tcPr>
                </a:tc>
              </a:tr>
              <a:tr h="1078992">
                <a:tc>
                  <a:txBody>
                    <a:bodyPr wrap="square"/>
                    <a:lstStyle/>
                    <a:p>
                      <a:pPr algn="l"/>
                      <a:r>
                        <a:rPr sz="950" b="0">
                          <a:solidFill>
                            <a:srgbClr val="1F2933"/>
                          </a:solidFill>
                          <a:latin typeface="Arial"/>
                        </a:rPr>
                        <a:t>C. Sinh / chọn nội dung
dạy-học cá nhân hoá</a:t>
                      </a:r>
                    </a:p>
                  </a:txBody>
                  <a:tcPr marL="73152" marR="73152" marT="36576" marB="36576" anchor="ctr">
                    <a:solidFill>
                      <a:srgbClr val="FFFFFF"/>
                    </a:solidFill>
                  </a:tcPr>
                </a:tc>
                <a:tc>
                  <a:txBody>
                    <a:bodyPr wrap="square"/>
                    <a:lstStyle/>
                    <a:p>
                      <a:pPr algn="l"/>
                      <a:r>
                        <a:rPr sz="950" b="0">
                          <a:solidFill>
                            <a:srgbClr val="1F2933"/>
                          </a:solidFill>
                          <a:latin typeface="Arial"/>
                        </a:rPr>
                        <a:t>Tổng hợp lỗi sai học sinh · soạn bài theo trình độ · soạn bài tập củng cố</a:t>
                      </a:r>
                    </a:p>
                  </a:txBody>
                  <a:tcPr marL="73152" marR="73152" marT="36576" marB="36576" anchor="ctr">
                    <a:solidFill>
                      <a:srgbClr val="FFFFFF"/>
                    </a:solidFill>
                  </a:tcPr>
                </a:tc>
                <a:tc>
                  <a:txBody>
                    <a:bodyPr wrap="square"/>
                    <a:lstStyle/>
                    <a:p>
                      <a:pPr algn="l"/>
                      <a:r>
                        <a:rPr sz="950" b="0">
                          <a:solidFill>
                            <a:srgbClr val="1F2933"/>
                          </a:solidFill>
                          <a:latin typeface="Arial"/>
                        </a:rPr>
                        <a:t>Output khác nhau cho từng người học, sai thì hậu quả rơi vào người học</a:t>
                      </a:r>
                    </a:p>
                  </a:txBody>
                  <a:tcPr marL="73152" marR="73152" marT="36576" marB="36576" anchor="ctr">
                    <a:solidFill>
                      <a:srgbClr val="FFFFFF"/>
                    </a:solidFill>
                  </a:tcPr>
                </a:tc>
                <a:tc>
                  <a:txBody>
                    <a:bodyPr wrap="square"/>
                    <a:lstStyle/>
                    <a:p>
                      <a:pPr algn="l"/>
                      <a:r>
                        <a:rPr sz="950" b="0">
                          <a:solidFill>
                            <a:srgbClr val="1F2933"/>
                          </a:solidFill>
                          <a:latin typeface="Arial"/>
                        </a:rPr>
                        <a:t>Đo "vừa sức / đúng trọng tâm" khách quan là chỗ khó chung cả cụm</a:t>
                      </a:r>
                    </a:p>
                  </a:txBody>
                  <a:tcPr marL="73152" marR="73152" marT="36576" marB="36576" anchor="ctr">
                    <a:solidFill>
                      <a:srgbClr val="FFFFFF"/>
                    </a:solidFill>
                  </a:tcPr>
                </a:tc>
              </a:tr>
              <a:tr h="1078992">
                <a:tc>
                  <a:txBody>
                    <a:bodyPr wrap="square"/>
                    <a:lstStyle/>
                    <a:p>
                      <a:pPr algn="l"/>
                      <a:r>
                        <a:rPr sz="950" b="0">
                          <a:solidFill>
                            <a:srgbClr val="1F2933"/>
                          </a:solidFill>
                          <a:latin typeface="Arial"/>
                        </a:rPr>
                        <a:t>D. Không cùng pattern</a:t>
                      </a:r>
                    </a:p>
                  </a:txBody>
                  <a:tcPr marL="73152" marR="73152" marT="36576" marB="36576" anchor="ctr">
                    <a:solidFill>
                      <a:srgbClr val="EEEEEA"/>
                    </a:solidFill>
                  </a:tcPr>
                </a:tc>
                <a:tc>
                  <a:txBody>
                    <a:bodyPr wrap="square"/>
                    <a:lstStyle/>
                    <a:p>
                      <a:pPr algn="l"/>
                      <a:r>
                        <a:rPr sz="950" b="0">
                          <a:solidFill>
                            <a:srgbClr val="1F2933"/>
                          </a:solidFill>
                          <a:latin typeface="Arial"/>
                        </a:rPr>
                        <a:t>Debug traceback · chờ xe bus · review affiliate</a:t>
                      </a:r>
                    </a:p>
                  </a:txBody>
                  <a:tcPr marL="73152" marR="73152" marT="36576" marB="36576" anchor="ctr">
                    <a:solidFill>
                      <a:srgbClr val="EEEEEA"/>
                    </a:solidFill>
                  </a:tcPr>
                </a:tc>
                <a:tc>
                  <a:txBody>
                    <a:bodyPr wrap="square"/>
                    <a:lstStyle/>
                    <a:p>
                      <a:pPr algn="l"/>
                      <a:r>
                        <a:rPr sz="950" b="0">
                          <a:solidFill>
                            <a:srgbClr val="1F2933"/>
                          </a:solidFill>
                          <a:latin typeface="Arial"/>
                        </a:rPr>
                        <a:t>Chẩn đoán kỹ thuật / dự đoán thời gian thực từ GPS / nội dung marketing đo bằng CTR</a:t>
                      </a:r>
                    </a:p>
                  </a:txBody>
                  <a:tcPr marL="73152" marR="73152" marT="36576" marB="36576" anchor="ctr">
                    <a:solidFill>
                      <a:srgbClr val="EEEEEA"/>
                    </a:solidFill>
                  </a:tcPr>
                </a:tc>
                <a:tc>
                  <a:txBody>
                    <a:bodyPr wrap="square"/>
                    <a:lstStyle/>
                    <a:p>
                      <a:pPr algn="l"/>
                      <a:r>
                        <a:rPr sz="950" b="0">
                          <a:solidFill>
                            <a:srgbClr val="1F2933"/>
                          </a:solidFill>
                          <a:latin typeface="Arial"/>
                        </a:rPr>
                        <a:t>Loại sớm: #5 không phải bài toán AI, #3 phụ thuộc máy, #11 vướng crawl + metric dài hạn</a:t>
                      </a:r>
                    </a:p>
                  </a:txBody>
                  <a:tcPr marL="73152" marR="73152" marT="36576" marB="36576" anchor="ctr">
                    <a:solidFill>
                      <a:srgbClr val="EEEEEA"/>
                    </a:solidFill>
                  </a:tcPr>
                </a:tc>
              </a:tr>
            </a:tbl>
          </a:graphicData>
        </a:graphic>
      </p:graphicFrame>
      <p:sp>
        <p:nvSpPr>
          <p:cNvPr id="8" name="TextBox 7"/>
          <p:cNvSpPr txBox="1"/>
          <p:nvPr/>
        </p:nvSpPr>
        <p:spPr>
          <a:xfrm>
            <a:off x="640080" y="6400800"/>
            <a:ext cx="8229600" cy="274320"/>
          </a:xfrm>
          <a:prstGeom prst="rect">
            <a:avLst/>
          </a:prstGeom>
          <a:noFill/>
        </p:spPr>
        <p:txBody>
          <a:bodyPr wrap="square" anchor="t" lIns="0" rIns="0" tIns="0" bIns="0">
            <a:spAutoFit/>
          </a:bodyPr>
          <a:lstStyle/>
          <a:p>
            <a:pPr algn="l">
              <a:lnSpc>
                <a:spcPct val="105000"/>
              </a:lnSpc>
              <a:spcAft>
                <a:spcPts val="600"/>
              </a:spcAft>
            </a:pPr>
            <a:r>
              <a:rPr sz="900" b="0">
                <a:solidFill>
                  <a:srgbClr val="6B7280"/>
                </a:solidFill>
                <a:latin typeface="Arial"/>
              </a:rPr>
              <a:t>Day 02 Lab · K4A · Nhóm 6 người · Candidate: Meeting note</a:t>
            </a:r>
          </a:p>
        </p:txBody>
      </p:sp>
      <p:sp>
        <p:nvSpPr>
          <p:cNvPr id="9" name="TextBox 8"/>
          <p:cNvSpPr txBox="1"/>
          <p:nvPr/>
        </p:nvSpPr>
        <p:spPr>
          <a:xfrm>
            <a:off x="11002975" y="6400800"/>
            <a:ext cx="548640" cy="274320"/>
          </a:xfrm>
          <a:prstGeom prst="rect">
            <a:avLst/>
          </a:prstGeom>
          <a:noFill/>
        </p:spPr>
        <p:txBody>
          <a:bodyPr wrap="square" anchor="t" lIns="0" rIns="0" tIns="0" bIns="0">
            <a:spAutoFit/>
          </a:bodyPr>
          <a:lstStyle/>
          <a:p>
            <a:pPr algn="r">
              <a:lnSpc>
                <a:spcPct val="105000"/>
              </a:lnSpc>
              <a:spcAft>
                <a:spcPts val="600"/>
              </a:spcAft>
            </a:pPr>
            <a:r>
              <a:rPr sz="900" b="1">
                <a:solidFill>
                  <a:srgbClr val="6B7280"/>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
            <a:ext cx="10972800" cy="274320"/>
          </a:xfrm>
          <a:prstGeom prst="rect">
            <a:avLst/>
          </a:prstGeom>
          <a:noFill/>
        </p:spPr>
        <p:txBody>
          <a:bodyPr wrap="square" anchor="t" lIns="0" rIns="0" tIns="0" bIns="0">
            <a:spAutoFit/>
          </a:bodyPr>
          <a:lstStyle/>
          <a:p>
            <a:pPr algn="l">
              <a:lnSpc>
                <a:spcPct val="105000"/>
              </a:lnSpc>
              <a:spcAft>
                <a:spcPts val="600"/>
              </a:spcAft>
            </a:pPr>
            <a:r>
              <a:rPr sz="1100" b="1">
                <a:solidFill>
                  <a:srgbClr val="E0A458"/>
                </a:solidFill>
                <a:latin typeface="Arial"/>
              </a:rPr>
              <a:t>PHASE 3.3</a:t>
            </a:r>
          </a:p>
        </p:txBody>
      </p:sp>
      <p:sp>
        <p:nvSpPr>
          <p:cNvPr id="6" name="TextBox 5"/>
          <p:cNvSpPr txBox="1"/>
          <p:nvPr/>
        </p:nvSpPr>
        <p:spPr>
          <a:xfrm>
            <a:off x="640080" y="475488"/>
            <a:ext cx="10972800" cy="548640"/>
          </a:xfrm>
          <a:prstGeom prst="rect">
            <a:avLst/>
          </a:prstGeom>
          <a:noFill/>
        </p:spPr>
        <p:txBody>
          <a:bodyPr wrap="square" anchor="t" lIns="0" rIns="0" tIns="0" bIns="0">
            <a:spAutoFit/>
          </a:bodyPr>
          <a:lstStyle/>
          <a:p>
            <a:pPr algn="l">
              <a:lnSpc>
                <a:spcPct val="105000"/>
              </a:lnSpc>
              <a:spcAft>
                <a:spcPts val="600"/>
              </a:spcAft>
            </a:pPr>
            <a:r>
              <a:rPr sz="2600" b="1">
                <a:solidFill>
                  <a:srgbClr val="FFFFFF"/>
                </a:solidFill>
                <a:latin typeface="Arial"/>
              </a:rPr>
              <a:t>2 bài mạnh nhất vào shortlist</a:t>
            </a:r>
          </a:p>
        </p:txBody>
      </p:sp>
      <p:sp>
        <p:nvSpPr>
          <p:cNvPr id="7" name="TextBox 6"/>
          <p:cNvSpPr txBox="1"/>
          <p:nvPr/>
        </p:nvSpPr>
        <p:spPr>
          <a:xfrm>
            <a:off x="640080" y="1325880"/>
            <a:ext cx="10972800" cy="365760"/>
          </a:xfrm>
          <a:prstGeom prst="rect">
            <a:avLst/>
          </a:prstGeom>
          <a:noFill/>
        </p:spPr>
        <p:txBody>
          <a:bodyPr wrap="square" anchor="t" lIns="0" rIns="0" tIns="0" bIns="0">
            <a:spAutoFit/>
          </a:bodyPr>
          <a:lstStyle/>
          <a:p>
            <a:pPr algn="l">
              <a:lnSpc>
                <a:spcPct val="105000"/>
              </a:lnSpc>
              <a:spcAft>
                <a:spcPts val="600"/>
              </a:spcAft>
            </a:pPr>
            <a:r>
              <a:rPr sz="1300" b="0">
                <a:solidFill>
                  <a:srgbClr val="6B7280"/>
                </a:solidFill>
                <a:latin typeface="Arial"/>
              </a:rPr>
              <a:t>Yêu cầu: mỗi bài phải trả lời được cả 7 câu hỏi của worksheet</a:t>
            </a:r>
          </a:p>
        </p:txBody>
      </p:sp>
      <p:sp>
        <p:nvSpPr>
          <p:cNvPr id="8" name="Rectangle 7"/>
          <p:cNvSpPr/>
          <p:nvPr/>
        </p:nvSpPr>
        <p:spPr>
          <a:xfrm>
            <a:off x="640080" y="1874519"/>
            <a:ext cx="5349240" cy="379476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874519"/>
            <a:ext cx="64008" cy="3794760"/>
          </a:xfrm>
          <a:prstGeom prst="rect">
            <a:avLst/>
          </a:prstGeom>
          <a:solidFill>
            <a:srgbClr val="1F77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1"/>
            <a:ext cx="4892040" cy="365760"/>
          </a:xfrm>
          <a:prstGeom prst="rect">
            <a:avLst/>
          </a:prstGeom>
          <a:noFill/>
        </p:spPr>
        <p:txBody>
          <a:bodyPr wrap="square" anchor="t" lIns="0" rIns="0" tIns="0" bIns="0">
            <a:spAutoFit/>
          </a:bodyPr>
          <a:lstStyle/>
          <a:p>
            <a:pPr algn="l">
              <a:lnSpc>
                <a:spcPct val="105000"/>
              </a:lnSpc>
              <a:spcAft>
                <a:spcPts val="600"/>
              </a:spcAft>
            </a:pPr>
            <a:r>
              <a:rPr sz="1400" b="1">
                <a:solidFill>
                  <a:srgbClr val="1F7772"/>
                </a:solidFill>
                <a:latin typeface="Arial"/>
              </a:rPr>
              <a:t>#14 — Meeting note  (Dũng)</a:t>
            </a:r>
          </a:p>
        </p:txBody>
      </p:sp>
      <p:sp>
        <p:nvSpPr>
          <p:cNvPr id="11" name="TextBox 10"/>
          <p:cNvSpPr txBox="1"/>
          <p:nvPr/>
        </p:nvSpPr>
        <p:spPr>
          <a:xfrm>
            <a:off x="896112" y="2441447"/>
            <a:ext cx="4892040" cy="306324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VÀO SHORTLIST VÌ:</a:t>
            </a:r>
          </a:p>
          <a:p>
            <a:pPr algn="l">
              <a:lnSpc>
                <a:spcPct val="112000"/>
              </a:lnSpc>
              <a:spcAft>
                <a:spcPts val="500"/>
              </a:spcAft>
            </a:pPr>
            <a:r>
              <a:rPr sz="1100" b="0">
                <a:solidFill>
                  <a:srgbClr val="1F2933"/>
                </a:solidFill>
                <a:latin typeface="Arial"/>
              </a:rPr>
              <a:t>• Người gặp vấn đề ngồi ngay trong nhóm → hỏi baseline trực tiếp, không đoán hộ ai</a:t>
            </a:r>
          </a:p>
          <a:p>
            <a:pPr algn="l">
              <a:lnSpc>
                <a:spcPct val="112000"/>
              </a:lnSpc>
              <a:spcAft>
                <a:spcPts val="500"/>
              </a:spcAft>
            </a:pPr>
            <a:r>
              <a:rPr sz="1100" b="0">
                <a:solidFill>
                  <a:srgbClr val="1F2933"/>
                </a:solidFill>
                <a:latin typeface="Arial"/>
              </a:rPr>
              <a:t>• Workflow ngắn, tuyến tính → vẽ trọn before/after trong 45 phút</a:t>
            </a:r>
          </a:p>
          <a:p>
            <a:pPr algn="l">
              <a:lnSpc>
                <a:spcPct val="112000"/>
              </a:lnSpc>
              <a:spcAft>
                <a:spcPts val="500"/>
              </a:spcAft>
            </a:pPr>
            <a:r>
              <a:rPr sz="1100" b="0">
                <a:solidFill>
                  <a:srgbClr val="1F2933"/>
                </a:solidFill>
                <a:latin typeface="Arial"/>
              </a:rPr>
              <a:t>• Cả 3 mức Rule/Workflow/Agent đều có phương án THẬT để so, không phải lý thuyết</a:t>
            </a:r>
          </a:p>
          <a:p>
            <a:pPr algn="l">
              <a:lnSpc>
                <a:spcPct val="112000"/>
              </a:lnSpc>
              <a:spcAft>
                <a:spcPts val="500"/>
              </a:spcAft>
            </a:pPr>
            <a:r>
              <a:rPr sz="1100" b="0">
                <a:solidFill>
                  <a:srgbClr val="1F2933"/>
                </a:solidFill>
                <a:latin typeface="Arial"/>
              </a:rPr>
              <a:t/>
            </a:r>
          </a:p>
          <a:p>
            <a:pPr algn="l">
              <a:lnSpc>
                <a:spcPct val="112000"/>
              </a:lnSpc>
              <a:spcAft>
                <a:spcPts val="500"/>
              </a:spcAft>
            </a:pPr>
            <a:r>
              <a:rPr sz="1100" b="0">
                <a:solidFill>
                  <a:srgbClr val="1F2933"/>
                </a:solidFill>
                <a:latin typeface="Arial"/>
              </a:rPr>
              <a:t>CÒN CHƯA RÕ:</a:t>
            </a:r>
          </a:p>
          <a:p>
            <a:pPr algn="l">
              <a:lnSpc>
                <a:spcPct val="112000"/>
              </a:lnSpc>
              <a:spcAft>
                <a:spcPts val="500"/>
              </a:spcAft>
            </a:pPr>
            <a:r>
              <a:rPr sz="1100" b="0">
                <a:solidFill>
                  <a:srgbClr val="1F2933"/>
                </a:solidFill>
                <a:latin typeface="Arial"/>
              </a:rPr>
              <a:t>• Actor ghi là "User" — quá mơ hồ, phải thu hẹp</a:t>
            </a:r>
          </a:p>
          <a:p>
            <a:pPr algn="l">
              <a:lnSpc>
                <a:spcPct val="112000"/>
              </a:lnSpc>
              <a:spcAft>
                <a:spcPts val="500"/>
              </a:spcAft>
            </a:pPr>
            <a:r>
              <a:rPr sz="1100" b="0">
                <a:solidFill>
                  <a:srgbClr val="1F2933"/>
                </a:solidFill>
                <a:latin typeface="Arial"/>
              </a:rPr>
              <a:t>• 10–15' mới là ước lượng, chưa bấm giờ</a:t>
            </a:r>
          </a:p>
          <a:p>
            <a:pPr algn="l">
              <a:lnSpc>
                <a:spcPct val="112000"/>
              </a:lnSpc>
              <a:spcAft>
                <a:spcPts val="500"/>
              </a:spcAft>
            </a:pPr>
            <a:r>
              <a:rPr sz="1100" b="0">
                <a:solidFill>
                  <a:srgbClr val="1F2933"/>
                </a:solidFill>
                <a:latin typeface="Arial"/>
              </a:rPr>
              <a:t>• 10–15'/lần có đủ đau để làm không?</a:t>
            </a:r>
          </a:p>
        </p:txBody>
      </p:sp>
      <p:sp>
        <p:nvSpPr>
          <p:cNvPr id="12" name="Rectangle 11"/>
          <p:cNvSpPr/>
          <p:nvPr/>
        </p:nvSpPr>
        <p:spPr>
          <a:xfrm>
            <a:off x="6263640" y="1874519"/>
            <a:ext cx="5349240" cy="379476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874519"/>
            <a:ext cx="64008" cy="3794760"/>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9672" y="2039111"/>
            <a:ext cx="4892040" cy="365760"/>
          </a:xfrm>
          <a:prstGeom prst="rect">
            <a:avLst/>
          </a:prstGeom>
          <a:noFill/>
        </p:spPr>
        <p:txBody>
          <a:bodyPr wrap="square" anchor="t" lIns="0" rIns="0" tIns="0" bIns="0">
            <a:spAutoFit/>
          </a:bodyPr>
          <a:lstStyle/>
          <a:p>
            <a:pPr algn="l">
              <a:lnSpc>
                <a:spcPct val="105000"/>
              </a:lnSpc>
              <a:spcAft>
                <a:spcPts val="600"/>
              </a:spcAft>
            </a:pPr>
            <a:r>
              <a:rPr sz="1400" b="1">
                <a:solidFill>
                  <a:srgbClr val="E0A458"/>
                </a:solidFill>
                <a:latin typeface="Arial"/>
              </a:rPr>
              <a:t>#6 — Dặn dò bệnh nhân sau khám  (Uyên)</a:t>
            </a:r>
          </a:p>
        </p:txBody>
      </p:sp>
      <p:sp>
        <p:nvSpPr>
          <p:cNvPr id="15" name="TextBox 14"/>
          <p:cNvSpPr txBox="1"/>
          <p:nvPr/>
        </p:nvSpPr>
        <p:spPr>
          <a:xfrm>
            <a:off x="6519672" y="2441447"/>
            <a:ext cx="4892040" cy="306324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VÀO SHORTLIST VÌ:</a:t>
            </a:r>
          </a:p>
          <a:p>
            <a:pPr algn="l">
              <a:lnSpc>
                <a:spcPct val="112000"/>
              </a:lnSpc>
              <a:spcAft>
                <a:spcPts val="500"/>
              </a:spcAft>
            </a:pPr>
            <a:r>
              <a:rPr sz="1100" b="0">
                <a:solidFill>
                  <a:srgbClr val="1F2933"/>
                </a:solidFill>
                <a:latin typeface="Arial"/>
              </a:rPr>
              <a:t>• Impact lớn nhất: 2–5h/ngày của điều dưỡng, 15–30% bệnh nhân gọi lại</a:t>
            </a:r>
          </a:p>
          <a:p>
            <a:pPr algn="l">
              <a:lnSpc>
                <a:spcPct val="112000"/>
              </a:lnSpc>
              <a:spcAft>
                <a:spcPts val="500"/>
              </a:spcAft>
            </a:pPr>
            <a:r>
              <a:rPr sz="1100" b="0">
                <a:solidFill>
                  <a:srgbClr val="1F2933"/>
                </a:solidFill>
                <a:latin typeface="Arial"/>
              </a:rPr>
              <a:t>• Người chịu hậu quả rõ ở cả hai đầu: nhân viên y tế và bệnh nhân</a:t>
            </a:r>
          </a:p>
          <a:p>
            <a:pPr algn="l">
              <a:lnSpc>
                <a:spcPct val="112000"/>
              </a:lnSpc>
              <a:spcAft>
                <a:spcPts val="500"/>
              </a:spcAft>
            </a:pPr>
            <a:r>
              <a:rPr sz="1100" b="0">
                <a:solidFill>
                  <a:srgbClr val="1F2933"/>
                </a:solidFill>
                <a:latin typeface="Arial"/>
              </a:rPr>
              <a:t>• Bottleneck gọn: gom 2–3 màn hình rồi dịch thuật ngữ y khoa sang lời thường</a:t>
            </a:r>
          </a:p>
          <a:p>
            <a:pPr algn="l">
              <a:lnSpc>
                <a:spcPct val="112000"/>
              </a:lnSpc>
              <a:spcAft>
                <a:spcPts val="500"/>
              </a:spcAft>
            </a:pPr>
            <a:r>
              <a:rPr sz="1100" b="0">
                <a:solidFill>
                  <a:srgbClr val="1F2933"/>
                </a:solidFill>
                <a:latin typeface="Arial"/>
              </a:rPr>
              <a:t/>
            </a:r>
          </a:p>
          <a:p>
            <a:pPr algn="l">
              <a:lnSpc>
                <a:spcPct val="112000"/>
              </a:lnSpc>
              <a:spcAft>
                <a:spcPts val="500"/>
              </a:spcAft>
            </a:pPr>
            <a:r>
              <a:rPr sz="1100" b="0">
                <a:solidFill>
                  <a:srgbClr val="1F2933"/>
                </a:solidFill>
                <a:latin typeface="Arial"/>
              </a:rPr>
              <a:t>CÒN CHƯA RÕ:</a:t>
            </a:r>
          </a:p>
          <a:p>
            <a:pPr algn="l">
              <a:lnSpc>
                <a:spcPct val="112000"/>
              </a:lnSpc>
              <a:spcAft>
                <a:spcPts val="500"/>
              </a:spcAft>
            </a:pPr>
            <a:r>
              <a:rPr sz="1100" b="0">
                <a:solidFill>
                  <a:srgbClr val="1F2933"/>
                </a:solidFill>
                <a:latin typeface="Arial"/>
              </a:rPr>
              <a:t>• Không lấy được dữ liệu thật trong thời hạn lab</a:t>
            </a:r>
          </a:p>
          <a:p>
            <a:pPr algn="l">
              <a:lnSpc>
                <a:spcPct val="112000"/>
              </a:lnSpc>
              <a:spcAft>
                <a:spcPts val="500"/>
              </a:spcAft>
            </a:pPr>
            <a:r>
              <a:rPr sz="1100" b="0">
                <a:solidFill>
                  <a:srgbClr val="1F2933"/>
                </a:solidFill>
                <a:latin typeface="Arial"/>
              </a:rPr>
              <a:t>• Sai liều là sự cố y khoa, không rollback được</a:t>
            </a:r>
          </a:p>
          <a:p>
            <a:pPr algn="l">
              <a:lnSpc>
                <a:spcPct val="112000"/>
              </a:lnSpc>
              <a:spcAft>
                <a:spcPts val="500"/>
              </a:spcAft>
            </a:pPr>
            <a:r>
              <a:rPr sz="1100" b="0">
                <a:solidFill>
                  <a:srgbClr val="1F2933"/>
                </a:solidFill>
                <a:latin typeface="Arial"/>
              </a:rPr>
              <a:t>• Không ai trong nhóm thẩm định được output</a:t>
            </a:r>
          </a:p>
        </p:txBody>
      </p:sp>
      <p:sp>
        <p:nvSpPr>
          <p:cNvPr id="16" name="TextBox 15"/>
          <p:cNvSpPr txBox="1"/>
          <p:nvPr/>
        </p:nvSpPr>
        <p:spPr>
          <a:xfrm>
            <a:off x="640080" y="6400800"/>
            <a:ext cx="8229600" cy="274320"/>
          </a:xfrm>
          <a:prstGeom prst="rect">
            <a:avLst/>
          </a:prstGeom>
          <a:noFill/>
        </p:spPr>
        <p:txBody>
          <a:bodyPr wrap="square" anchor="t" lIns="0" rIns="0" tIns="0" bIns="0">
            <a:spAutoFit/>
          </a:bodyPr>
          <a:lstStyle/>
          <a:p>
            <a:pPr algn="l">
              <a:lnSpc>
                <a:spcPct val="105000"/>
              </a:lnSpc>
              <a:spcAft>
                <a:spcPts val="600"/>
              </a:spcAft>
            </a:pPr>
            <a:r>
              <a:rPr sz="900" b="0">
                <a:solidFill>
                  <a:srgbClr val="6B7280"/>
                </a:solidFill>
                <a:latin typeface="Arial"/>
              </a:rPr>
              <a:t>Day 02 Lab · K4A · Nhóm 6 người · Candidate: Meeting note</a:t>
            </a:r>
          </a:p>
        </p:txBody>
      </p:sp>
      <p:sp>
        <p:nvSpPr>
          <p:cNvPr id="17" name="TextBox 16"/>
          <p:cNvSpPr txBox="1"/>
          <p:nvPr/>
        </p:nvSpPr>
        <p:spPr>
          <a:xfrm>
            <a:off x="11002975" y="6400800"/>
            <a:ext cx="548640" cy="274320"/>
          </a:xfrm>
          <a:prstGeom prst="rect">
            <a:avLst/>
          </a:prstGeom>
          <a:noFill/>
        </p:spPr>
        <p:txBody>
          <a:bodyPr wrap="square" anchor="t" lIns="0" rIns="0" tIns="0" bIns="0">
            <a:spAutoFit/>
          </a:bodyPr>
          <a:lstStyle/>
          <a:p>
            <a:pPr algn="r">
              <a:lnSpc>
                <a:spcPct val="105000"/>
              </a:lnSpc>
              <a:spcAft>
                <a:spcPts val="600"/>
              </a:spcAft>
            </a:pPr>
            <a:r>
              <a:rPr sz="900" b="1">
                <a:solidFill>
                  <a:srgbClr val="6B7280"/>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
            <a:ext cx="10972800" cy="274320"/>
          </a:xfrm>
          <a:prstGeom prst="rect">
            <a:avLst/>
          </a:prstGeom>
          <a:noFill/>
        </p:spPr>
        <p:txBody>
          <a:bodyPr wrap="square" anchor="t" lIns="0" rIns="0" tIns="0" bIns="0">
            <a:spAutoFit/>
          </a:bodyPr>
          <a:lstStyle/>
          <a:p>
            <a:pPr algn="l">
              <a:lnSpc>
                <a:spcPct val="105000"/>
              </a:lnSpc>
              <a:spcAft>
                <a:spcPts val="600"/>
              </a:spcAft>
            </a:pPr>
            <a:r>
              <a:rPr sz="1100" b="1">
                <a:solidFill>
                  <a:srgbClr val="E0A458"/>
                </a:solidFill>
                <a:latin typeface="Arial"/>
              </a:rPr>
              <a:t>PHASE 3.4</a:t>
            </a:r>
          </a:p>
        </p:txBody>
      </p:sp>
      <p:sp>
        <p:nvSpPr>
          <p:cNvPr id="6" name="TextBox 5"/>
          <p:cNvSpPr txBox="1"/>
          <p:nvPr/>
        </p:nvSpPr>
        <p:spPr>
          <a:xfrm>
            <a:off x="640080" y="475488"/>
            <a:ext cx="10972800" cy="548640"/>
          </a:xfrm>
          <a:prstGeom prst="rect">
            <a:avLst/>
          </a:prstGeom>
          <a:noFill/>
        </p:spPr>
        <p:txBody>
          <a:bodyPr wrap="square" anchor="t" lIns="0" rIns="0" tIns="0" bIns="0">
            <a:spAutoFit/>
          </a:bodyPr>
          <a:lstStyle/>
          <a:p>
            <a:pPr algn="l">
              <a:lnSpc>
                <a:spcPct val="105000"/>
              </a:lnSpc>
              <a:spcAft>
                <a:spcPts val="600"/>
              </a:spcAft>
            </a:pPr>
            <a:r>
              <a:rPr sz="2600" b="1">
                <a:solidFill>
                  <a:srgbClr val="FFFFFF"/>
                </a:solidFill>
                <a:latin typeface="Arial"/>
              </a:rPr>
              <a:t>Chấm điểm để ép nói rõ lý do, không phải để ra con số đẹp</a:t>
            </a:r>
          </a:p>
        </p:txBody>
      </p:sp>
      <p:graphicFrame>
        <p:nvGraphicFramePr>
          <p:cNvPr id="7" name="Table 6"/>
          <p:cNvGraphicFramePr>
            <a:graphicFrameLocks noGrp="1"/>
          </p:cNvGraphicFramePr>
          <p:nvPr/>
        </p:nvGraphicFramePr>
        <p:xfrm>
          <a:off x="640080" y="1691640"/>
          <a:ext cx="11155680" cy="1993392"/>
        </p:xfrm>
        <a:graphic>
          <a:graphicData uri="http://schemas.openxmlformats.org/drawingml/2006/table">
            <a:tbl>
              <a:tblPr firstRow="1" bandRow="1">
                <a:tableStyleId>{5C22544A-7EE6-4342-B048-85BDC9FD1C3A}</a:tableStyleId>
              </a:tblPr>
              <a:tblGrid>
                <a:gridCol w="3200400"/>
                <a:gridCol w="960120"/>
                <a:gridCol w="1005840"/>
                <a:gridCol w="1097280"/>
                <a:gridCol w="1051560"/>
                <a:gridCol w="1097280"/>
                <a:gridCol w="1005840"/>
                <a:gridCol w="960120"/>
                <a:gridCol w="777240"/>
              </a:tblGrid>
              <a:tr h="566928">
                <a:tc>
                  <a:txBody>
                    <a:bodyPr wrap="square"/>
                    <a:lstStyle/>
                    <a:p>
                      <a:pPr algn="l"/>
                      <a:r>
                        <a:rPr sz="950" b="1">
                          <a:solidFill>
                            <a:srgbClr val="FFFFFF"/>
                          </a:solidFill>
                          <a:latin typeface="Arial"/>
                        </a:rPr>
                        <a:t>Candidate</a:t>
                      </a:r>
                    </a:p>
                  </a:txBody>
                  <a:tcPr marL="73152" marR="73152" marT="36576" marB="36576" anchor="ctr">
                    <a:solidFill>
                      <a:srgbClr val="10263A"/>
                    </a:solidFill>
                  </a:tcPr>
                </a:tc>
                <a:tc>
                  <a:txBody>
                    <a:bodyPr wrap="square"/>
                    <a:lstStyle/>
                    <a:p>
                      <a:pPr algn="ctr"/>
                      <a:r>
                        <a:rPr sz="950" b="1">
                          <a:solidFill>
                            <a:srgbClr val="FFFFFF"/>
                          </a:solidFill>
                          <a:latin typeface="Arial"/>
                        </a:rPr>
                        <a:t>Actor
rõ</a:t>
                      </a:r>
                    </a:p>
                  </a:txBody>
                  <a:tcPr marL="73152" marR="73152" marT="36576" marB="36576" anchor="ctr">
                    <a:solidFill>
                      <a:srgbClr val="10263A"/>
                    </a:solidFill>
                  </a:tcPr>
                </a:tc>
                <a:tc>
                  <a:txBody>
                    <a:bodyPr wrap="square"/>
                    <a:lstStyle/>
                    <a:p>
                      <a:pPr algn="ctr"/>
                      <a:r>
                        <a:rPr sz="950" b="1">
                          <a:solidFill>
                            <a:srgbClr val="FFFFFF"/>
                          </a:solidFill>
                          <a:latin typeface="Arial"/>
                        </a:rPr>
                        <a:t>Workflow
rõ</a:t>
                      </a:r>
                    </a:p>
                  </a:txBody>
                  <a:tcPr marL="73152" marR="73152" marT="36576" marB="36576" anchor="ctr">
                    <a:solidFill>
                      <a:srgbClr val="10263A"/>
                    </a:solidFill>
                  </a:tcPr>
                </a:tc>
                <a:tc>
                  <a:txBody>
                    <a:bodyPr wrap="square"/>
                    <a:lstStyle/>
                    <a:p>
                      <a:pPr algn="ctr"/>
                      <a:r>
                        <a:rPr sz="950" b="1">
                          <a:solidFill>
                            <a:srgbClr val="FFFFFF"/>
                          </a:solidFill>
                          <a:latin typeface="Arial"/>
                        </a:rPr>
                        <a:t>Pain có
evidence</a:t>
                      </a:r>
                    </a:p>
                  </a:txBody>
                  <a:tcPr marL="73152" marR="73152" marT="36576" marB="36576" anchor="ctr">
                    <a:solidFill>
                      <a:srgbClr val="10263A"/>
                    </a:solidFill>
                  </a:tcPr>
                </a:tc>
                <a:tc>
                  <a:txBody>
                    <a:bodyPr wrap="square"/>
                    <a:lstStyle/>
                    <a:p>
                      <a:pPr algn="ctr"/>
                      <a:r>
                        <a:rPr sz="950" b="1">
                          <a:solidFill>
                            <a:srgbClr val="FFFFFF"/>
                          </a:solidFill>
                          <a:latin typeface="Arial"/>
                        </a:rPr>
                        <a:t>Impact
đo được</a:t>
                      </a:r>
                    </a:p>
                  </a:txBody>
                  <a:tcPr marL="73152" marR="73152" marT="36576" marB="36576" anchor="ctr">
                    <a:solidFill>
                      <a:srgbClr val="10263A"/>
                    </a:solidFill>
                  </a:tcPr>
                </a:tc>
                <a:tc>
                  <a:txBody>
                    <a:bodyPr wrap="square"/>
                    <a:lstStyle/>
                    <a:p>
                      <a:pPr algn="ctr"/>
                      <a:r>
                        <a:rPr sz="950" b="1">
                          <a:solidFill>
                            <a:srgbClr val="FFFFFF"/>
                          </a:solidFill>
                          <a:latin typeface="Arial"/>
                        </a:rPr>
                        <a:t>Làm trong
lab</a:t>
                      </a:r>
                    </a:p>
                  </a:txBody>
                  <a:tcPr marL="73152" marR="73152" marT="36576" marB="36576" anchor="ctr">
                    <a:solidFill>
                      <a:srgbClr val="10263A"/>
                    </a:solidFill>
                  </a:tcPr>
                </a:tc>
                <a:tc>
                  <a:txBody>
                    <a:bodyPr wrap="square"/>
                    <a:lstStyle/>
                    <a:p>
                      <a:pPr algn="ctr"/>
                      <a:r>
                        <a:rPr sz="950" b="1">
                          <a:solidFill>
                            <a:srgbClr val="FFFFFF"/>
                          </a:solidFill>
                          <a:latin typeface="Arial"/>
                        </a:rPr>
                        <a:t>So sánh
R/W/A</a:t>
                      </a:r>
                    </a:p>
                  </a:txBody>
                  <a:tcPr marL="73152" marR="73152" marT="36576" marB="36576" anchor="ctr">
                    <a:solidFill>
                      <a:srgbClr val="10263A"/>
                    </a:solidFill>
                  </a:tcPr>
                </a:tc>
                <a:tc>
                  <a:txBody>
                    <a:bodyPr wrap="square"/>
                    <a:lstStyle/>
                    <a:p>
                      <a:pPr algn="ctr"/>
                      <a:r>
                        <a:rPr sz="950" b="1">
                          <a:solidFill>
                            <a:srgbClr val="FFFFFF"/>
                          </a:solidFill>
                          <a:latin typeface="Arial"/>
                        </a:rPr>
                        <a:t>Hiểu
domain</a:t>
                      </a:r>
                    </a:p>
                  </a:txBody>
                  <a:tcPr marL="73152" marR="73152" marT="36576" marB="36576" anchor="ctr">
                    <a:solidFill>
                      <a:srgbClr val="10263A"/>
                    </a:solidFill>
                  </a:tcPr>
                </a:tc>
                <a:tc>
                  <a:txBody>
                    <a:bodyPr wrap="square"/>
                    <a:lstStyle/>
                    <a:p>
                      <a:pPr algn="ctr"/>
                      <a:r>
                        <a:rPr sz="950" b="1">
                          <a:solidFill>
                            <a:srgbClr val="FFFFFF"/>
                          </a:solidFill>
                          <a:latin typeface="Arial"/>
                        </a:rPr>
                        <a:t>Tổng</a:t>
                      </a:r>
                    </a:p>
                  </a:txBody>
                  <a:tcPr marL="73152" marR="73152" marT="36576" marB="36576" anchor="ctr">
                    <a:solidFill>
                      <a:srgbClr val="10263A"/>
                    </a:solidFill>
                  </a:tcPr>
                </a:tc>
              </a:tr>
              <a:tr h="475488">
                <a:tc>
                  <a:txBody>
                    <a:bodyPr wrap="square"/>
                    <a:lstStyle/>
                    <a:p>
                      <a:pPr algn="l"/>
                      <a:r>
                        <a:rPr sz="1200" b="0">
                          <a:solidFill>
                            <a:srgbClr val="1F2933"/>
                          </a:solidFill>
                          <a:latin typeface="Arial"/>
                        </a:rPr>
                        <a:t>#14  Meeting note</a:t>
                      </a:r>
                    </a:p>
                  </a:txBody>
                  <a:tcPr marL="73152" marR="73152" marT="36576" marB="36576" anchor="ctr">
                    <a:solidFill>
                      <a:srgbClr val="FFFFFF"/>
                    </a:solidFill>
                  </a:tcPr>
                </a:tc>
                <a:tc>
                  <a:txBody>
                    <a:bodyPr wrap="square"/>
                    <a:lstStyle/>
                    <a:p>
                      <a:pPr algn="ctr"/>
                      <a:r>
                        <a:rPr sz="1200" b="0">
                          <a:solidFill>
                            <a:srgbClr val="1F2933"/>
                          </a:solidFill>
                          <a:latin typeface="Arial"/>
                        </a:rPr>
                        <a:t>4</a:t>
                      </a:r>
                    </a:p>
                  </a:txBody>
                  <a:tcPr marL="73152" marR="73152" marT="36576" marB="36576" anchor="ctr">
                    <a:solidFill>
                      <a:srgbClr val="FFFFFF"/>
                    </a:solidFill>
                  </a:tcPr>
                </a:tc>
                <a:tc>
                  <a:txBody>
                    <a:bodyPr wrap="square"/>
                    <a:lstStyle/>
                    <a:p>
                      <a:pPr algn="ctr"/>
                      <a:r>
                        <a:rPr sz="1200" b="0">
                          <a:solidFill>
                            <a:srgbClr val="1F2933"/>
                          </a:solidFill>
                          <a:latin typeface="Arial"/>
                        </a:rPr>
                        <a:t>5</a:t>
                      </a:r>
                    </a:p>
                  </a:txBody>
                  <a:tcPr marL="73152" marR="73152" marT="36576" marB="36576" anchor="ctr">
                    <a:solidFill>
                      <a:srgbClr val="FFFFFF"/>
                    </a:solidFill>
                  </a:tcPr>
                </a:tc>
                <a:tc>
                  <a:txBody>
                    <a:bodyPr wrap="square"/>
                    <a:lstStyle/>
                    <a:p>
                      <a:pPr algn="ctr"/>
                      <a:r>
                        <a:rPr sz="1200" b="0">
                          <a:solidFill>
                            <a:srgbClr val="1F2933"/>
                          </a:solidFill>
                          <a:latin typeface="Arial"/>
                        </a:rPr>
                        <a:t>4</a:t>
                      </a:r>
                    </a:p>
                  </a:txBody>
                  <a:tcPr marL="73152" marR="73152" marT="36576" marB="36576" anchor="ctr">
                    <a:solidFill>
                      <a:srgbClr val="FFFFFF"/>
                    </a:solidFill>
                  </a:tcPr>
                </a:tc>
                <a:tc>
                  <a:txBody>
                    <a:bodyPr wrap="square"/>
                    <a:lstStyle/>
                    <a:p>
                      <a:pPr algn="ctr"/>
                      <a:r>
                        <a:rPr sz="1200" b="0">
                          <a:solidFill>
                            <a:srgbClr val="1F2933"/>
                          </a:solidFill>
                          <a:latin typeface="Arial"/>
                        </a:rPr>
                        <a:t>4</a:t>
                      </a:r>
                    </a:p>
                  </a:txBody>
                  <a:tcPr marL="73152" marR="73152" marT="36576" marB="36576" anchor="ctr">
                    <a:solidFill>
                      <a:srgbClr val="FFFFFF"/>
                    </a:solidFill>
                  </a:tcPr>
                </a:tc>
                <a:tc>
                  <a:txBody>
                    <a:bodyPr wrap="square"/>
                    <a:lstStyle/>
                    <a:p>
                      <a:pPr algn="ctr"/>
                      <a:r>
                        <a:rPr sz="1200" b="0">
                          <a:solidFill>
                            <a:srgbClr val="1F2933"/>
                          </a:solidFill>
                          <a:latin typeface="Arial"/>
                        </a:rPr>
                        <a:t>5</a:t>
                      </a:r>
                    </a:p>
                  </a:txBody>
                  <a:tcPr marL="73152" marR="73152" marT="36576" marB="36576" anchor="ctr">
                    <a:solidFill>
                      <a:srgbClr val="FFFFFF"/>
                    </a:solidFill>
                  </a:tcPr>
                </a:tc>
                <a:tc>
                  <a:txBody>
                    <a:bodyPr wrap="square"/>
                    <a:lstStyle/>
                    <a:p>
                      <a:pPr algn="ctr"/>
                      <a:r>
                        <a:rPr sz="1200" b="0">
                          <a:solidFill>
                            <a:srgbClr val="1F2933"/>
                          </a:solidFill>
                          <a:latin typeface="Arial"/>
                        </a:rPr>
                        <a:t>5</a:t>
                      </a:r>
                    </a:p>
                  </a:txBody>
                  <a:tcPr marL="73152" marR="73152" marT="36576" marB="36576" anchor="ctr">
                    <a:solidFill>
                      <a:srgbClr val="FFFFFF"/>
                    </a:solidFill>
                  </a:tcPr>
                </a:tc>
                <a:tc>
                  <a:txBody>
                    <a:bodyPr wrap="square"/>
                    <a:lstStyle/>
                    <a:p>
                      <a:pPr algn="ctr"/>
                      <a:r>
                        <a:rPr sz="1200" b="0">
                          <a:solidFill>
                            <a:srgbClr val="1F2933"/>
                          </a:solidFill>
                          <a:latin typeface="Arial"/>
                        </a:rPr>
                        <a:t>5</a:t>
                      </a:r>
                    </a:p>
                  </a:txBody>
                  <a:tcPr marL="73152" marR="73152" marT="36576" marB="36576" anchor="ctr">
                    <a:solidFill>
                      <a:srgbClr val="FFFFFF"/>
                    </a:solidFill>
                  </a:tcPr>
                </a:tc>
                <a:tc>
                  <a:txBody>
                    <a:bodyPr wrap="square"/>
                    <a:lstStyle/>
                    <a:p>
                      <a:pPr algn="ctr"/>
                      <a:r>
                        <a:rPr sz="1200" b="0">
                          <a:solidFill>
                            <a:srgbClr val="1F2933"/>
                          </a:solidFill>
                          <a:latin typeface="Arial"/>
                        </a:rPr>
                        <a:t>32</a:t>
                      </a:r>
                    </a:p>
                  </a:txBody>
                  <a:tcPr marL="73152" marR="73152" marT="36576" marB="36576" anchor="ctr">
                    <a:solidFill>
                      <a:srgbClr val="FFFFFF"/>
                    </a:solidFill>
                  </a:tcPr>
                </a:tc>
              </a:tr>
              <a:tr h="475488">
                <a:tc>
                  <a:txBody>
                    <a:bodyPr wrap="square"/>
                    <a:lstStyle/>
                    <a:p>
                      <a:pPr algn="l"/>
                      <a:r>
                        <a:rPr sz="1200" b="0">
                          <a:solidFill>
                            <a:srgbClr val="1F2933"/>
                          </a:solidFill>
                          <a:latin typeface="Arial"/>
                        </a:rPr>
                        <a:t>#10  Soạn bài tập củng cố</a:t>
                      </a:r>
                    </a:p>
                  </a:txBody>
                  <a:tcPr marL="73152" marR="73152" marT="36576" marB="36576" anchor="ctr">
                    <a:solidFill>
                      <a:srgbClr val="EEEEEA"/>
                    </a:solidFill>
                  </a:tcPr>
                </a:tc>
                <a:tc>
                  <a:txBody>
                    <a:bodyPr wrap="square"/>
                    <a:lstStyle/>
                    <a:p>
                      <a:pPr algn="ctr"/>
                      <a:r>
                        <a:rPr sz="1200" b="0">
                          <a:solidFill>
                            <a:srgbClr val="1F2933"/>
                          </a:solidFill>
                          <a:latin typeface="Arial"/>
                        </a:rPr>
                        <a:t>4</a:t>
                      </a:r>
                    </a:p>
                  </a:txBody>
                  <a:tcPr marL="73152" marR="73152" marT="36576" marB="36576" anchor="ctr">
                    <a:solidFill>
                      <a:srgbClr val="EEEEEA"/>
                    </a:solidFill>
                  </a:tcPr>
                </a:tc>
                <a:tc>
                  <a:txBody>
                    <a:bodyPr wrap="square"/>
                    <a:lstStyle/>
                    <a:p>
                      <a:pPr algn="ctr"/>
                      <a:r>
                        <a:rPr sz="1200" b="0">
                          <a:solidFill>
                            <a:srgbClr val="1F2933"/>
                          </a:solidFill>
                          <a:latin typeface="Arial"/>
                        </a:rPr>
                        <a:t>4</a:t>
                      </a:r>
                    </a:p>
                  </a:txBody>
                  <a:tcPr marL="73152" marR="73152" marT="36576" marB="36576" anchor="ctr">
                    <a:solidFill>
                      <a:srgbClr val="EEEEEA"/>
                    </a:solidFill>
                  </a:tcPr>
                </a:tc>
                <a:tc>
                  <a:txBody>
                    <a:bodyPr wrap="square"/>
                    <a:lstStyle/>
                    <a:p>
                      <a:pPr algn="ctr"/>
                      <a:r>
                        <a:rPr sz="1200" b="0">
                          <a:solidFill>
                            <a:srgbClr val="1F2933"/>
                          </a:solidFill>
                          <a:latin typeface="Arial"/>
                        </a:rPr>
                        <a:t>4</a:t>
                      </a:r>
                    </a:p>
                  </a:txBody>
                  <a:tcPr marL="73152" marR="73152" marT="36576" marB="36576" anchor="ctr">
                    <a:solidFill>
                      <a:srgbClr val="EEEEEA"/>
                    </a:solidFill>
                  </a:tcPr>
                </a:tc>
                <a:tc>
                  <a:txBody>
                    <a:bodyPr wrap="square"/>
                    <a:lstStyle/>
                    <a:p>
                      <a:pPr algn="ctr"/>
                      <a:r>
                        <a:rPr sz="1200" b="0">
                          <a:solidFill>
                            <a:srgbClr val="1F2933"/>
                          </a:solidFill>
                          <a:latin typeface="Arial"/>
                        </a:rPr>
                        <a:t>3</a:t>
                      </a:r>
                    </a:p>
                  </a:txBody>
                  <a:tcPr marL="73152" marR="73152" marT="36576" marB="36576" anchor="ctr">
                    <a:solidFill>
                      <a:srgbClr val="EEEEEA"/>
                    </a:solidFill>
                  </a:tcPr>
                </a:tc>
                <a:tc>
                  <a:txBody>
                    <a:bodyPr wrap="square"/>
                    <a:lstStyle/>
                    <a:p>
                      <a:pPr algn="ctr"/>
                      <a:r>
                        <a:rPr sz="1200" b="0">
                          <a:solidFill>
                            <a:srgbClr val="1F2933"/>
                          </a:solidFill>
                          <a:latin typeface="Arial"/>
                        </a:rPr>
                        <a:t>4</a:t>
                      </a:r>
                    </a:p>
                  </a:txBody>
                  <a:tcPr marL="73152" marR="73152" marT="36576" marB="36576" anchor="ctr">
                    <a:solidFill>
                      <a:srgbClr val="EEEEEA"/>
                    </a:solidFill>
                  </a:tcPr>
                </a:tc>
                <a:tc>
                  <a:txBody>
                    <a:bodyPr wrap="square"/>
                    <a:lstStyle/>
                    <a:p>
                      <a:pPr algn="ctr"/>
                      <a:r>
                        <a:rPr sz="1200" b="0">
                          <a:solidFill>
                            <a:srgbClr val="1F2933"/>
                          </a:solidFill>
                          <a:latin typeface="Arial"/>
                        </a:rPr>
                        <a:t>4</a:t>
                      </a:r>
                    </a:p>
                  </a:txBody>
                  <a:tcPr marL="73152" marR="73152" marT="36576" marB="36576" anchor="ctr">
                    <a:solidFill>
                      <a:srgbClr val="EEEEEA"/>
                    </a:solidFill>
                  </a:tcPr>
                </a:tc>
                <a:tc>
                  <a:txBody>
                    <a:bodyPr wrap="square"/>
                    <a:lstStyle/>
                    <a:p>
                      <a:pPr algn="ctr"/>
                      <a:r>
                        <a:rPr sz="1200" b="0">
                          <a:solidFill>
                            <a:srgbClr val="1F2933"/>
                          </a:solidFill>
                          <a:latin typeface="Arial"/>
                        </a:rPr>
                        <a:t>4</a:t>
                      </a:r>
                    </a:p>
                  </a:txBody>
                  <a:tcPr marL="73152" marR="73152" marT="36576" marB="36576" anchor="ctr">
                    <a:solidFill>
                      <a:srgbClr val="EEEEEA"/>
                    </a:solidFill>
                  </a:tcPr>
                </a:tc>
                <a:tc>
                  <a:txBody>
                    <a:bodyPr wrap="square"/>
                    <a:lstStyle/>
                    <a:p>
                      <a:pPr algn="ctr"/>
                      <a:r>
                        <a:rPr sz="1200" b="0">
                          <a:solidFill>
                            <a:srgbClr val="1F2933"/>
                          </a:solidFill>
                          <a:latin typeface="Arial"/>
                        </a:rPr>
                        <a:t>27</a:t>
                      </a:r>
                    </a:p>
                  </a:txBody>
                  <a:tcPr marL="73152" marR="73152" marT="36576" marB="36576" anchor="ctr">
                    <a:solidFill>
                      <a:srgbClr val="EEEEEA"/>
                    </a:solidFill>
                  </a:tcPr>
                </a:tc>
              </a:tr>
              <a:tr h="475488">
                <a:tc>
                  <a:txBody>
                    <a:bodyPr wrap="square"/>
                    <a:lstStyle/>
                    <a:p>
                      <a:pPr algn="l"/>
                      <a:r>
                        <a:rPr sz="1200" b="0">
                          <a:solidFill>
                            <a:srgbClr val="1F2933"/>
                          </a:solidFill>
                          <a:latin typeface="Arial"/>
                        </a:rPr>
                        <a:t>#6   Dặn dò bệnh nhân</a:t>
                      </a:r>
                    </a:p>
                  </a:txBody>
                  <a:tcPr marL="73152" marR="73152" marT="36576" marB="36576" anchor="ctr">
                    <a:solidFill>
                      <a:srgbClr val="FFFFFF"/>
                    </a:solidFill>
                  </a:tcPr>
                </a:tc>
                <a:tc>
                  <a:txBody>
                    <a:bodyPr wrap="square"/>
                    <a:lstStyle/>
                    <a:p>
                      <a:pPr algn="ctr"/>
                      <a:r>
                        <a:rPr sz="1200" b="0">
                          <a:solidFill>
                            <a:srgbClr val="1F2933"/>
                          </a:solidFill>
                          <a:latin typeface="Arial"/>
                        </a:rPr>
                        <a:t>5</a:t>
                      </a:r>
                    </a:p>
                  </a:txBody>
                  <a:tcPr marL="73152" marR="73152" marT="36576" marB="36576" anchor="ctr">
                    <a:solidFill>
                      <a:srgbClr val="FFFFFF"/>
                    </a:solidFill>
                  </a:tcPr>
                </a:tc>
                <a:tc>
                  <a:txBody>
                    <a:bodyPr wrap="square"/>
                    <a:lstStyle/>
                    <a:p>
                      <a:pPr algn="ctr"/>
                      <a:r>
                        <a:rPr sz="1200" b="0">
                          <a:solidFill>
                            <a:srgbClr val="1F2933"/>
                          </a:solidFill>
                          <a:latin typeface="Arial"/>
                        </a:rPr>
                        <a:t>4</a:t>
                      </a:r>
                    </a:p>
                  </a:txBody>
                  <a:tcPr marL="73152" marR="73152" marT="36576" marB="36576" anchor="ctr">
                    <a:solidFill>
                      <a:srgbClr val="FFFFFF"/>
                    </a:solidFill>
                  </a:tcPr>
                </a:tc>
                <a:tc>
                  <a:txBody>
                    <a:bodyPr wrap="square"/>
                    <a:lstStyle/>
                    <a:p>
                      <a:pPr algn="ctr"/>
                      <a:r>
                        <a:rPr sz="1200" b="0">
                          <a:solidFill>
                            <a:srgbClr val="1F2933"/>
                          </a:solidFill>
                          <a:latin typeface="Arial"/>
                        </a:rPr>
                        <a:t>3</a:t>
                      </a:r>
                    </a:p>
                  </a:txBody>
                  <a:tcPr marL="73152" marR="73152" marT="36576" marB="36576" anchor="ctr">
                    <a:solidFill>
                      <a:srgbClr val="FFFFFF"/>
                    </a:solidFill>
                  </a:tcPr>
                </a:tc>
                <a:tc>
                  <a:txBody>
                    <a:bodyPr wrap="square"/>
                    <a:lstStyle/>
                    <a:p>
                      <a:pPr algn="ctr"/>
                      <a:r>
                        <a:rPr sz="1200" b="0">
                          <a:solidFill>
                            <a:srgbClr val="1F2933"/>
                          </a:solidFill>
                          <a:latin typeface="Arial"/>
                        </a:rPr>
                        <a:t>5</a:t>
                      </a:r>
                    </a:p>
                  </a:txBody>
                  <a:tcPr marL="73152" marR="73152" marT="36576" marB="36576" anchor="ctr">
                    <a:solidFill>
                      <a:srgbClr val="FFFFFF"/>
                    </a:solidFill>
                  </a:tcPr>
                </a:tc>
                <a:tc>
                  <a:txBody>
                    <a:bodyPr wrap="square"/>
                    <a:lstStyle/>
                    <a:p>
                      <a:pPr algn="ctr"/>
                      <a:r>
                        <a:rPr sz="1200" b="0">
                          <a:solidFill>
                            <a:srgbClr val="1F2933"/>
                          </a:solidFill>
                          <a:latin typeface="Arial"/>
                        </a:rPr>
                        <a:t>1</a:t>
                      </a:r>
                    </a:p>
                  </a:txBody>
                  <a:tcPr marL="73152" marR="73152" marT="36576" marB="36576" anchor="ctr">
                    <a:solidFill>
                      <a:srgbClr val="FFFFFF"/>
                    </a:solidFill>
                  </a:tcPr>
                </a:tc>
                <a:tc>
                  <a:txBody>
                    <a:bodyPr wrap="square"/>
                    <a:lstStyle/>
                    <a:p>
                      <a:pPr algn="ctr"/>
                      <a:r>
                        <a:rPr sz="1200" b="0">
                          <a:solidFill>
                            <a:srgbClr val="1F2933"/>
                          </a:solidFill>
                          <a:latin typeface="Arial"/>
                        </a:rPr>
                        <a:t>4</a:t>
                      </a:r>
                    </a:p>
                  </a:txBody>
                  <a:tcPr marL="73152" marR="73152" marT="36576" marB="36576" anchor="ctr">
                    <a:solidFill>
                      <a:srgbClr val="FFFFFF"/>
                    </a:solidFill>
                  </a:tcPr>
                </a:tc>
                <a:tc>
                  <a:txBody>
                    <a:bodyPr wrap="square"/>
                    <a:lstStyle/>
                    <a:p>
                      <a:pPr algn="ctr"/>
                      <a:r>
                        <a:rPr sz="1200" b="0">
                          <a:solidFill>
                            <a:srgbClr val="1F2933"/>
                          </a:solidFill>
                          <a:latin typeface="Arial"/>
                        </a:rPr>
                        <a:t>2</a:t>
                      </a:r>
                    </a:p>
                  </a:txBody>
                  <a:tcPr marL="73152" marR="73152" marT="36576" marB="36576" anchor="ctr">
                    <a:solidFill>
                      <a:srgbClr val="FFFFFF"/>
                    </a:solidFill>
                  </a:tcPr>
                </a:tc>
                <a:tc>
                  <a:txBody>
                    <a:bodyPr wrap="square"/>
                    <a:lstStyle/>
                    <a:p>
                      <a:pPr algn="ctr"/>
                      <a:r>
                        <a:rPr sz="1200" b="0">
                          <a:solidFill>
                            <a:srgbClr val="1F2933"/>
                          </a:solidFill>
                          <a:latin typeface="Arial"/>
                        </a:rPr>
                        <a:t>24</a:t>
                      </a:r>
                    </a:p>
                  </a:txBody>
                  <a:tcPr marL="73152" marR="73152" marT="36576" marB="36576" anchor="ctr">
                    <a:solidFill>
                      <a:srgbClr val="FFFFFF"/>
                    </a:solidFill>
                  </a:tcPr>
                </a:tc>
              </a:tr>
            </a:tbl>
          </a:graphicData>
        </a:graphic>
      </p:graphicFrame>
      <p:sp>
        <p:nvSpPr>
          <p:cNvPr id="8" name="TextBox 7"/>
          <p:cNvSpPr txBox="1"/>
          <p:nvPr/>
        </p:nvSpPr>
        <p:spPr>
          <a:xfrm>
            <a:off x="640080" y="3794760"/>
            <a:ext cx="10881360" cy="365760"/>
          </a:xfrm>
          <a:prstGeom prst="rect">
            <a:avLst/>
          </a:prstGeom>
          <a:noFill/>
        </p:spPr>
        <p:txBody>
          <a:bodyPr wrap="square" anchor="t" lIns="0" rIns="0" tIns="0" bIns="0">
            <a:spAutoFit/>
          </a:bodyPr>
          <a:lstStyle/>
          <a:p>
            <a:pPr algn="l">
              <a:lnSpc>
                <a:spcPct val="105000"/>
              </a:lnSpc>
              <a:spcAft>
                <a:spcPts val="600"/>
              </a:spcAft>
            </a:pPr>
            <a:r>
              <a:rPr sz="1300" b="1">
                <a:solidFill>
                  <a:srgbClr val="1F2933"/>
                </a:solidFill>
                <a:latin typeface="Arial"/>
              </a:rPr>
              <a:t>Ba ô đáng nói nhất — đây mới là phần có giá trị, không phải tổng điểm:</a:t>
            </a:r>
          </a:p>
        </p:txBody>
      </p:sp>
      <p:sp>
        <p:nvSpPr>
          <p:cNvPr id="9" name="Rectangle 8"/>
          <p:cNvSpPr/>
          <p:nvPr/>
        </p:nvSpPr>
        <p:spPr>
          <a:xfrm>
            <a:off x="640080" y="4251960"/>
            <a:ext cx="3520440" cy="160020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4251960"/>
            <a:ext cx="64008" cy="1600200"/>
          </a:xfrm>
          <a:prstGeom prst="rect">
            <a:avLst/>
          </a:prstGeom>
          <a:solidFill>
            <a:srgbClr val="B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4416552"/>
            <a:ext cx="3063240" cy="365760"/>
          </a:xfrm>
          <a:prstGeom prst="rect">
            <a:avLst/>
          </a:prstGeom>
          <a:noFill/>
        </p:spPr>
        <p:txBody>
          <a:bodyPr wrap="square" anchor="t" lIns="0" rIns="0" tIns="0" bIns="0">
            <a:spAutoFit/>
          </a:bodyPr>
          <a:lstStyle/>
          <a:p>
            <a:pPr algn="l">
              <a:lnSpc>
                <a:spcPct val="105000"/>
              </a:lnSpc>
              <a:spcAft>
                <a:spcPts val="600"/>
              </a:spcAft>
            </a:pPr>
            <a:r>
              <a:rPr sz="1200" b="1">
                <a:solidFill>
                  <a:srgbClr val="B03A2B"/>
                </a:solidFill>
                <a:latin typeface="Arial"/>
              </a:rPr>
              <a:t>#6 · Làm trong lab = 1</a:t>
            </a:r>
          </a:p>
        </p:txBody>
      </p:sp>
      <p:sp>
        <p:nvSpPr>
          <p:cNvPr id="12" name="TextBox 11"/>
          <p:cNvSpPr txBox="1"/>
          <p:nvPr/>
        </p:nvSpPr>
        <p:spPr>
          <a:xfrm>
            <a:off x="896112" y="4818888"/>
            <a:ext cx="3063240" cy="86868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Không có đường nào lấy được dữ liệu thật trong 4 tiếng. Bịa dữ liệu bệnh nhân để demo là đo một thứ không tồn tại.</a:t>
            </a:r>
          </a:p>
        </p:txBody>
      </p:sp>
      <p:sp>
        <p:nvSpPr>
          <p:cNvPr id="13" name="Rectangle 12"/>
          <p:cNvSpPr/>
          <p:nvPr/>
        </p:nvSpPr>
        <p:spPr>
          <a:xfrm>
            <a:off x="4315968" y="4251960"/>
            <a:ext cx="3520440" cy="160020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4251960"/>
            <a:ext cx="64008" cy="1600200"/>
          </a:xfrm>
          <a:prstGeom prst="rect">
            <a:avLst/>
          </a:prstGeom>
          <a:solidFill>
            <a:srgbClr val="B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4416552"/>
            <a:ext cx="3063240" cy="365760"/>
          </a:xfrm>
          <a:prstGeom prst="rect">
            <a:avLst/>
          </a:prstGeom>
          <a:noFill/>
        </p:spPr>
        <p:txBody>
          <a:bodyPr wrap="square" anchor="t" lIns="0" rIns="0" tIns="0" bIns="0">
            <a:spAutoFit/>
          </a:bodyPr>
          <a:lstStyle/>
          <a:p>
            <a:pPr algn="l">
              <a:lnSpc>
                <a:spcPct val="105000"/>
              </a:lnSpc>
              <a:spcAft>
                <a:spcPts val="600"/>
              </a:spcAft>
            </a:pPr>
            <a:r>
              <a:rPr sz="1200" b="1">
                <a:solidFill>
                  <a:srgbClr val="B03A2B"/>
                </a:solidFill>
                <a:latin typeface="Arial"/>
              </a:rPr>
              <a:t>#6 · Hiểu domain = 2</a:t>
            </a:r>
          </a:p>
        </p:txBody>
      </p:sp>
      <p:sp>
        <p:nvSpPr>
          <p:cNvPr id="16" name="TextBox 15"/>
          <p:cNvSpPr txBox="1"/>
          <p:nvPr/>
        </p:nvSpPr>
        <p:spPr>
          <a:xfrm>
            <a:off x="4572000" y="4818888"/>
            <a:ext cx="3063240" cy="86868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Không ai làm y tế. Không hiểu domain ở đây không làm bài chậm hơn — nó khiến nhóm KHÔNG phát hiện nổi output sai.</a:t>
            </a:r>
          </a:p>
        </p:txBody>
      </p:sp>
      <p:sp>
        <p:nvSpPr>
          <p:cNvPr id="17" name="Rectangle 16"/>
          <p:cNvSpPr/>
          <p:nvPr/>
        </p:nvSpPr>
        <p:spPr>
          <a:xfrm>
            <a:off x="8001000" y="4251960"/>
            <a:ext cx="3520440" cy="160020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01000" y="4251960"/>
            <a:ext cx="64008" cy="1600200"/>
          </a:xfrm>
          <a:prstGeom prst="rect">
            <a:avLst/>
          </a:prstGeom>
          <a:solidFill>
            <a:srgbClr val="1F77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7032" y="4416552"/>
            <a:ext cx="3063240" cy="365760"/>
          </a:xfrm>
          <a:prstGeom prst="rect">
            <a:avLst/>
          </a:prstGeom>
          <a:noFill/>
        </p:spPr>
        <p:txBody>
          <a:bodyPr wrap="square" anchor="t" lIns="0" rIns="0" tIns="0" bIns="0">
            <a:spAutoFit/>
          </a:bodyPr>
          <a:lstStyle/>
          <a:p>
            <a:pPr algn="l">
              <a:lnSpc>
                <a:spcPct val="105000"/>
              </a:lnSpc>
              <a:spcAft>
                <a:spcPts val="600"/>
              </a:spcAft>
            </a:pPr>
            <a:r>
              <a:rPr sz="1200" b="1">
                <a:solidFill>
                  <a:srgbClr val="1F7772"/>
                </a:solidFill>
                <a:latin typeface="Arial"/>
              </a:rPr>
              <a:t>#14 · Actor rõ = 4, không phải 5</a:t>
            </a:r>
          </a:p>
        </p:txBody>
      </p:sp>
      <p:sp>
        <p:nvSpPr>
          <p:cNvPr id="20" name="TextBox 19"/>
          <p:cNvSpPr txBox="1"/>
          <p:nvPr/>
        </p:nvSpPr>
        <p:spPr>
          <a:xfrm>
            <a:off x="8257032" y="4818888"/>
            <a:ext cx="3063240" cy="86868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Bản pitch ghi actor là "User". Nhóm tự trừ 1 điểm để nhớ đây là chỗ đã phải sửa.</a:t>
            </a:r>
          </a:p>
        </p:txBody>
      </p:sp>
      <p:sp>
        <p:nvSpPr>
          <p:cNvPr id="21" name="TextBox 20"/>
          <p:cNvSpPr txBox="1"/>
          <p:nvPr/>
        </p:nvSpPr>
        <p:spPr>
          <a:xfrm>
            <a:off x="640080" y="6400800"/>
            <a:ext cx="8229600" cy="274320"/>
          </a:xfrm>
          <a:prstGeom prst="rect">
            <a:avLst/>
          </a:prstGeom>
          <a:noFill/>
        </p:spPr>
        <p:txBody>
          <a:bodyPr wrap="square" anchor="t" lIns="0" rIns="0" tIns="0" bIns="0">
            <a:spAutoFit/>
          </a:bodyPr>
          <a:lstStyle/>
          <a:p>
            <a:pPr algn="l">
              <a:lnSpc>
                <a:spcPct val="105000"/>
              </a:lnSpc>
              <a:spcAft>
                <a:spcPts val="600"/>
              </a:spcAft>
            </a:pPr>
            <a:r>
              <a:rPr sz="900" b="0">
                <a:solidFill>
                  <a:srgbClr val="6B7280"/>
                </a:solidFill>
                <a:latin typeface="Arial"/>
              </a:rPr>
              <a:t>Day 02 Lab · K4A · Nhóm 6 người · Candidate: Meeting note</a:t>
            </a:r>
          </a:p>
        </p:txBody>
      </p:sp>
      <p:sp>
        <p:nvSpPr>
          <p:cNvPr id="22" name="TextBox 21"/>
          <p:cNvSpPr txBox="1"/>
          <p:nvPr/>
        </p:nvSpPr>
        <p:spPr>
          <a:xfrm>
            <a:off x="11002975" y="6400800"/>
            <a:ext cx="548640" cy="274320"/>
          </a:xfrm>
          <a:prstGeom prst="rect">
            <a:avLst/>
          </a:prstGeom>
          <a:noFill/>
        </p:spPr>
        <p:txBody>
          <a:bodyPr wrap="square" anchor="t" lIns="0" rIns="0" tIns="0" bIns="0">
            <a:spAutoFit/>
          </a:bodyPr>
          <a:lstStyle/>
          <a:p>
            <a:pPr algn="r">
              <a:lnSpc>
                <a:spcPct val="105000"/>
              </a:lnSpc>
              <a:spcAft>
                <a:spcPts val="600"/>
              </a:spcAft>
            </a:pPr>
            <a:r>
              <a:rPr sz="900" b="1">
                <a:solidFill>
                  <a:srgbClr val="6B7280"/>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
            <a:ext cx="10972800" cy="274320"/>
          </a:xfrm>
          <a:prstGeom prst="rect">
            <a:avLst/>
          </a:prstGeom>
          <a:noFill/>
        </p:spPr>
        <p:txBody>
          <a:bodyPr wrap="square" anchor="t" lIns="0" rIns="0" tIns="0" bIns="0">
            <a:spAutoFit/>
          </a:bodyPr>
          <a:lstStyle/>
          <a:p>
            <a:pPr algn="l">
              <a:lnSpc>
                <a:spcPct val="105000"/>
              </a:lnSpc>
              <a:spcAft>
                <a:spcPts val="600"/>
              </a:spcAft>
            </a:pPr>
            <a:r>
              <a:rPr sz="1100" b="1">
                <a:solidFill>
                  <a:srgbClr val="E0A458"/>
                </a:solidFill>
                <a:latin typeface="Arial"/>
              </a:rPr>
              <a:t>PHASE 3.4</a:t>
            </a:r>
          </a:p>
        </p:txBody>
      </p:sp>
      <p:sp>
        <p:nvSpPr>
          <p:cNvPr id="6" name="TextBox 5"/>
          <p:cNvSpPr txBox="1"/>
          <p:nvPr/>
        </p:nvSpPr>
        <p:spPr>
          <a:xfrm>
            <a:off x="640080" y="475488"/>
            <a:ext cx="10972800" cy="548640"/>
          </a:xfrm>
          <a:prstGeom prst="rect">
            <a:avLst/>
          </a:prstGeom>
          <a:noFill/>
        </p:spPr>
        <p:txBody>
          <a:bodyPr wrap="square" anchor="t" lIns="0" rIns="0" tIns="0" bIns="0">
            <a:spAutoFit/>
          </a:bodyPr>
          <a:lstStyle/>
          <a:p>
            <a:pPr algn="l">
              <a:lnSpc>
                <a:spcPct val="105000"/>
              </a:lnSpc>
              <a:spcAft>
                <a:spcPts val="600"/>
              </a:spcAft>
            </a:pPr>
            <a:r>
              <a:rPr sz="2600" b="1">
                <a:solidFill>
                  <a:srgbClr val="FFFFFF"/>
                </a:solidFill>
                <a:latin typeface="Arial"/>
              </a:rPr>
              <a:t>Bỏ bài y tế không có nghĩa bài đó không đáng làm</a:t>
            </a:r>
          </a:p>
        </p:txBody>
      </p:sp>
      <p:sp>
        <p:nvSpPr>
          <p:cNvPr id="7" name="TextBox 6"/>
          <p:cNvSpPr txBox="1"/>
          <p:nvPr/>
        </p:nvSpPr>
        <p:spPr>
          <a:xfrm>
            <a:off x="640080" y="1325880"/>
            <a:ext cx="10972800" cy="365760"/>
          </a:xfrm>
          <a:prstGeom prst="rect">
            <a:avLst/>
          </a:prstGeom>
          <a:noFill/>
        </p:spPr>
        <p:txBody>
          <a:bodyPr wrap="square" anchor="t" lIns="0" rIns="0" tIns="0" bIns="0">
            <a:spAutoFit/>
          </a:bodyPr>
          <a:lstStyle/>
          <a:p>
            <a:pPr algn="l">
              <a:lnSpc>
                <a:spcPct val="105000"/>
              </a:lnSpc>
              <a:spcAft>
                <a:spcPts val="600"/>
              </a:spcAft>
            </a:pPr>
            <a:r>
              <a:rPr sz="1300" b="0">
                <a:solidFill>
                  <a:srgbClr val="6B7280"/>
                </a:solidFill>
                <a:latin typeface="Arial"/>
              </a:rPr>
              <a:t>Đây là phần disagreement lớn nhất trong nhóm — ghi lại nguyên văn cách chốt</a:t>
            </a:r>
          </a:p>
        </p:txBody>
      </p:sp>
      <p:sp>
        <p:nvSpPr>
          <p:cNvPr id="8" name="Rectangle 7"/>
          <p:cNvSpPr/>
          <p:nvPr/>
        </p:nvSpPr>
        <p:spPr>
          <a:xfrm>
            <a:off x="640080" y="1874519"/>
            <a:ext cx="10881360" cy="137160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874519"/>
            <a:ext cx="64008" cy="1371600"/>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1"/>
            <a:ext cx="10424160" cy="365760"/>
          </a:xfrm>
          <a:prstGeom prst="rect">
            <a:avLst/>
          </a:prstGeom>
          <a:noFill/>
        </p:spPr>
        <p:txBody>
          <a:bodyPr wrap="square" anchor="t" lIns="0" rIns="0" tIns="0" bIns="0">
            <a:spAutoFit/>
          </a:bodyPr>
          <a:lstStyle/>
          <a:p>
            <a:pPr algn="l">
              <a:lnSpc>
                <a:spcPct val="105000"/>
              </a:lnSpc>
              <a:spcAft>
                <a:spcPts val="600"/>
              </a:spcAft>
            </a:pPr>
            <a:r>
              <a:rPr sz="1400" b="1">
                <a:solidFill>
                  <a:srgbClr val="E0A458"/>
                </a:solidFill>
                <a:latin typeface="Arial"/>
              </a:rPr>
              <a:t>Uyên bảo vệ #6: "bài có impact xã hội thật, bỏ đi là nhóm đang chọn bài dễ"</a:t>
            </a:r>
          </a:p>
        </p:txBody>
      </p:sp>
      <p:sp>
        <p:nvSpPr>
          <p:cNvPr id="11" name="TextBox 10"/>
          <p:cNvSpPr txBox="1"/>
          <p:nvPr/>
        </p:nvSpPr>
        <p:spPr>
          <a:xfrm>
            <a:off x="896112" y="2441447"/>
            <a:ext cx="10424160" cy="64008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Hoàng phản biện bằng đúng một câu hỏi cụ thể: "Trong 4 tiếng còn lại, ai trong nhóm đọc được một đơn thuốc và nói được nó đúng hay sai?"</a:t>
            </a:r>
          </a:p>
          <a:p>
            <a:pPr algn="l">
              <a:lnSpc>
                <a:spcPct val="112000"/>
              </a:lnSpc>
              <a:spcAft>
                <a:spcPts val="500"/>
              </a:spcAft>
            </a:pPr>
            <a:r>
              <a:rPr sz="1100" b="0">
                <a:solidFill>
                  <a:srgbClr val="1F2933"/>
                </a:solidFill>
                <a:latin typeface="Arial"/>
              </a:rPr>
              <a:t>Không ai giơ tay. Đó là lúc nhóm chốt.</a:t>
            </a:r>
          </a:p>
        </p:txBody>
      </p:sp>
      <p:graphicFrame>
        <p:nvGraphicFramePr>
          <p:cNvPr id="12" name="Table 11"/>
          <p:cNvGraphicFramePr>
            <a:graphicFrameLocks noGrp="1"/>
          </p:cNvGraphicFramePr>
          <p:nvPr/>
        </p:nvGraphicFramePr>
        <p:xfrm>
          <a:off x="640080" y="3429000"/>
          <a:ext cx="10881360" cy="2633472"/>
        </p:xfrm>
        <a:graphic>
          <a:graphicData uri="http://schemas.openxmlformats.org/drawingml/2006/table">
            <a:tbl>
              <a:tblPr firstRow="1" bandRow="1">
                <a:tableStyleId>{5C22544A-7EE6-4342-B048-85BDC9FD1C3A}</a:tableStyleId>
              </a:tblPr>
              <a:tblGrid>
                <a:gridCol w="2194560"/>
                <a:gridCol w="4343400"/>
                <a:gridCol w="4343400"/>
              </a:tblGrid>
              <a:tr h="365760">
                <a:tc>
                  <a:txBody>
                    <a:bodyPr wrap="square"/>
                    <a:lstStyle/>
                    <a:p>
                      <a:pPr algn="l"/>
                      <a:r>
                        <a:rPr sz="1050" b="1">
                          <a:solidFill>
                            <a:srgbClr val="FFFFFF"/>
                          </a:solidFill>
                          <a:latin typeface="Arial"/>
                        </a:rPr>
                        <a:t>Tiêu chí</a:t>
                      </a:r>
                    </a:p>
                  </a:txBody>
                  <a:tcPr marL="73152" marR="73152" marT="36576" marB="36576" anchor="ctr">
                    <a:solidFill>
                      <a:srgbClr val="10263A"/>
                    </a:solidFill>
                  </a:tcPr>
                </a:tc>
                <a:tc>
                  <a:txBody>
                    <a:bodyPr wrap="square"/>
                    <a:lstStyle/>
                    <a:p>
                      <a:pPr algn="l"/>
                      <a:r>
                        <a:rPr sz="1050" b="1">
                          <a:solidFill>
                            <a:srgbClr val="FFFFFF"/>
                          </a:solidFill>
                          <a:latin typeface="Arial"/>
                        </a:rPr>
                        <a:t>#6 Dặn dò bệnh nhân</a:t>
                      </a:r>
                    </a:p>
                  </a:txBody>
                  <a:tcPr marL="73152" marR="73152" marT="36576" marB="36576" anchor="ctr">
                    <a:solidFill>
                      <a:srgbClr val="10263A"/>
                    </a:solidFill>
                  </a:tcPr>
                </a:tc>
                <a:tc>
                  <a:txBody>
                    <a:bodyPr wrap="square"/>
                    <a:lstStyle/>
                    <a:p>
                      <a:pPr algn="l"/>
                      <a:r>
                        <a:rPr sz="1050" b="1">
                          <a:solidFill>
                            <a:srgbClr val="FFFFFF"/>
                          </a:solidFill>
                          <a:latin typeface="Arial"/>
                        </a:rPr>
                        <a:t>#14 Meeting note</a:t>
                      </a:r>
                    </a:p>
                  </a:txBody>
                  <a:tcPr marL="73152" marR="73152" marT="36576" marB="36576" anchor="ctr">
                    <a:solidFill>
                      <a:srgbClr val="10263A"/>
                    </a:solidFill>
                  </a:tcPr>
                </a:tc>
              </a:tr>
              <a:tr h="566928">
                <a:tc>
                  <a:txBody>
                    <a:bodyPr wrap="square"/>
                    <a:lstStyle/>
                    <a:p>
                      <a:pPr algn="l"/>
                      <a:r>
                        <a:rPr sz="1050" b="0">
                          <a:solidFill>
                            <a:srgbClr val="1F2933"/>
                          </a:solidFill>
                          <a:latin typeface="Arial"/>
                        </a:rPr>
                        <a:t>Hậu quả khi AI sai</a:t>
                      </a:r>
                    </a:p>
                  </a:txBody>
                  <a:tcPr marL="73152" marR="73152" marT="36576" marB="36576" anchor="ctr">
                    <a:solidFill>
                      <a:srgbClr val="FFFFFF"/>
                    </a:solidFill>
                  </a:tcPr>
                </a:tc>
                <a:tc>
                  <a:txBody>
                    <a:bodyPr wrap="square"/>
                    <a:lstStyle/>
                    <a:p>
                      <a:pPr algn="l"/>
                      <a:r>
                        <a:rPr sz="1050" b="0">
                          <a:solidFill>
                            <a:srgbClr val="1F2933"/>
                          </a:solidFill>
                          <a:latin typeface="Arial"/>
                        </a:rPr>
                        <a:t>Sai liều = sự cố y khoa. Không rollback được.</a:t>
                      </a:r>
                    </a:p>
                  </a:txBody>
                  <a:tcPr marL="73152" marR="73152" marT="36576" marB="36576" anchor="ctr">
                    <a:solidFill>
                      <a:srgbClr val="FFFFFF"/>
                    </a:solidFill>
                  </a:tcPr>
                </a:tc>
                <a:tc>
                  <a:txBody>
                    <a:bodyPr wrap="square"/>
                    <a:lstStyle/>
                    <a:p>
                      <a:pPr algn="l"/>
                      <a:r>
                        <a:rPr sz="1050" b="0">
                          <a:solidFill>
                            <a:srgbClr val="1F2933"/>
                          </a:solidFill>
                          <a:latin typeface="Arial"/>
                        </a:rPr>
                        <a:t>Note nháp cá nhân sai → người viết phát hiện ngay khi đọc lại</a:t>
                      </a:r>
                    </a:p>
                  </a:txBody>
                  <a:tcPr marL="73152" marR="73152" marT="36576" marB="36576" anchor="ctr">
                    <a:solidFill>
                      <a:srgbClr val="FFFFFF"/>
                    </a:solidFill>
                  </a:tcPr>
                </a:tc>
              </a:tr>
              <a:tr h="566928">
                <a:tc>
                  <a:txBody>
                    <a:bodyPr wrap="square"/>
                    <a:lstStyle/>
                    <a:p>
                      <a:pPr algn="l"/>
                      <a:r>
                        <a:rPr sz="1050" b="0">
                          <a:solidFill>
                            <a:srgbClr val="1F2933"/>
                          </a:solidFill>
                          <a:latin typeface="Arial"/>
                        </a:rPr>
                        <a:t>Ai phát hiện lỗi</a:t>
                      </a:r>
                    </a:p>
                  </a:txBody>
                  <a:tcPr marL="73152" marR="73152" marT="36576" marB="36576" anchor="ctr">
                    <a:solidFill>
                      <a:srgbClr val="EEEEEA"/>
                    </a:solidFill>
                  </a:tcPr>
                </a:tc>
                <a:tc>
                  <a:txBody>
                    <a:bodyPr wrap="square"/>
                    <a:lstStyle/>
                    <a:p>
                      <a:pPr algn="l"/>
                      <a:r>
                        <a:rPr sz="1050" b="0">
                          <a:solidFill>
                            <a:srgbClr val="1F2933"/>
                          </a:solidFill>
                          <a:latin typeface="Arial"/>
                        </a:rPr>
                        <a:t>Bệnh nhân — tức người ở hạ nguồn, không có chuyên môn</a:t>
                      </a:r>
                    </a:p>
                  </a:txBody>
                  <a:tcPr marL="73152" marR="73152" marT="36576" marB="36576" anchor="ctr">
                    <a:solidFill>
                      <a:srgbClr val="EEEEEA"/>
                    </a:solidFill>
                  </a:tcPr>
                </a:tc>
                <a:tc>
                  <a:txBody>
                    <a:bodyPr wrap="square"/>
                    <a:lstStyle/>
                    <a:p>
                      <a:pPr algn="l"/>
                      <a:r>
                        <a:rPr sz="1050" b="0">
                          <a:solidFill>
                            <a:srgbClr val="1F2933"/>
                          </a:solidFill>
                          <a:latin typeface="Arial"/>
                        </a:rPr>
                        <a:t>Chính người dự họp — vừa ngồi trong buổi đó, có đối chứng tốt nhất</a:t>
                      </a:r>
                    </a:p>
                  </a:txBody>
                  <a:tcPr marL="73152" marR="73152" marT="36576" marB="36576" anchor="ctr">
                    <a:solidFill>
                      <a:srgbClr val="EEEEEA"/>
                    </a:solidFill>
                  </a:tcPr>
                </a:tc>
              </a:tr>
              <a:tr h="566928">
                <a:tc>
                  <a:txBody>
                    <a:bodyPr wrap="square"/>
                    <a:lstStyle/>
                    <a:p>
                      <a:pPr algn="l"/>
                      <a:r>
                        <a:rPr sz="1050" b="0">
                          <a:solidFill>
                            <a:srgbClr val="1F2933"/>
                          </a:solidFill>
                          <a:latin typeface="Arial"/>
                        </a:rPr>
                        <a:t>Dữ liệu để chạy thử</a:t>
                      </a:r>
                    </a:p>
                  </a:txBody>
                  <a:tcPr marL="73152" marR="73152" marT="36576" marB="36576" anchor="ctr">
                    <a:solidFill>
                      <a:srgbClr val="FFFFFF"/>
                    </a:solidFill>
                  </a:tcPr>
                </a:tc>
                <a:tc>
                  <a:txBody>
                    <a:bodyPr wrap="square"/>
                    <a:lstStyle/>
                    <a:p>
                      <a:pPr algn="l"/>
                      <a:r>
                        <a:rPr sz="1050" b="0">
                          <a:solidFill>
                            <a:srgbClr val="1F2933"/>
                          </a:solidFill>
                          <a:latin typeface="Arial"/>
                        </a:rPr>
                        <a:t>Phải xin phòng khám + vướng dữ liệu cá nhân bệnh nhân</a:t>
                      </a:r>
                    </a:p>
                  </a:txBody>
                  <a:tcPr marL="73152" marR="73152" marT="36576" marB="36576" anchor="ctr">
                    <a:solidFill>
                      <a:srgbClr val="FFFFFF"/>
                    </a:solidFill>
                  </a:tcPr>
                </a:tc>
                <a:tc>
                  <a:txBody>
                    <a:bodyPr wrap="square"/>
                    <a:lstStyle/>
                    <a:p>
                      <a:pPr algn="l"/>
                      <a:r>
                        <a:rPr sz="1050" b="0">
                          <a:solidFill>
                            <a:srgbClr val="1F2933"/>
                          </a:solidFill>
                          <a:latin typeface="Arial"/>
                        </a:rPr>
                        <a:t>Transcript buổi họp của chính nhóm, có ngay hôm nay</a:t>
                      </a:r>
                    </a:p>
                  </a:txBody>
                  <a:tcPr marL="73152" marR="73152" marT="36576" marB="36576" anchor="ctr">
                    <a:solidFill>
                      <a:srgbClr val="FFFFFF"/>
                    </a:solidFill>
                  </a:tcPr>
                </a:tc>
              </a:tr>
              <a:tr h="566928">
                <a:tc>
                  <a:txBody>
                    <a:bodyPr wrap="square"/>
                    <a:lstStyle/>
                    <a:p>
                      <a:pPr algn="l"/>
                      <a:r>
                        <a:rPr sz="1050" b="0">
                          <a:solidFill>
                            <a:srgbClr val="1F2933"/>
                          </a:solidFill>
                          <a:latin typeface="Arial"/>
                        </a:rPr>
                        <a:t>Kết luận đúng hiện nay</a:t>
                      </a:r>
                    </a:p>
                  </a:txBody>
                  <a:tcPr marL="73152" marR="73152" marT="36576" marB="36576" anchor="ctr">
                    <a:solidFill>
                      <a:srgbClr val="EEEEEA"/>
                    </a:solidFill>
                  </a:tcPr>
                </a:tc>
                <a:tc>
                  <a:txBody>
                    <a:bodyPr wrap="square"/>
                    <a:lstStyle/>
                    <a:p>
                      <a:pPr algn="l"/>
                      <a:r>
                        <a:rPr sz="1050" b="0">
                          <a:solidFill>
                            <a:srgbClr val="1F2933"/>
                          </a:solidFill>
                          <a:latin typeface="Arial"/>
                        </a:rPr>
                        <a:t>NOT YET — cần dữ liệu thật + người thẩm định chuyên môn</a:t>
                      </a:r>
                    </a:p>
                  </a:txBody>
                  <a:tcPr marL="73152" marR="73152" marT="36576" marB="36576" anchor="ctr">
                    <a:solidFill>
                      <a:srgbClr val="EEEEEA"/>
                    </a:solidFill>
                  </a:tcPr>
                </a:tc>
                <a:tc>
                  <a:txBody>
                    <a:bodyPr wrap="square"/>
                    <a:lstStyle/>
                    <a:p>
                      <a:pPr algn="l"/>
                      <a:r>
                        <a:rPr sz="1050" b="0">
                          <a:solidFill>
                            <a:srgbClr val="1F2933"/>
                          </a:solidFill>
                          <a:latin typeface="Arial"/>
                        </a:rPr>
                        <a:t>GO có điều kiện — pilot 3 tuần, 1 người</a:t>
                      </a:r>
                    </a:p>
                  </a:txBody>
                  <a:tcPr marL="73152" marR="73152" marT="36576" marB="36576" anchor="ctr">
                    <a:solidFill>
                      <a:srgbClr val="EEEEEA"/>
                    </a:solidFill>
                  </a:tcPr>
                </a:tc>
              </a:tr>
            </a:tbl>
          </a:graphicData>
        </a:graphic>
      </p:graphicFrame>
      <p:sp>
        <p:nvSpPr>
          <p:cNvPr id="13" name="TextBox 12"/>
          <p:cNvSpPr txBox="1"/>
          <p:nvPr/>
        </p:nvSpPr>
        <p:spPr>
          <a:xfrm>
            <a:off x="640080" y="6400800"/>
            <a:ext cx="8229600" cy="274320"/>
          </a:xfrm>
          <a:prstGeom prst="rect">
            <a:avLst/>
          </a:prstGeom>
          <a:noFill/>
        </p:spPr>
        <p:txBody>
          <a:bodyPr wrap="square" anchor="t" lIns="0" rIns="0" tIns="0" bIns="0">
            <a:spAutoFit/>
          </a:bodyPr>
          <a:lstStyle/>
          <a:p>
            <a:pPr algn="l">
              <a:lnSpc>
                <a:spcPct val="105000"/>
              </a:lnSpc>
              <a:spcAft>
                <a:spcPts val="600"/>
              </a:spcAft>
            </a:pPr>
            <a:r>
              <a:rPr sz="900" b="0">
                <a:solidFill>
                  <a:srgbClr val="6B7280"/>
                </a:solidFill>
                <a:latin typeface="Arial"/>
              </a:rPr>
              <a:t>Day 02 Lab · K4A · Nhóm 6 người · Candidate: Meeting note</a:t>
            </a:r>
          </a:p>
        </p:txBody>
      </p:sp>
      <p:sp>
        <p:nvSpPr>
          <p:cNvPr id="14" name="TextBox 13"/>
          <p:cNvSpPr txBox="1"/>
          <p:nvPr/>
        </p:nvSpPr>
        <p:spPr>
          <a:xfrm>
            <a:off x="11002975" y="6400800"/>
            <a:ext cx="548640" cy="274320"/>
          </a:xfrm>
          <a:prstGeom prst="rect">
            <a:avLst/>
          </a:prstGeom>
          <a:noFill/>
        </p:spPr>
        <p:txBody>
          <a:bodyPr wrap="square" anchor="t" lIns="0" rIns="0" tIns="0" bIns="0">
            <a:spAutoFit/>
          </a:bodyPr>
          <a:lstStyle/>
          <a:p>
            <a:pPr algn="r">
              <a:lnSpc>
                <a:spcPct val="105000"/>
              </a:lnSpc>
              <a:spcAft>
                <a:spcPts val="600"/>
              </a:spcAft>
            </a:pPr>
            <a:r>
              <a:rPr sz="900" b="1">
                <a:solidFill>
                  <a:srgbClr val="6B7280"/>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
            <a:ext cx="10972800" cy="274320"/>
          </a:xfrm>
          <a:prstGeom prst="rect">
            <a:avLst/>
          </a:prstGeom>
          <a:noFill/>
        </p:spPr>
        <p:txBody>
          <a:bodyPr wrap="square" anchor="t" lIns="0" rIns="0" tIns="0" bIns="0">
            <a:spAutoFit/>
          </a:bodyPr>
          <a:lstStyle/>
          <a:p>
            <a:pPr algn="l">
              <a:lnSpc>
                <a:spcPct val="105000"/>
              </a:lnSpc>
              <a:spcAft>
                <a:spcPts val="600"/>
              </a:spcAft>
            </a:pPr>
            <a:r>
              <a:rPr sz="1100" b="1">
                <a:solidFill>
                  <a:srgbClr val="E0A458"/>
                </a:solidFill>
                <a:latin typeface="Arial"/>
              </a:rPr>
              <a:t>PHASE 4.1</a:t>
            </a:r>
          </a:p>
        </p:txBody>
      </p:sp>
      <p:sp>
        <p:nvSpPr>
          <p:cNvPr id="6" name="TextBox 5"/>
          <p:cNvSpPr txBox="1"/>
          <p:nvPr/>
        </p:nvSpPr>
        <p:spPr>
          <a:xfrm>
            <a:off x="640080" y="475488"/>
            <a:ext cx="10972800" cy="548640"/>
          </a:xfrm>
          <a:prstGeom prst="rect">
            <a:avLst/>
          </a:prstGeom>
          <a:noFill/>
        </p:spPr>
        <p:txBody>
          <a:bodyPr wrap="square" anchor="t" lIns="0" rIns="0" tIns="0" bIns="0">
            <a:spAutoFit/>
          </a:bodyPr>
          <a:lstStyle/>
          <a:p>
            <a:pPr algn="l">
              <a:lnSpc>
                <a:spcPct val="105000"/>
              </a:lnSpc>
              <a:spcAft>
                <a:spcPts val="600"/>
              </a:spcAft>
            </a:pPr>
            <a:r>
              <a:rPr sz="2600" b="1">
                <a:solidFill>
                  <a:srgbClr val="FFFFFF"/>
                </a:solidFill>
                <a:latin typeface="Arial"/>
              </a:rPr>
              <a:t>Validation đã lật ngược cách nhóm hiểu bài toán</a:t>
            </a:r>
          </a:p>
        </p:txBody>
      </p:sp>
      <p:sp>
        <p:nvSpPr>
          <p:cNvPr id="7" name="TextBox 6"/>
          <p:cNvSpPr txBox="1"/>
          <p:nvPr/>
        </p:nvSpPr>
        <p:spPr>
          <a:xfrm>
            <a:off x="640080" y="1325880"/>
            <a:ext cx="10972800" cy="365760"/>
          </a:xfrm>
          <a:prstGeom prst="rect">
            <a:avLst/>
          </a:prstGeom>
          <a:noFill/>
        </p:spPr>
        <p:txBody>
          <a:bodyPr wrap="square" anchor="t" lIns="0" rIns="0" tIns="0" bIns="0">
            <a:spAutoFit/>
          </a:bodyPr>
          <a:lstStyle/>
          <a:p>
            <a:pPr algn="l">
              <a:lnSpc>
                <a:spcPct val="105000"/>
              </a:lnSpc>
              <a:spcAft>
                <a:spcPts val="600"/>
              </a:spcAft>
            </a:pPr>
            <a:r>
              <a:rPr sz="1300" b="0">
                <a:solidFill>
                  <a:srgbClr val="6B7280"/>
                </a:solidFill>
                <a:latin typeface="Arial"/>
              </a:rPr>
              <a:t>3 interview + poll lớp + đếm lịch Calendar 4 tuần (nguồn không phụ thuộc trí nhớ ai)</a:t>
            </a:r>
          </a:p>
        </p:txBody>
      </p:sp>
      <p:sp>
        <p:nvSpPr>
          <p:cNvPr id="8" name="Rectangle 7"/>
          <p:cNvSpPr/>
          <p:nvPr/>
        </p:nvSpPr>
        <p:spPr>
          <a:xfrm>
            <a:off x="640080" y="1828800"/>
            <a:ext cx="5349240" cy="210312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828800"/>
            <a:ext cx="64008" cy="210312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993392"/>
            <a:ext cx="4892040" cy="365760"/>
          </a:xfrm>
          <a:prstGeom prst="rect">
            <a:avLst/>
          </a:prstGeom>
          <a:noFill/>
        </p:spPr>
        <p:txBody>
          <a:bodyPr wrap="square" anchor="t" lIns="0" rIns="0" tIns="0" bIns="0">
            <a:spAutoFit/>
          </a:bodyPr>
          <a:lstStyle/>
          <a:p>
            <a:pPr algn="l">
              <a:lnSpc>
                <a:spcPct val="105000"/>
              </a:lnSpc>
              <a:spcAft>
                <a:spcPts val="600"/>
              </a:spcAft>
            </a:pPr>
            <a:r>
              <a:rPr sz="1300" b="1">
                <a:solidFill>
                  <a:srgbClr val="6B7280"/>
                </a:solidFill>
                <a:latin typeface="Arial"/>
              </a:rPr>
              <a:t>Nhóm tưởng pain là...</a:t>
            </a:r>
          </a:p>
        </p:txBody>
      </p:sp>
      <p:sp>
        <p:nvSpPr>
          <p:cNvPr id="11" name="TextBox 10"/>
          <p:cNvSpPr txBox="1"/>
          <p:nvPr/>
        </p:nvSpPr>
        <p:spPr>
          <a:xfrm>
            <a:off x="896112" y="2395728"/>
            <a:ext cx="4892040" cy="137160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"Mất 10–15 phút gõ lại nội dung cuộc họp."</a:t>
            </a:r>
          </a:p>
          <a:p>
            <a:pPr algn="l">
              <a:lnSpc>
                <a:spcPct val="112000"/>
              </a:lnSpc>
              <a:spcAft>
                <a:spcPts val="500"/>
              </a:spcAft>
            </a:pPr>
            <a:r>
              <a:rPr sz="1100" b="0">
                <a:solidFill>
                  <a:srgbClr val="1F2933"/>
                </a:solidFill>
                <a:latin typeface="Arial"/>
              </a:rPr>
              <a:t>Nếu đúng vậy thì bài toán là bài toán TỐC ĐỘ GÕ, và câu trả lời sẽ là một công cụ transcribe — thứ thị trường đã giải xong từ lâu.</a:t>
            </a:r>
          </a:p>
        </p:txBody>
      </p:sp>
      <p:sp>
        <p:nvSpPr>
          <p:cNvPr id="12" name="Rectangle 11"/>
          <p:cNvSpPr/>
          <p:nvPr/>
        </p:nvSpPr>
        <p:spPr>
          <a:xfrm>
            <a:off x="6263640" y="1828800"/>
            <a:ext cx="5349240" cy="210312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828800"/>
            <a:ext cx="64008" cy="2103120"/>
          </a:xfrm>
          <a:prstGeom prst="rect">
            <a:avLst/>
          </a:prstGeom>
          <a:solidFill>
            <a:srgbClr val="1F77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9672" y="1993392"/>
            <a:ext cx="4892040" cy="365760"/>
          </a:xfrm>
          <a:prstGeom prst="rect">
            <a:avLst/>
          </a:prstGeom>
          <a:noFill/>
        </p:spPr>
        <p:txBody>
          <a:bodyPr wrap="square" anchor="t" lIns="0" rIns="0" tIns="0" bIns="0">
            <a:spAutoFit/>
          </a:bodyPr>
          <a:lstStyle/>
          <a:p>
            <a:pPr algn="l">
              <a:lnSpc>
                <a:spcPct val="105000"/>
              </a:lnSpc>
              <a:spcAft>
                <a:spcPts val="600"/>
              </a:spcAft>
            </a:pPr>
            <a:r>
              <a:rPr sz="1300" b="1">
                <a:solidFill>
                  <a:srgbClr val="1F7772"/>
                </a:solidFill>
                <a:latin typeface="Arial"/>
              </a:rPr>
              <a:t>Pain thật hoá ra là...</a:t>
            </a:r>
          </a:p>
        </p:txBody>
      </p:sp>
      <p:sp>
        <p:nvSpPr>
          <p:cNvPr id="15" name="TextBox 14"/>
          <p:cNvSpPr txBox="1"/>
          <p:nvPr/>
        </p:nvSpPr>
        <p:spPr>
          <a:xfrm>
            <a:off x="6519672" y="2395728"/>
            <a:ext cx="4892040" cy="137160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Lớp 1 — Người dự họp phải tự TÁI DỰNG NGỮ CẢNH dự án trong đầu, vì transcript mang được lời nói nhưng không mang được kiến thức nền.</a:t>
            </a:r>
          </a:p>
          <a:p>
            <a:pPr algn="l">
              <a:lnSpc>
                <a:spcPct val="112000"/>
              </a:lnSpc>
              <a:spcAft>
                <a:spcPts val="500"/>
              </a:spcAft>
            </a:pPr>
            <a:r>
              <a:rPr sz="1100" b="0">
                <a:solidFill>
                  <a:srgbClr val="1F2933"/>
                </a:solidFill>
                <a:latin typeface="Arial"/>
              </a:rPr>
              <a:t>Lớp 2 — Chi phí đắt nhất nằm ở TUẦN SAU: action item của chính mình bị rơi, note cũ đọc lại không hiểu.</a:t>
            </a:r>
          </a:p>
        </p:txBody>
      </p:sp>
      <p:sp>
        <p:nvSpPr>
          <p:cNvPr id="16" name="Rectangle 15"/>
          <p:cNvSpPr/>
          <p:nvPr/>
        </p:nvSpPr>
        <p:spPr>
          <a:xfrm>
            <a:off x="640080" y="4114800"/>
            <a:ext cx="10881360" cy="96012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4114800"/>
            <a:ext cx="64008" cy="960120"/>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4279392"/>
            <a:ext cx="10424160" cy="365760"/>
          </a:xfrm>
          <a:prstGeom prst="rect">
            <a:avLst/>
          </a:prstGeom>
          <a:noFill/>
        </p:spPr>
        <p:txBody>
          <a:bodyPr wrap="square" anchor="t" lIns="0" rIns="0" tIns="0" bIns="0">
            <a:spAutoFit/>
          </a:bodyPr>
          <a:lstStyle/>
          <a:p>
            <a:pPr algn="l">
              <a:lnSpc>
                <a:spcPct val="105000"/>
              </a:lnSpc>
              <a:spcAft>
                <a:spcPts val="600"/>
              </a:spcAft>
            </a:pPr>
            <a:r>
              <a:rPr sz="1200" b="1">
                <a:solidFill>
                  <a:srgbClr val="E0A458"/>
                </a:solidFill>
                <a:latin typeface="Arial"/>
              </a:rPr>
              <a:t>Ba quote đáng giá nhất từ interview</a:t>
            </a:r>
          </a:p>
        </p:txBody>
      </p:sp>
      <p:sp>
        <p:nvSpPr>
          <p:cNvPr id="19" name="TextBox 18"/>
          <p:cNvSpPr txBox="1"/>
          <p:nvPr/>
        </p:nvSpPr>
        <p:spPr>
          <a:xfrm>
            <a:off x="896112" y="4681728"/>
            <a:ext cx="10424160" cy="22860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"note của mình là để tuần sau mở ra biết tuần này đã chốt gì, không phải để gửi cho ai"   ·   "họp xong là quay lại code luôn, tối mới ngồi viết lại, lúc đó quên mất một nửa"   ·   "cái mình sợ không phải quên nội dung, mà quên mất phần việc của chính mình"</a:t>
            </a:r>
          </a:p>
        </p:txBody>
      </p:sp>
      <p:sp>
        <p:nvSpPr>
          <p:cNvPr id="20" name="Rectangle 19"/>
          <p:cNvSpPr/>
          <p:nvPr/>
        </p:nvSpPr>
        <p:spPr>
          <a:xfrm>
            <a:off x="640080" y="5230368"/>
            <a:ext cx="10881360" cy="91440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5230368"/>
            <a:ext cx="64008" cy="914400"/>
          </a:xfrm>
          <a:prstGeom prst="rect">
            <a:avLst/>
          </a:prstGeom>
          <a:solidFill>
            <a:srgbClr val="B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5394960"/>
            <a:ext cx="10424160" cy="365760"/>
          </a:xfrm>
          <a:prstGeom prst="rect">
            <a:avLst/>
          </a:prstGeom>
          <a:noFill/>
        </p:spPr>
        <p:txBody>
          <a:bodyPr wrap="square" anchor="t" lIns="0" rIns="0" tIns="0" bIns="0">
            <a:spAutoFit/>
          </a:bodyPr>
          <a:lstStyle/>
          <a:p>
            <a:pPr algn="l">
              <a:lnSpc>
                <a:spcPct val="105000"/>
              </a:lnSpc>
              <a:spcAft>
                <a:spcPts val="600"/>
              </a:spcAft>
            </a:pPr>
            <a:r>
              <a:rPr sz="1200" b="1">
                <a:solidFill>
                  <a:srgbClr val="B03A2B"/>
                </a:solidFill>
                <a:latin typeface="Arial"/>
              </a:rPr>
              <a:t>Vì sao chi tiết này quyết định cả bài</a:t>
            </a:r>
          </a:p>
        </p:txBody>
      </p:sp>
      <p:sp>
        <p:nvSpPr>
          <p:cNvPr id="23" name="TextBox 22"/>
          <p:cNvSpPr txBox="1"/>
          <p:nvPr/>
        </p:nvSpPr>
        <p:spPr>
          <a:xfrm>
            <a:off x="896112" y="5797296"/>
            <a:ext cx="10424160" cy="18288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Ở Phase 3 nhóm đã tự cam kết: nếu Phase 4 không tìm ra tác động nào NGOÀI 10–15 phút thì hạ quyết định xuống Not Yet. Tìm ra rồi, nên mới giữ Go.</a:t>
            </a:r>
          </a:p>
        </p:txBody>
      </p:sp>
      <p:sp>
        <p:nvSpPr>
          <p:cNvPr id="24" name="TextBox 23"/>
          <p:cNvSpPr txBox="1"/>
          <p:nvPr/>
        </p:nvSpPr>
        <p:spPr>
          <a:xfrm>
            <a:off x="640080" y="6400800"/>
            <a:ext cx="8229600" cy="274320"/>
          </a:xfrm>
          <a:prstGeom prst="rect">
            <a:avLst/>
          </a:prstGeom>
          <a:noFill/>
        </p:spPr>
        <p:txBody>
          <a:bodyPr wrap="square" anchor="t" lIns="0" rIns="0" tIns="0" bIns="0">
            <a:spAutoFit/>
          </a:bodyPr>
          <a:lstStyle/>
          <a:p>
            <a:pPr algn="l">
              <a:lnSpc>
                <a:spcPct val="105000"/>
              </a:lnSpc>
              <a:spcAft>
                <a:spcPts val="600"/>
              </a:spcAft>
            </a:pPr>
            <a:r>
              <a:rPr sz="900" b="0">
                <a:solidFill>
                  <a:srgbClr val="6B7280"/>
                </a:solidFill>
                <a:latin typeface="Arial"/>
              </a:rPr>
              <a:t>Day 02 Lab · K4A · Nhóm 6 người · Candidate: Meeting note</a:t>
            </a:r>
          </a:p>
        </p:txBody>
      </p:sp>
      <p:sp>
        <p:nvSpPr>
          <p:cNvPr id="25" name="TextBox 24"/>
          <p:cNvSpPr txBox="1"/>
          <p:nvPr/>
        </p:nvSpPr>
        <p:spPr>
          <a:xfrm>
            <a:off x="11002975" y="6400800"/>
            <a:ext cx="548640" cy="274320"/>
          </a:xfrm>
          <a:prstGeom prst="rect">
            <a:avLst/>
          </a:prstGeom>
          <a:noFill/>
        </p:spPr>
        <p:txBody>
          <a:bodyPr wrap="square" anchor="t" lIns="0" rIns="0" tIns="0" bIns="0">
            <a:spAutoFit/>
          </a:bodyPr>
          <a:lstStyle/>
          <a:p>
            <a:pPr algn="r">
              <a:lnSpc>
                <a:spcPct val="105000"/>
              </a:lnSpc>
              <a:spcAft>
                <a:spcPts val="600"/>
              </a:spcAft>
            </a:pPr>
            <a:r>
              <a:rPr sz="900" b="1">
                <a:solidFill>
                  <a:srgbClr val="6B7280"/>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
            <a:ext cx="10972800" cy="274320"/>
          </a:xfrm>
          <a:prstGeom prst="rect">
            <a:avLst/>
          </a:prstGeom>
          <a:noFill/>
        </p:spPr>
        <p:txBody>
          <a:bodyPr wrap="square" anchor="t" lIns="0" rIns="0" tIns="0" bIns="0">
            <a:spAutoFit/>
          </a:bodyPr>
          <a:lstStyle/>
          <a:p>
            <a:pPr algn="l">
              <a:lnSpc>
                <a:spcPct val="105000"/>
              </a:lnSpc>
              <a:spcAft>
                <a:spcPts val="600"/>
              </a:spcAft>
            </a:pPr>
            <a:r>
              <a:rPr sz="1100" b="1">
                <a:solidFill>
                  <a:srgbClr val="E0A458"/>
                </a:solidFill>
                <a:latin typeface="Arial"/>
              </a:rPr>
              <a:t>PHASE 4.2</a:t>
            </a:r>
          </a:p>
        </p:txBody>
      </p:sp>
      <p:sp>
        <p:nvSpPr>
          <p:cNvPr id="6" name="TextBox 5"/>
          <p:cNvSpPr txBox="1"/>
          <p:nvPr/>
        </p:nvSpPr>
        <p:spPr>
          <a:xfrm>
            <a:off x="640080" y="475488"/>
            <a:ext cx="10972800" cy="548640"/>
          </a:xfrm>
          <a:prstGeom prst="rect">
            <a:avLst/>
          </a:prstGeom>
          <a:noFill/>
        </p:spPr>
        <p:txBody>
          <a:bodyPr wrap="square" anchor="t" lIns="0" rIns="0" tIns="0" bIns="0">
            <a:spAutoFit/>
          </a:bodyPr>
          <a:lstStyle/>
          <a:p>
            <a:pPr algn="l">
              <a:lnSpc>
                <a:spcPct val="105000"/>
              </a:lnSpc>
              <a:spcAft>
                <a:spcPts val="600"/>
              </a:spcAft>
            </a:pPr>
            <a:r>
              <a:rPr sz="2600" b="1">
                <a:solidFill>
                  <a:srgbClr val="FFFFFF"/>
                </a:solidFill>
                <a:latin typeface="Arial"/>
              </a:rPr>
              <a:t>Research: thị trường đã giải xong phần nào, chừa lại đúng phần nào</a:t>
            </a:r>
          </a:p>
        </p:txBody>
      </p:sp>
      <p:graphicFrame>
        <p:nvGraphicFramePr>
          <p:cNvPr id="7" name="Table 6"/>
          <p:cNvGraphicFramePr>
            <a:graphicFrameLocks noGrp="1"/>
          </p:cNvGraphicFramePr>
          <p:nvPr/>
        </p:nvGraphicFramePr>
        <p:xfrm>
          <a:off x="548640" y="1645920"/>
          <a:ext cx="11109960" cy="3657600"/>
        </p:xfrm>
        <a:graphic>
          <a:graphicData uri="http://schemas.openxmlformats.org/drawingml/2006/table">
            <a:tbl>
              <a:tblPr firstRow="1" bandRow="1">
                <a:tableStyleId>{5C22544A-7EE6-4342-B048-85BDC9FD1C3A}</a:tableStyleId>
              </a:tblPr>
              <a:tblGrid>
                <a:gridCol w="2011680"/>
                <a:gridCol w="4023360"/>
                <a:gridCol w="5074920"/>
              </a:tblGrid>
              <a:tr h="365760">
                <a:tc>
                  <a:txBody>
                    <a:bodyPr wrap="square"/>
                    <a:lstStyle/>
                    <a:p>
                      <a:pPr algn="l"/>
                      <a:r>
                        <a:rPr sz="1050" b="1">
                          <a:solidFill>
                            <a:srgbClr val="FFFFFF"/>
                          </a:solidFill>
                          <a:latin typeface="Arial"/>
                        </a:rPr>
                        <a:t>Tool</a:t>
                      </a:r>
                    </a:p>
                  </a:txBody>
                  <a:tcPr marL="73152" marR="73152" marT="36576" marB="36576" anchor="ctr">
                    <a:solidFill>
                      <a:srgbClr val="10263A"/>
                    </a:solidFill>
                  </a:tcPr>
                </a:tc>
                <a:tc>
                  <a:txBody>
                    <a:bodyPr wrap="square"/>
                    <a:lstStyle/>
                    <a:p>
                      <a:pPr algn="l"/>
                      <a:r>
                        <a:rPr sz="1050" b="1">
                          <a:solidFill>
                            <a:srgbClr val="FFFFFF"/>
                          </a:solidFill>
                          <a:latin typeface="Arial"/>
                        </a:rPr>
                        <a:t>Giải bước nào</a:t>
                      </a:r>
                    </a:p>
                  </a:txBody>
                  <a:tcPr marL="73152" marR="73152" marT="36576" marB="36576" anchor="ctr">
                    <a:solidFill>
                      <a:srgbClr val="10263A"/>
                    </a:solidFill>
                  </a:tcPr>
                </a:tc>
                <a:tc>
                  <a:txBody>
                    <a:bodyPr wrap="square"/>
                    <a:lstStyle/>
                    <a:p>
                      <a:pPr algn="l"/>
                      <a:r>
                        <a:rPr sz="1050" b="1">
                          <a:solidFill>
                            <a:srgbClr val="FFFFFF"/>
                          </a:solidFill>
                          <a:latin typeface="Arial"/>
                        </a:rPr>
                        <a:t>Khoảng trống còn lại</a:t>
                      </a:r>
                    </a:p>
                  </a:txBody>
                  <a:tcPr marL="73152" marR="73152" marT="36576" marB="36576" anchor="ctr">
                    <a:solidFill>
                      <a:srgbClr val="10263A"/>
                    </a:solidFill>
                  </a:tcPr>
                </a:tc>
              </a:tr>
              <a:tr h="658368">
                <a:tc>
                  <a:txBody>
                    <a:bodyPr wrap="square"/>
                    <a:lstStyle/>
                    <a:p>
                      <a:pPr algn="l"/>
                      <a:r>
                        <a:rPr sz="1000" b="0">
                          <a:solidFill>
                            <a:srgbClr val="1F2933"/>
                          </a:solidFill>
                          <a:latin typeface="Arial"/>
                        </a:rPr>
                        <a:t>Otter.ai</a:t>
                      </a:r>
                    </a:p>
                  </a:txBody>
                  <a:tcPr marL="73152" marR="73152" marT="36576" marB="36576" anchor="ctr">
                    <a:solidFill>
                      <a:srgbClr val="FFFFFF"/>
                    </a:solidFill>
                  </a:tcPr>
                </a:tc>
                <a:tc>
                  <a:txBody>
                    <a:bodyPr wrap="square"/>
                    <a:lstStyle/>
                    <a:p>
                      <a:pPr algn="l"/>
                      <a:r>
                        <a:rPr sz="1000" b="0">
                          <a:solidFill>
                            <a:srgbClr val="1F2933"/>
                          </a:solidFill>
                          <a:latin typeface="Arial"/>
                        </a:rPr>
                        <a:t>Ghi âm → transcript → tóm tắt tự động</a:t>
                      </a:r>
                    </a:p>
                  </a:txBody>
                  <a:tcPr marL="73152" marR="73152" marT="36576" marB="36576" anchor="ctr">
                    <a:solidFill>
                      <a:srgbClr val="FFFFFF"/>
                    </a:solidFill>
                  </a:tcPr>
                </a:tc>
                <a:tc>
                  <a:txBody>
                    <a:bodyPr wrap="square"/>
                    <a:lstStyle/>
                    <a:p>
                      <a:pPr algn="l"/>
                      <a:r>
                        <a:rPr sz="1000" b="0">
                          <a:solidFill>
                            <a:srgbClr val="1F2933"/>
                          </a:solidFill>
                          <a:latin typeface="Arial"/>
                        </a:rPr>
                        <a:t>Tóm tắt chung cho cả buổi, không biết người đọc là ai, không biết ngữ cảnh dự án</a:t>
                      </a:r>
                    </a:p>
                  </a:txBody>
                  <a:tcPr marL="73152" marR="73152" marT="36576" marB="36576" anchor="ctr">
                    <a:solidFill>
                      <a:srgbClr val="FFFFFF"/>
                    </a:solidFill>
                  </a:tcPr>
                </a:tc>
              </a:tr>
              <a:tr h="658368">
                <a:tc>
                  <a:txBody>
                    <a:bodyPr wrap="square"/>
                    <a:lstStyle/>
                    <a:p>
                      <a:pPr algn="l"/>
                      <a:r>
                        <a:rPr sz="1000" b="0">
                          <a:solidFill>
                            <a:srgbClr val="1F2933"/>
                          </a:solidFill>
                          <a:latin typeface="Arial"/>
                        </a:rPr>
                        <a:t>Fireflies.ai</a:t>
                      </a:r>
                    </a:p>
                  </a:txBody>
                  <a:tcPr marL="73152" marR="73152" marT="36576" marB="36576" anchor="ctr">
                    <a:solidFill>
                      <a:srgbClr val="EEEEEA"/>
                    </a:solidFill>
                  </a:tcPr>
                </a:tc>
                <a:tc>
                  <a:txBody>
                    <a:bodyPr wrap="square"/>
                    <a:lstStyle/>
                    <a:p>
                      <a:pPr algn="l"/>
                      <a:r>
                        <a:rPr sz="1000" b="0">
                          <a:solidFill>
                            <a:srgbClr val="1F2933"/>
                          </a:solidFill>
                          <a:latin typeface="Arial"/>
                        </a:rPr>
                        <a:t>Transcript + trích action item + tìm trong kho meeting cũ</a:t>
                      </a:r>
                    </a:p>
                  </a:txBody>
                  <a:tcPr marL="73152" marR="73152" marT="36576" marB="36576" anchor="ctr">
                    <a:solidFill>
                      <a:srgbClr val="EEEEEA"/>
                    </a:solidFill>
                  </a:tcPr>
                </a:tc>
                <a:tc>
                  <a:txBody>
                    <a:bodyPr wrap="square"/>
                    <a:lstStyle/>
                    <a:p>
                      <a:pPr algn="l"/>
                      <a:r>
                        <a:rPr sz="1000" b="0">
                          <a:solidFill>
                            <a:srgbClr val="1F2933"/>
                          </a:solidFill>
                          <a:latin typeface="Arial"/>
                        </a:rPr>
                        <a:t>Action item là của CẢ buổi họp — người dùng vẫn phải tự lọc cái nào là việc của mình</a:t>
                      </a:r>
                    </a:p>
                  </a:txBody>
                  <a:tcPr marL="73152" marR="73152" marT="36576" marB="36576" anchor="ctr">
                    <a:solidFill>
                      <a:srgbClr val="EEEEEA"/>
                    </a:solidFill>
                  </a:tcPr>
                </a:tc>
              </a:tr>
              <a:tr h="658368">
                <a:tc>
                  <a:txBody>
                    <a:bodyPr wrap="square"/>
                    <a:lstStyle/>
                    <a:p>
                      <a:pPr algn="l"/>
                      <a:r>
                        <a:rPr sz="1000" b="0">
                          <a:solidFill>
                            <a:srgbClr val="1F2933"/>
                          </a:solidFill>
                          <a:latin typeface="Arial"/>
                        </a:rPr>
                        <a:t>Granola</a:t>
                      </a:r>
                    </a:p>
                  </a:txBody>
                  <a:tcPr marL="73152" marR="73152" marT="36576" marB="36576" anchor="ctr">
                    <a:solidFill>
                      <a:srgbClr val="FFFFFF"/>
                    </a:solidFill>
                  </a:tcPr>
                </a:tc>
                <a:tc>
                  <a:txBody>
                    <a:bodyPr wrap="square"/>
                    <a:lstStyle/>
                    <a:p>
                      <a:pPr algn="l"/>
                      <a:r>
                        <a:rPr sz="1000" b="0">
                          <a:solidFill>
                            <a:srgbClr val="1F2933"/>
                          </a:solidFill>
                          <a:latin typeface="Arial"/>
                        </a:rPr>
                        <a:t>Người tự gõ ghi chú thô lúc họp, AI nở ra thành note hoàn chỉnh</a:t>
                      </a:r>
                    </a:p>
                  </a:txBody>
                  <a:tcPr marL="73152" marR="73152" marT="36576" marB="36576" anchor="ctr">
                    <a:solidFill>
                      <a:srgbClr val="FFFFFF"/>
                    </a:solidFill>
                  </a:tcPr>
                </a:tc>
                <a:tc>
                  <a:txBody>
                    <a:bodyPr wrap="square"/>
                    <a:lstStyle/>
                    <a:p>
                      <a:pPr algn="l"/>
                      <a:r>
                        <a:rPr sz="1000" b="0">
                          <a:solidFill>
                            <a:srgbClr val="1F2933"/>
                          </a:solidFill>
                          <a:latin typeface="Arial"/>
                        </a:rPr>
                        <a:t>Phụ thuộc việc người dùng có chịu gõ vài dòng lúc họp — nhưng pattern rất đáng học</a:t>
                      </a:r>
                    </a:p>
                  </a:txBody>
                  <a:tcPr marL="73152" marR="73152" marT="36576" marB="36576" anchor="ctr">
                    <a:solidFill>
                      <a:srgbClr val="FFFFFF"/>
                    </a:solidFill>
                  </a:tcPr>
                </a:tc>
              </a:tr>
              <a:tr h="658368">
                <a:tc>
                  <a:txBody>
                    <a:bodyPr wrap="square"/>
                    <a:lstStyle/>
                    <a:p>
                      <a:pPr algn="l"/>
                      <a:r>
                        <a:rPr sz="1000" b="0">
                          <a:solidFill>
                            <a:srgbClr val="1F2933"/>
                          </a:solidFill>
                          <a:latin typeface="Arial"/>
                        </a:rPr>
                        <a:t>Teams Premium
(intelligent recap)</a:t>
                      </a:r>
                    </a:p>
                  </a:txBody>
                  <a:tcPr marL="73152" marR="73152" marT="36576" marB="36576" anchor="ctr">
                    <a:solidFill>
                      <a:srgbClr val="EEEEEA"/>
                    </a:solidFill>
                  </a:tcPr>
                </a:tc>
                <a:tc>
                  <a:txBody>
                    <a:bodyPr wrap="square"/>
                    <a:lstStyle/>
                    <a:p>
                      <a:pPr algn="l"/>
                      <a:r>
                        <a:rPr sz="1000" b="0">
                          <a:solidFill>
                            <a:srgbClr val="1F2933"/>
                          </a:solidFill>
                          <a:latin typeface="Arial"/>
                        </a:rPr>
                        <a:t>Trọn gói trong hệ sinh thái Teams: recap, chương mục, gợi ý việc</a:t>
                      </a:r>
                    </a:p>
                  </a:txBody>
                  <a:tcPr marL="73152" marR="73152" marT="36576" marB="36576" anchor="ctr">
                    <a:solidFill>
                      <a:srgbClr val="EEEEEA"/>
                    </a:solidFill>
                  </a:tcPr>
                </a:tc>
                <a:tc>
                  <a:txBody>
                    <a:bodyPr wrap="square"/>
                    <a:lstStyle/>
                    <a:p>
                      <a:pPr algn="l"/>
                      <a:r>
                        <a:rPr sz="1000" b="0">
                          <a:solidFill>
                            <a:srgbClr val="1F2933"/>
                          </a:solidFill>
                          <a:latin typeface="Arial"/>
                        </a:rPr>
                        <a:t>Chỉ chạy nếu cả tổ chức dùng Teams có license. Không dùng cho họp offline</a:t>
                      </a:r>
                    </a:p>
                  </a:txBody>
                  <a:tcPr marL="73152" marR="73152" marT="36576" marB="36576" anchor="ctr">
                    <a:solidFill>
                      <a:srgbClr val="EEEEEA"/>
                    </a:solidFill>
                  </a:tcPr>
                </a:tc>
              </a:tr>
              <a:tr h="658368">
                <a:tc>
                  <a:txBody>
                    <a:bodyPr wrap="square"/>
                    <a:lstStyle/>
                    <a:p>
                      <a:pPr algn="l"/>
                      <a:r>
                        <a:rPr sz="1000" b="0">
                          <a:solidFill>
                            <a:srgbClr val="1F2933"/>
                          </a:solidFill>
                          <a:latin typeface="Arial"/>
                        </a:rPr>
                        <a:t>Whisper (OSS)</a:t>
                      </a:r>
                    </a:p>
                  </a:txBody>
                  <a:tcPr marL="73152" marR="73152" marT="36576" marB="36576" anchor="ctr">
                    <a:solidFill>
                      <a:srgbClr val="FFFFFF"/>
                    </a:solidFill>
                  </a:tcPr>
                </a:tc>
                <a:tc>
                  <a:txBody>
                    <a:bodyPr wrap="square"/>
                    <a:lstStyle/>
                    <a:p>
                      <a:pPr algn="l"/>
                      <a:r>
                        <a:rPr sz="1000" b="0">
                          <a:solidFill>
                            <a:srgbClr val="1F2933"/>
                          </a:solidFill>
                          <a:latin typeface="Arial"/>
                        </a:rPr>
                        <a:t>Chỉ transcript, chạy offline ngay trên máy</a:t>
                      </a:r>
                    </a:p>
                  </a:txBody>
                  <a:tcPr marL="73152" marR="73152" marT="36576" marB="36576" anchor="ctr">
                    <a:solidFill>
                      <a:srgbClr val="FFFFFF"/>
                    </a:solidFill>
                  </a:tcPr>
                </a:tc>
                <a:tc>
                  <a:txBody>
                    <a:bodyPr wrap="square"/>
                    <a:lstStyle/>
                    <a:p>
                      <a:pPr algn="l"/>
                      <a:r>
                        <a:rPr sz="1000" b="0">
                          <a:solidFill>
                            <a:srgbClr val="1F2933"/>
                          </a:solidFill>
                          <a:latin typeface="Arial"/>
                        </a:rPr>
                        <a:t>Không làm gì ngoài transcript — nhưng là đường lui khi nội dung họp không được rời máy</a:t>
                      </a:r>
                    </a:p>
                  </a:txBody>
                  <a:tcPr marL="73152" marR="73152" marT="36576" marB="36576" anchor="ctr">
                    <a:solidFill>
                      <a:srgbClr val="FFFFFF"/>
                    </a:solidFill>
                  </a:tcPr>
                </a:tc>
              </a:tr>
            </a:tbl>
          </a:graphicData>
        </a:graphic>
      </p:graphicFrame>
      <p:sp>
        <p:nvSpPr>
          <p:cNvPr id="8" name="Rectangle 7"/>
          <p:cNvSpPr/>
          <p:nvPr/>
        </p:nvSpPr>
        <p:spPr>
          <a:xfrm>
            <a:off x="548640" y="5120640"/>
            <a:ext cx="5440680" cy="105156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120640"/>
            <a:ext cx="64008" cy="1051560"/>
          </a:xfrm>
          <a:prstGeom prst="rect">
            <a:avLst/>
          </a:prstGeom>
          <a:solidFill>
            <a:srgbClr val="B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5285232"/>
            <a:ext cx="4983480" cy="365760"/>
          </a:xfrm>
          <a:prstGeom prst="rect">
            <a:avLst/>
          </a:prstGeom>
          <a:noFill/>
        </p:spPr>
        <p:txBody>
          <a:bodyPr wrap="square" anchor="t" lIns="0" rIns="0" tIns="0" bIns="0">
            <a:spAutoFit/>
          </a:bodyPr>
          <a:lstStyle/>
          <a:p>
            <a:pPr algn="l">
              <a:lnSpc>
                <a:spcPct val="105000"/>
              </a:lnSpc>
              <a:spcAft>
                <a:spcPts val="600"/>
              </a:spcAft>
            </a:pPr>
            <a:r>
              <a:rPr sz="1300" b="1">
                <a:solidFill>
                  <a:srgbClr val="B03A2B"/>
                </a:solidFill>
                <a:latin typeface="Arial"/>
              </a:rPr>
              <a:t>KHÔNG build</a:t>
            </a:r>
          </a:p>
        </p:txBody>
      </p:sp>
      <p:sp>
        <p:nvSpPr>
          <p:cNvPr id="11" name="TextBox 10"/>
          <p:cNvSpPr txBox="1"/>
          <p:nvPr/>
        </p:nvSpPr>
        <p:spPr>
          <a:xfrm>
            <a:off x="804672" y="5687568"/>
            <a:ext cx="4983480" cy="32004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Phần ghi âm và chuyển giọng nói thành transcript. Thị trường đã giải xong — build lại là đốt cả buổi lab.</a:t>
            </a:r>
          </a:p>
        </p:txBody>
      </p:sp>
      <p:sp>
        <p:nvSpPr>
          <p:cNvPr id="12" name="Rectangle 11"/>
          <p:cNvSpPr/>
          <p:nvPr/>
        </p:nvSpPr>
        <p:spPr>
          <a:xfrm>
            <a:off x="6217920" y="5120640"/>
            <a:ext cx="5440680" cy="105156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5120640"/>
            <a:ext cx="64008" cy="1051560"/>
          </a:xfrm>
          <a:prstGeom prst="rect">
            <a:avLst/>
          </a:prstGeom>
          <a:solidFill>
            <a:srgbClr val="1F77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5285232"/>
            <a:ext cx="4983480" cy="365760"/>
          </a:xfrm>
          <a:prstGeom prst="rect">
            <a:avLst/>
          </a:prstGeom>
          <a:noFill/>
        </p:spPr>
        <p:txBody>
          <a:bodyPr wrap="square" anchor="t" lIns="0" rIns="0" tIns="0" bIns="0">
            <a:spAutoFit/>
          </a:bodyPr>
          <a:lstStyle/>
          <a:p>
            <a:pPr algn="l">
              <a:lnSpc>
                <a:spcPct val="105000"/>
              </a:lnSpc>
              <a:spcAft>
                <a:spcPts val="600"/>
              </a:spcAft>
            </a:pPr>
            <a:r>
              <a:rPr sz="1300" b="1">
                <a:solidFill>
                  <a:srgbClr val="1F7772"/>
                </a:solidFill>
                <a:latin typeface="Arial"/>
              </a:rPr>
              <a:t>NÊN build</a:t>
            </a:r>
          </a:p>
        </p:txBody>
      </p:sp>
      <p:sp>
        <p:nvSpPr>
          <p:cNvPr id="15" name="TextBox 14"/>
          <p:cNvSpPr txBox="1"/>
          <p:nvPr/>
        </p:nvSpPr>
        <p:spPr>
          <a:xfrm>
            <a:off x="6473952" y="5687568"/>
            <a:ext cx="4983480" cy="32004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Bơm PROJECT KNOWLEDGE vào bước tóm tắt. Thứ còn thiếu không phải mô hình mạnh hơn — mà là ngữ cảnh đúng.</a:t>
            </a:r>
          </a:p>
        </p:txBody>
      </p:sp>
      <p:sp>
        <p:nvSpPr>
          <p:cNvPr id="16" name="TextBox 15"/>
          <p:cNvSpPr txBox="1"/>
          <p:nvPr/>
        </p:nvSpPr>
        <p:spPr>
          <a:xfrm>
            <a:off x="640080" y="6400800"/>
            <a:ext cx="8229600" cy="274320"/>
          </a:xfrm>
          <a:prstGeom prst="rect">
            <a:avLst/>
          </a:prstGeom>
          <a:noFill/>
        </p:spPr>
        <p:txBody>
          <a:bodyPr wrap="square" anchor="t" lIns="0" rIns="0" tIns="0" bIns="0">
            <a:spAutoFit/>
          </a:bodyPr>
          <a:lstStyle/>
          <a:p>
            <a:pPr algn="l">
              <a:lnSpc>
                <a:spcPct val="105000"/>
              </a:lnSpc>
              <a:spcAft>
                <a:spcPts val="600"/>
              </a:spcAft>
            </a:pPr>
            <a:r>
              <a:rPr sz="900" b="0">
                <a:solidFill>
                  <a:srgbClr val="6B7280"/>
                </a:solidFill>
                <a:latin typeface="Arial"/>
              </a:rPr>
              <a:t>Day 02 Lab · K4A · Nhóm 6 người · Candidate: Meeting note</a:t>
            </a:r>
          </a:p>
        </p:txBody>
      </p:sp>
      <p:sp>
        <p:nvSpPr>
          <p:cNvPr id="17" name="TextBox 16"/>
          <p:cNvSpPr txBox="1"/>
          <p:nvPr/>
        </p:nvSpPr>
        <p:spPr>
          <a:xfrm>
            <a:off x="11002975" y="6400800"/>
            <a:ext cx="548640" cy="274320"/>
          </a:xfrm>
          <a:prstGeom prst="rect">
            <a:avLst/>
          </a:prstGeom>
          <a:noFill/>
        </p:spPr>
        <p:txBody>
          <a:bodyPr wrap="square" anchor="t" lIns="0" rIns="0" tIns="0" bIns="0">
            <a:spAutoFit/>
          </a:bodyPr>
          <a:lstStyle/>
          <a:p>
            <a:pPr algn="r">
              <a:lnSpc>
                <a:spcPct val="105000"/>
              </a:lnSpc>
              <a:spcAft>
                <a:spcPts val="600"/>
              </a:spcAft>
            </a:pPr>
            <a:r>
              <a:rPr sz="900" b="1">
                <a:solidFill>
                  <a:srgbClr val="6B7280"/>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
            <a:ext cx="10972800" cy="274320"/>
          </a:xfrm>
          <a:prstGeom prst="rect">
            <a:avLst/>
          </a:prstGeom>
          <a:noFill/>
        </p:spPr>
        <p:txBody>
          <a:bodyPr wrap="square" anchor="t" lIns="0" rIns="0" tIns="0" bIns="0">
            <a:spAutoFit/>
          </a:bodyPr>
          <a:lstStyle/>
          <a:p>
            <a:pPr algn="l">
              <a:lnSpc>
                <a:spcPct val="105000"/>
              </a:lnSpc>
              <a:spcAft>
                <a:spcPts val="600"/>
              </a:spcAft>
            </a:pPr>
            <a:r>
              <a:rPr sz="1100" b="1">
                <a:solidFill>
                  <a:srgbClr val="E0A458"/>
                </a:solidFill>
                <a:latin typeface="Arial"/>
              </a:rPr>
              <a:t>PHASE 5.1</a:t>
            </a:r>
          </a:p>
        </p:txBody>
      </p:sp>
      <p:sp>
        <p:nvSpPr>
          <p:cNvPr id="6" name="TextBox 5"/>
          <p:cNvSpPr txBox="1"/>
          <p:nvPr/>
        </p:nvSpPr>
        <p:spPr>
          <a:xfrm>
            <a:off x="640080" y="475488"/>
            <a:ext cx="10972800" cy="548640"/>
          </a:xfrm>
          <a:prstGeom prst="rect">
            <a:avLst/>
          </a:prstGeom>
          <a:noFill/>
        </p:spPr>
        <p:txBody>
          <a:bodyPr wrap="square" anchor="t" lIns="0" rIns="0" tIns="0" bIns="0">
            <a:spAutoFit/>
          </a:bodyPr>
          <a:lstStyle/>
          <a:p>
            <a:pPr algn="l">
              <a:lnSpc>
                <a:spcPct val="105000"/>
              </a:lnSpc>
              <a:spcAft>
                <a:spcPts val="600"/>
              </a:spcAft>
            </a:pPr>
            <a:r>
              <a:rPr sz="2600" b="1">
                <a:solidFill>
                  <a:srgbClr val="FFFFFF"/>
                </a:solidFill>
                <a:latin typeface="Arial"/>
              </a:rPr>
              <a:t>Workflow hiện tại — 6 bước, 10–15 phút, lặp 3–4 lần/tuần</a:t>
            </a:r>
          </a:p>
        </p:txBody>
      </p:sp>
      <p:sp>
        <p:nvSpPr>
          <p:cNvPr id="7" name="Rectangle 6"/>
          <p:cNvSpPr/>
          <p:nvPr/>
        </p:nvSpPr>
        <p:spPr>
          <a:xfrm>
            <a:off x="548640" y="1920240"/>
            <a:ext cx="1764792" cy="1874519"/>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20240"/>
            <a:ext cx="1764792" cy="73152"/>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103120"/>
            <a:ext cx="1764792" cy="274320"/>
          </a:xfrm>
          <a:prstGeom prst="rect">
            <a:avLst/>
          </a:prstGeom>
          <a:noFill/>
        </p:spPr>
        <p:txBody>
          <a:bodyPr wrap="square" anchor="t" lIns="0" rIns="0" tIns="0" bIns="0">
            <a:spAutoFit/>
          </a:bodyPr>
          <a:lstStyle/>
          <a:p>
            <a:pPr algn="ctr">
              <a:lnSpc>
                <a:spcPct val="105000"/>
              </a:lnSpc>
              <a:spcAft>
                <a:spcPts val="600"/>
              </a:spcAft>
            </a:pPr>
            <a:r>
              <a:rPr sz="1300" b="1">
                <a:solidFill>
                  <a:srgbClr val="6B7280"/>
                </a:solidFill>
                <a:latin typeface="Arial"/>
              </a:rPr>
              <a:t>1</a:t>
            </a:r>
          </a:p>
        </p:txBody>
      </p:sp>
      <p:sp>
        <p:nvSpPr>
          <p:cNvPr id="10" name="TextBox 9"/>
          <p:cNvSpPr txBox="1"/>
          <p:nvPr/>
        </p:nvSpPr>
        <p:spPr>
          <a:xfrm>
            <a:off x="658368" y="2450592"/>
            <a:ext cx="1545336" cy="822960"/>
          </a:xfrm>
          <a:prstGeom prst="rect">
            <a:avLst/>
          </a:prstGeom>
          <a:noFill/>
        </p:spPr>
        <p:txBody>
          <a:bodyPr wrap="square" anchor="t" lIns="0" rIns="0" tIns="0" bIns="0">
            <a:spAutoFit/>
          </a:bodyPr>
          <a:lstStyle/>
          <a:p>
            <a:pPr algn="ctr">
              <a:lnSpc>
                <a:spcPct val="105000"/>
              </a:lnSpc>
              <a:spcAft>
                <a:spcPts val="100"/>
              </a:spcAft>
            </a:pPr>
            <a:r>
              <a:rPr sz="1050" b="0">
                <a:solidFill>
                  <a:srgbClr val="1F2933"/>
                </a:solidFill>
                <a:latin typeface="Arial"/>
              </a:rPr>
              <a:t>Mở file note</a:t>
            </a:r>
          </a:p>
        </p:txBody>
      </p:sp>
      <p:sp>
        <p:nvSpPr>
          <p:cNvPr id="11" name="TextBox 10"/>
          <p:cNvSpPr txBox="1"/>
          <p:nvPr/>
        </p:nvSpPr>
        <p:spPr>
          <a:xfrm>
            <a:off x="548640" y="3310128"/>
            <a:ext cx="1764792" cy="274320"/>
          </a:xfrm>
          <a:prstGeom prst="rect">
            <a:avLst/>
          </a:prstGeom>
          <a:noFill/>
        </p:spPr>
        <p:txBody>
          <a:bodyPr wrap="square" anchor="t" lIns="0" rIns="0" tIns="0" bIns="0">
            <a:spAutoFit/>
          </a:bodyPr>
          <a:lstStyle/>
          <a:p>
            <a:pPr algn="ctr">
              <a:lnSpc>
                <a:spcPct val="105000"/>
              </a:lnSpc>
              <a:spcAft>
                <a:spcPts val="600"/>
              </a:spcAft>
            </a:pPr>
            <a:r>
              <a:rPr sz="1500" b="1">
                <a:solidFill>
                  <a:srgbClr val="1F2933"/>
                </a:solidFill>
                <a:latin typeface="Arial"/>
              </a:rPr>
              <a:t>1'</a:t>
            </a:r>
          </a:p>
        </p:txBody>
      </p:sp>
      <p:sp>
        <p:nvSpPr>
          <p:cNvPr id="12" name="Rectangle 11"/>
          <p:cNvSpPr/>
          <p:nvPr/>
        </p:nvSpPr>
        <p:spPr>
          <a:xfrm>
            <a:off x="2414016" y="1920240"/>
            <a:ext cx="1764792" cy="1874519"/>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14016" y="1920240"/>
            <a:ext cx="1764792" cy="73152"/>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14016" y="2103120"/>
            <a:ext cx="1764792" cy="274320"/>
          </a:xfrm>
          <a:prstGeom prst="rect">
            <a:avLst/>
          </a:prstGeom>
          <a:noFill/>
        </p:spPr>
        <p:txBody>
          <a:bodyPr wrap="square" anchor="t" lIns="0" rIns="0" tIns="0" bIns="0">
            <a:spAutoFit/>
          </a:bodyPr>
          <a:lstStyle/>
          <a:p>
            <a:pPr algn="ctr">
              <a:lnSpc>
                <a:spcPct val="105000"/>
              </a:lnSpc>
              <a:spcAft>
                <a:spcPts val="600"/>
              </a:spcAft>
            </a:pPr>
            <a:r>
              <a:rPr sz="1300" b="1">
                <a:solidFill>
                  <a:srgbClr val="E0A458"/>
                </a:solidFill>
                <a:latin typeface="Arial"/>
              </a:rPr>
              <a:t>2</a:t>
            </a:r>
          </a:p>
        </p:txBody>
      </p:sp>
      <p:sp>
        <p:nvSpPr>
          <p:cNvPr id="15" name="TextBox 14"/>
          <p:cNvSpPr txBox="1"/>
          <p:nvPr/>
        </p:nvSpPr>
        <p:spPr>
          <a:xfrm>
            <a:off x="2523744" y="2450592"/>
            <a:ext cx="1545336" cy="822960"/>
          </a:xfrm>
          <a:prstGeom prst="rect">
            <a:avLst/>
          </a:prstGeom>
          <a:noFill/>
        </p:spPr>
        <p:txBody>
          <a:bodyPr wrap="square" anchor="t" lIns="0" rIns="0" tIns="0" bIns="0">
            <a:spAutoFit/>
          </a:bodyPr>
          <a:lstStyle/>
          <a:p>
            <a:pPr algn="ctr">
              <a:lnSpc>
                <a:spcPct val="105000"/>
              </a:lnSpc>
              <a:spcAft>
                <a:spcPts val="100"/>
              </a:spcAft>
            </a:pPr>
            <a:r>
              <a:rPr sz="1050" b="0">
                <a:solidFill>
                  <a:srgbClr val="1F2933"/>
                </a:solidFill>
                <a:latin typeface="Arial"/>
              </a:rPr>
              <a:t>Nhớ lại mạch họp,</a:t>
            </a:r>
          </a:p>
          <a:p>
            <a:pPr algn="ctr">
              <a:lnSpc>
                <a:spcPct val="105000"/>
              </a:lnSpc>
              <a:spcAft>
                <a:spcPts val="100"/>
              </a:spcAft>
            </a:pPr>
            <a:r>
              <a:rPr sz="1050" b="0">
                <a:solidFill>
                  <a:srgbClr val="1F2933"/>
                </a:solidFill>
                <a:latin typeface="Arial"/>
              </a:rPr>
              <a:t>ai nói gì, chốt gì</a:t>
            </a:r>
          </a:p>
        </p:txBody>
      </p:sp>
      <p:sp>
        <p:nvSpPr>
          <p:cNvPr id="16" name="TextBox 15"/>
          <p:cNvSpPr txBox="1"/>
          <p:nvPr/>
        </p:nvSpPr>
        <p:spPr>
          <a:xfrm>
            <a:off x="2414016" y="3310128"/>
            <a:ext cx="1764792" cy="274320"/>
          </a:xfrm>
          <a:prstGeom prst="rect">
            <a:avLst/>
          </a:prstGeom>
          <a:noFill/>
        </p:spPr>
        <p:txBody>
          <a:bodyPr wrap="square" anchor="t" lIns="0" rIns="0" tIns="0" bIns="0">
            <a:spAutoFit/>
          </a:bodyPr>
          <a:lstStyle/>
          <a:p>
            <a:pPr algn="ctr">
              <a:lnSpc>
                <a:spcPct val="105000"/>
              </a:lnSpc>
              <a:spcAft>
                <a:spcPts val="600"/>
              </a:spcAft>
            </a:pPr>
            <a:r>
              <a:rPr sz="1500" b="1">
                <a:solidFill>
                  <a:srgbClr val="1F2933"/>
                </a:solidFill>
                <a:latin typeface="Arial"/>
              </a:rPr>
              <a:t>3–4'</a:t>
            </a:r>
          </a:p>
        </p:txBody>
      </p:sp>
      <p:sp>
        <p:nvSpPr>
          <p:cNvPr id="17" name="TextBox 16"/>
          <p:cNvSpPr txBox="1"/>
          <p:nvPr/>
        </p:nvSpPr>
        <p:spPr>
          <a:xfrm>
            <a:off x="2414016" y="3584448"/>
            <a:ext cx="1764792" cy="228600"/>
          </a:xfrm>
          <a:prstGeom prst="rect">
            <a:avLst/>
          </a:prstGeom>
          <a:noFill/>
        </p:spPr>
        <p:txBody>
          <a:bodyPr wrap="square" anchor="t" lIns="0" rIns="0" tIns="0" bIns="0">
            <a:spAutoFit/>
          </a:bodyPr>
          <a:lstStyle/>
          <a:p>
            <a:pPr algn="ctr">
              <a:lnSpc>
                <a:spcPct val="105000"/>
              </a:lnSpc>
              <a:spcAft>
                <a:spcPts val="600"/>
              </a:spcAft>
            </a:pPr>
            <a:r>
              <a:rPr sz="850" b="1">
                <a:solidFill>
                  <a:srgbClr val="E0A458"/>
                </a:solidFill>
                <a:latin typeface="Arial"/>
              </a:rPr>
              <a:t>NGHẼN 1</a:t>
            </a:r>
          </a:p>
        </p:txBody>
      </p:sp>
      <p:sp>
        <p:nvSpPr>
          <p:cNvPr id="18" name="Rectangle 17"/>
          <p:cNvSpPr/>
          <p:nvPr/>
        </p:nvSpPr>
        <p:spPr>
          <a:xfrm>
            <a:off x="4279392" y="1920240"/>
            <a:ext cx="1764792" cy="1874519"/>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79392" y="1920240"/>
            <a:ext cx="1764792" cy="73152"/>
          </a:xfrm>
          <a:prstGeom prst="rect">
            <a:avLst/>
          </a:prstGeom>
          <a:solidFill>
            <a:srgbClr val="B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79392" y="2103120"/>
            <a:ext cx="1764792" cy="274320"/>
          </a:xfrm>
          <a:prstGeom prst="rect">
            <a:avLst/>
          </a:prstGeom>
          <a:noFill/>
        </p:spPr>
        <p:txBody>
          <a:bodyPr wrap="square" anchor="t" lIns="0" rIns="0" tIns="0" bIns="0">
            <a:spAutoFit/>
          </a:bodyPr>
          <a:lstStyle/>
          <a:p>
            <a:pPr algn="ctr">
              <a:lnSpc>
                <a:spcPct val="105000"/>
              </a:lnSpc>
              <a:spcAft>
                <a:spcPts val="600"/>
              </a:spcAft>
            </a:pPr>
            <a:r>
              <a:rPr sz="1300" b="1">
                <a:solidFill>
                  <a:srgbClr val="B03A2B"/>
                </a:solidFill>
                <a:latin typeface="Arial"/>
              </a:rPr>
              <a:t>3</a:t>
            </a:r>
          </a:p>
        </p:txBody>
      </p:sp>
      <p:sp>
        <p:nvSpPr>
          <p:cNvPr id="21" name="TextBox 20"/>
          <p:cNvSpPr txBox="1"/>
          <p:nvPr/>
        </p:nvSpPr>
        <p:spPr>
          <a:xfrm>
            <a:off x="4389120" y="2450592"/>
            <a:ext cx="1545336" cy="822960"/>
          </a:xfrm>
          <a:prstGeom prst="rect">
            <a:avLst/>
          </a:prstGeom>
          <a:noFill/>
        </p:spPr>
        <p:txBody>
          <a:bodyPr wrap="square" anchor="t" lIns="0" rIns="0" tIns="0" bIns="0">
            <a:spAutoFit/>
          </a:bodyPr>
          <a:lstStyle/>
          <a:p>
            <a:pPr algn="ctr">
              <a:lnSpc>
                <a:spcPct val="105000"/>
              </a:lnSpc>
              <a:spcAft>
                <a:spcPts val="100"/>
              </a:spcAft>
            </a:pPr>
            <a:r>
              <a:rPr sz="1050" b="0">
                <a:solidFill>
                  <a:srgbClr val="1F2933"/>
                </a:solidFill>
                <a:latin typeface="Arial"/>
              </a:rPr>
              <a:t>Tra lại ngữ cảnh dự án</a:t>
            </a:r>
          </a:p>
          <a:p>
            <a:pPr algn="ctr">
              <a:lnSpc>
                <a:spcPct val="105000"/>
              </a:lnSpc>
              <a:spcAft>
                <a:spcPts val="100"/>
              </a:spcAft>
            </a:pPr>
            <a:r>
              <a:rPr sz="1050" b="0">
                <a:solidFill>
                  <a:srgbClr val="1F2933"/>
                </a:solidFill>
                <a:latin typeface="Arial"/>
              </a:rPr>
              <a:t>ở Jira / Notion / repo / chat</a:t>
            </a:r>
          </a:p>
        </p:txBody>
      </p:sp>
      <p:sp>
        <p:nvSpPr>
          <p:cNvPr id="22" name="TextBox 21"/>
          <p:cNvSpPr txBox="1"/>
          <p:nvPr/>
        </p:nvSpPr>
        <p:spPr>
          <a:xfrm>
            <a:off x="4279392" y="3310128"/>
            <a:ext cx="1764792" cy="274320"/>
          </a:xfrm>
          <a:prstGeom prst="rect">
            <a:avLst/>
          </a:prstGeom>
          <a:noFill/>
        </p:spPr>
        <p:txBody>
          <a:bodyPr wrap="square" anchor="t" lIns="0" rIns="0" tIns="0" bIns="0">
            <a:spAutoFit/>
          </a:bodyPr>
          <a:lstStyle/>
          <a:p>
            <a:pPr algn="ctr">
              <a:lnSpc>
                <a:spcPct val="105000"/>
              </a:lnSpc>
              <a:spcAft>
                <a:spcPts val="600"/>
              </a:spcAft>
            </a:pPr>
            <a:r>
              <a:rPr sz="1500" b="1">
                <a:solidFill>
                  <a:srgbClr val="1F2933"/>
                </a:solidFill>
                <a:latin typeface="Arial"/>
              </a:rPr>
              <a:t>3–5'</a:t>
            </a:r>
          </a:p>
        </p:txBody>
      </p:sp>
      <p:sp>
        <p:nvSpPr>
          <p:cNvPr id="23" name="TextBox 22"/>
          <p:cNvSpPr txBox="1"/>
          <p:nvPr/>
        </p:nvSpPr>
        <p:spPr>
          <a:xfrm>
            <a:off x="4279392" y="3584448"/>
            <a:ext cx="1764792" cy="228600"/>
          </a:xfrm>
          <a:prstGeom prst="rect">
            <a:avLst/>
          </a:prstGeom>
          <a:noFill/>
        </p:spPr>
        <p:txBody>
          <a:bodyPr wrap="square" anchor="t" lIns="0" rIns="0" tIns="0" bIns="0">
            <a:spAutoFit/>
          </a:bodyPr>
          <a:lstStyle/>
          <a:p>
            <a:pPr algn="ctr">
              <a:lnSpc>
                <a:spcPct val="105000"/>
              </a:lnSpc>
              <a:spcAft>
                <a:spcPts val="600"/>
              </a:spcAft>
            </a:pPr>
            <a:r>
              <a:rPr sz="850" b="1">
                <a:solidFill>
                  <a:srgbClr val="B03A2B"/>
                </a:solidFill>
                <a:latin typeface="Arial"/>
              </a:rPr>
              <a:t>NGHẼN CHÍNH</a:t>
            </a:r>
          </a:p>
        </p:txBody>
      </p:sp>
      <p:sp>
        <p:nvSpPr>
          <p:cNvPr id="24" name="Rectangle 23"/>
          <p:cNvSpPr/>
          <p:nvPr/>
        </p:nvSpPr>
        <p:spPr>
          <a:xfrm>
            <a:off x="6144768" y="1920240"/>
            <a:ext cx="1764792" cy="1874519"/>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1920240"/>
            <a:ext cx="1764792" cy="73152"/>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44768" y="2103120"/>
            <a:ext cx="1764792" cy="274320"/>
          </a:xfrm>
          <a:prstGeom prst="rect">
            <a:avLst/>
          </a:prstGeom>
          <a:noFill/>
        </p:spPr>
        <p:txBody>
          <a:bodyPr wrap="square" anchor="t" lIns="0" rIns="0" tIns="0" bIns="0">
            <a:spAutoFit/>
          </a:bodyPr>
          <a:lstStyle/>
          <a:p>
            <a:pPr algn="ctr">
              <a:lnSpc>
                <a:spcPct val="105000"/>
              </a:lnSpc>
              <a:spcAft>
                <a:spcPts val="600"/>
              </a:spcAft>
            </a:pPr>
            <a:r>
              <a:rPr sz="1300" b="1">
                <a:solidFill>
                  <a:srgbClr val="6B7280"/>
                </a:solidFill>
                <a:latin typeface="Arial"/>
              </a:rPr>
              <a:t>4</a:t>
            </a:r>
          </a:p>
        </p:txBody>
      </p:sp>
      <p:sp>
        <p:nvSpPr>
          <p:cNvPr id="27" name="TextBox 26"/>
          <p:cNvSpPr txBox="1"/>
          <p:nvPr/>
        </p:nvSpPr>
        <p:spPr>
          <a:xfrm>
            <a:off x="6254496" y="2450592"/>
            <a:ext cx="1545336" cy="822960"/>
          </a:xfrm>
          <a:prstGeom prst="rect">
            <a:avLst/>
          </a:prstGeom>
          <a:noFill/>
        </p:spPr>
        <p:txBody>
          <a:bodyPr wrap="square" anchor="t" lIns="0" rIns="0" tIns="0" bIns="0">
            <a:spAutoFit/>
          </a:bodyPr>
          <a:lstStyle/>
          <a:p>
            <a:pPr algn="ctr">
              <a:lnSpc>
                <a:spcPct val="105000"/>
              </a:lnSpc>
              <a:spcAft>
                <a:spcPts val="100"/>
              </a:spcAft>
            </a:pPr>
            <a:r>
              <a:rPr sz="1050" b="0">
                <a:solidFill>
                  <a:srgbClr val="1F2933"/>
                </a:solidFill>
                <a:latin typeface="Arial"/>
              </a:rPr>
              <a:t>Viết summary + TODO</a:t>
            </a:r>
          </a:p>
          <a:p>
            <a:pPr algn="ctr">
              <a:lnSpc>
                <a:spcPct val="105000"/>
              </a:lnSpc>
              <a:spcAft>
                <a:spcPts val="100"/>
              </a:spcAft>
            </a:pPr>
            <a:r>
              <a:rPr sz="1050" b="0">
                <a:solidFill>
                  <a:srgbClr val="1F2933"/>
                </a:solidFill>
                <a:latin typeface="Arial"/>
              </a:rPr>
              <a:t>cho bản thân</a:t>
            </a:r>
          </a:p>
        </p:txBody>
      </p:sp>
      <p:sp>
        <p:nvSpPr>
          <p:cNvPr id="28" name="TextBox 27"/>
          <p:cNvSpPr txBox="1"/>
          <p:nvPr/>
        </p:nvSpPr>
        <p:spPr>
          <a:xfrm>
            <a:off x="6144768" y="3310128"/>
            <a:ext cx="1764792" cy="274320"/>
          </a:xfrm>
          <a:prstGeom prst="rect">
            <a:avLst/>
          </a:prstGeom>
          <a:noFill/>
        </p:spPr>
        <p:txBody>
          <a:bodyPr wrap="square" anchor="t" lIns="0" rIns="0" tIns="0" bIns="0">
            <a:spAutoFit/>
          </a:bodyPr>
          <a:lstStyle/>
          <a:p>
            <a:pPr algn="ctr">
              <a:lnSpc>
                <a:spcPct val="105000"/>
              </a:lnSpc>
              <a:spcAft>
                <a:spcPts val="600"/>
              </a:spcAft>
            </a:pPr>
            <a:r>
              <a:rPr sz="1500" b="1">
                <a:solidFill>
                  <a:srgbClr val="1F2933"/>
                </a:solidFill>
                <a:latin typeface="Arial"/>
              </a:rPr>
              <a:t>4–5'</a:t>
            </a:r>
          </a:p>
        </p:txBody>
      </p:sp>
      <p:sp>
        <p:nvSpPr>
          <p:cNvPr id="29" name="Rectangle 28"/>
          <p:cNvSpPr/>
          <p:nvPr/>
        </p:nvSpPr>
        <p:spPr>
          <a:xfrm>
            <a:off x="8010144" y="1920240"/>
            <a:ext cx="1764792" cy="1874519"/>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10144" y="1920240"/>
            <a:ext cx="1764792" cy="73152"/>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0144" y="2103120"/>
            <a:ext cx="1764792" cy="274320"/>
          </a:xfrm>
          <a:prstGeom prst="rect">
            <a:avLst/>
          </a:prstGeom>
          <a:noFill/>
        </p:spPr>
        <p:txBody>
          <a:bodyPr wrap="square" anchor="t" lIns="0" rIns="0" tIns="0" bIns="0">
            <a:spAutoFit/>
          </a:bodyPr>
          <a:lstStyle/>
          <a:p>
            <a:pPr algn="ctr">
              <a:lnSpc>
                <a:spcPct val="105000"/>
              </a:lnSpc>
              <a:spcAft>
                <a:spcPts val="600"/>
              </a:spcAft>
            </a:pPr>
            <a:r>
              <a:rPr sz="1300" b="1">
                <a:solidFill>
                  <a:srgbClr val="E0A458"/>
                </a:solidFill>
                <a:latin typeface="Arial"/>
              </a:rPr>
              <a:t>5</a:t>
            </a:r>
          </a:p>
        </p:txBody>
      </p:sp>
      <p:sp>
        <p:nvSpPr>
          <p:cNvPr id="32" name="TextBox 31"/>
          <p:cNvSpPr txBox="1"/>
          <p:nvPr/>
        </p:nvSpPr>
        <p:spPr>
          <a:xfrm>
            <a:off x="8119872" y="2450592"/>
            <a:ext cx="1545336" cy="822960"/>
          </a:xfrm>
          <a:prstGeom prst="rect">
            <a:avLst/>
          </a:prstGeom>
          <a:noFill/>
        </p:spPr>
        <p:txBody>
          <a:bodyPr wrap="square" anchor="t" lIns="0" rIns="0" tIns="0" bIns="0">
            <a:spAutoFit/>
          </a:bodyPr>
          <a:lstStyle/>
          <a:p>
            <a:pPr algn="ctr">
              <a:lnSpc>
                <a:spcPct val="105000"/>
              </a:lnSpc>
              <a:spcAft>
                <a:spcPts val="100"/>
              </a:spcAft>
            </a:pPr>
            <a:r>
              <a:rPr sz="1050" b="0">
                <a:solidFill>
                  <a:srgbClr val="1F2933"/>
                </a:solidFill>
                <a:latin typeface="Arial"/>
              </a:rPr>
              <a:t>Hỏi lại đồng đội</a:t>
            </a:r>
          </a:p>
          <a:p>
            <a:pPr algn="ctr">
              <a:lnSpc>
                <a:spcPct val="105000"/>
              </a:lnSpc>
              <a:spcAft>
                <a:spcPts val="100"/>
              </a:spcAft>
            </a:pPr>
            <a:r>
              <a:rPr sz="1050" b="0">
                <a:solidFill>
                  <a:srgbClr val="1F2933"/>
                </a:solidFill>
                <a:latin typeface="Arial"/>
              </a:rPr>
              <a:t>chỗ không chắc</a:t>
            </a:r>
          </a:p>
        </p:txBody>
      </p:sp>
      <p:sp>
        <p:nvSpPr>
          <p:cNvPr id="33" name="TextBox 32"/>
          <p:cNvSpPr txBox="1"/>
          <p:nvPr/>
        </p:nvSpPr>
        <p:spPr>
          <a:xfrm>
            <a:off x="8010144" y="3310128"/>
            <a:ext cx="1764792" cy="274320"/>
          </a:xfrm>
          <a:prstGeom prst="rect">
            <a:avLst/>
          </a:prstGeom>
          <a:noFill/>
        </p:spPr>
        <p:txBody>
          <a:bodyPr wrap="square" anchor="t" lIns="0" rIns="0" tIns="0" bIns="0">
            <a:spAutoFit/>
          </a:bodyPr>
          <a:lstStyle/>
          <a:p>
            <a:pPr algn="ctr">
              <a:lnSpc>
                <a:spcPct val="105000"/>
              </a:lnSpc>
              <a:spcAft>
                <a:spcPts val="600"/>
              </a:spcAft>
            </a:pPr>
            <a:r>
              <a:rPr sz="1500" b="1">
                <a:solidFill>
                  <a:srgbClr val="1F2933"/>
                </a:solidFill>
                <a:latin typeface="Arial"/>
              </a:rPr>
              <a:t>2'</a:t>
            </a:r>
          </a:p>
        </p:txBody>
      </p:sp>
      <p:sp>
        <p:nvSpPr>
          <p:cNvPr id="34" name="TextBox 33"/>
          <p:cNvSpPr txBox="1"/>
          <p:nvPr/>
        </p:nvSpPr>
        <p:spPr>
          <a:xfrm>
            <a:off x="8010144" y="3584448"/>
            <a:ext cx="1764792" cy="228600"/>
          </a:xfrm>
          <a:prstGeom prst="rect">
            <a:avLst/>
          </a:prstGeom>
          <a:noFill/>
        </p:spPr>
        <p:txBody>
          <a:bodyPr wrap="square" anchor="t" lIns="0" rIns="0" tIns="0" bIns="0">
            <a:spAutoFit/>
          </a:bodyPr>
          <a:lstStyle/>
          <a:p>
            <a:pPr algn="ctr">
              <a:lnSpc>
                <a:spcPct val="105000"/>
              </a:lnSpc>
              <a:spcAft>
                <a:spcPts val="600"/>
              </a:spcAft>
            </a:pPr>
            <a:r>
              <a:rPr sz="850" b="1">
                <a:solidFill>
                  <a:srgbClr val="E0A458"/>
                </a:solidFill>
                <a:latin typeface="Arial"/>
              </a:rPr>
              <a:t>HANDOFF</a:t>
            </a:r>
          </a:p>
        </p:txBody>
      </p:sp>
      <p:sp>
        <p:nvSpPr>
          <p:cNvPr id="35" name="Rectangle 34"/>
          <p:cNvSpPr/>
          <p:nvPr/>
        </p:nvSpPr>
        <p:spPr>
          <a:xfrm>
            <a:off x="9875519" y="1920240"/>
            <a:ext cx="1764792" cy="1874519"/>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875519" y="1920240"/>
            <a:ext cx="1764792" cy="73152"/>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19" y="2103120"/>
            <a:ext cx="1764792" cy="274320"/>
          </a:xfrm>
          <a:prstGeom prst="rect">
            <a:avLst/>
          </a:prstGeom>
          <a:noFill/>
        </p:spPr>
        <p:txBody>
          <a:bodyPr wrap="square" anchor="t" lIns="0" rIns="0" tIns="0" bIns="0">
            <a:spAutoFit/>
          </a:bodyPr>
          <a:lstStyle/>
          <a:p>
            <a:pPr algn="ctr">
              <a:lnSpc>
                <a:spcPct val="105000"/>
              </a:lnSpc>
              <a:spcAft>
                <a:spcPts val="600"/>
              </a:spcAft>
            </a:pPr>
            <a:r>
              <a:rPr sz="1300" b="1">
                <a:solidFill>
                  <a:srgbClr val="6B7280"/>
                </a:solidFill>
                <a:latin typeface="Arial"/>
              </a:rPr>
              <a:t>6</a:t>
            </a:r>
          </a:p>
        </p:txBody>
      </p:sp>
      <p:sp>
        <p:nvSpPr>
          <p:cNvPr id="38" name="TextBox 37"/>
          <p:cNvSpPr txBox="1"/>
          <p:nvPr/>
        </p:nvSpPr>
        <p:spPr>
          <a:xfrm>
            <a:off x="9985247" y="2450592"/>
            <a:ext cx="1545336" cy="822960"/>
          </a:xfrm>
          <a:prstGeom prst="rect">
            <a:avLst/>
          </a:prstGeom>
          <a:noFill/>
        </p:spPr>
        <p:txBody>
          <a:bodyPr wrap="square" anchor="t" lIns="0" rIns="0" tIns="0" bIns="0">
            <a:spAutoFit/>
          </a:bodyPr>
          <a:lstStyle/>
          <a:p>
            <a:pPr algn="ctr">
              <a:lnSpc>
                <a:spcPct val="105000"/>
              </a:lnSpc>
              <a:spcAft>
                <a:spcPts val="100"/>
              </a:spcAft>
            </a:pPr>
            <a:r>
              <a:rPr sz="1050" b="0">
                <a:solidFill>
                  <a:srgbClr val="1F2933"/>
                </a:solidFill>
                <a:latin typeface="Arial"/>
              </a:rPr>
              <a:t>Lưu vào Notion</a:t>
            </a:r>
          </a:p>
        </p:txBody>
      </p:sp>
      <p:sp>
        <p:nvSpPr>
          <p:cNvPr id="39" name="TextBox 38"/>
          <p:cNvSpPr txBox="1"/>
          <p:nvPr/>
        </p:nvSpPr>
        <p:spPr>
          <a:xfrm>
            <a:off x="9875519" y="3310128"/>
            <a:ext cx="1764792" cy="274320"/>
          </a:xfrm>
          <a:prstGeom prst="rect">
            <a:avLst/>
          </a:prstGeom>
          <a:noFill/>
        </p:spPr>
        <p:txBody>
          <a:bodyPr wrap="square" anchor="t" lIns="0" rIns="0" tIns="0" bIns="0">
            <a:spAutoFit/>
          </a:bodyPr>
          <a:lstStyle/>
          <a:p>
            <a:pPr algn="ctr">
              <a:lnSpc>
                <a:spcPct val="105000"/>
              </a:lnSpc>
              <a:spcAft>
                <a:spcPts val="600"/>
              </a:spcAft>
            </a:pPr>
            <a:r>
              <a:rPr sz="1500" b="1">
                <a:solidFill>
                  <a:srgbClr val="1F2933"/>
                </a:solidFill>
                <a:latin typeface="Arial"/>
              </a:rPr>
              <a:t>1'</a:t>
            </a:r>
          </a:p>
        </p:txBody>
      </p:sp>
      <p:sp>
        <p:nvSpPr>
          <p:cNvPr id="40" name="Rectangle 39"/>
          <p:cNvSpPr/>
          <p:nvPr/>
        </p:nvSpPr>
        <p:spPr>
          <a:xfrm>
            <a:off x="548640" y="4023360"/>
            <a:ext cx="11109960" cy="105156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4023360"/>
            <a:ext cx="64008" cy="1051560"/>
          </a:xfrm>
          <a:prstGeom prst="rect">
            <a:avLst/>
          </a:prstGeom>
          <a:solidFill>
            <a:srgbClr val="B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4187952"/>
            <a:ext cx="10652760" cy="365760"/>
          </a:xfrm>
          <a:prstGeom prst="rect">
            <a:avLst/>
          </a:prstGeom>
          <a:noFill/>
        </p:spPr>
        <p:txBody>
          <a:bodyPr wrap="square" anchor="t" lIns="0" rIns="0" tIns="0" bIns="0">
            <a:spAutoFit/>
          </a:bodyPr>
          <a:lstStyle/>
          <a:p>
            <a:pPr algn="l">
              <a:lnSpc>
                <a:spcPct val="105000"/>
              </a:lnSpc>
              <a:spcAft>
                <a:spcPts val="600"/>
              </a:spcAft>
            </a:pPr>
            <a:r>
              <a:rPr sz="1300" b="1">
                <a:solidFill>
                  <a:srgbClr val="B03A2B"/>
                </a:solidFill>
                <a:latin typeface="Arial"/>
              </a:rPr>
              <a:t>Bottleneck chính là bước 3 — và nó là nghẽn thật, không chỉ là bước chậm</a:t>
            </a:r>
          </a:p>
        </p:txBody>
      </p:sp>
      <p:sp>
        <p:nvSpPr>
          <p:cNvPr id="43" name="TextBox 42"/>
          <p:cNvSpPr txBox="1"/>
          <p:nvPr/>
        </p:nvSpPr>
        <p:spPr>
          <a:xfrm>
            <a:off x="804672" y="4590288"/>
            <a:ext cx="10652760" cy="32004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Hai bước kề nó (nhớ lại, và viết) đều BỊ CHẶN vì thiếu ngữ cảnh, chứ không phải vì người viết gõ chậm.</a:t>
            </a:r>
          </a:p>
          <a:p>
            <a:pPr algn="l">
              <a:lnSpc>
                <a:spcPct val="112000"/>
              </a:lnSpc>
              <a:spcAft>
                <a:spcPts val="500"/>
              </a:spcAft>
            </a:pPr>
            <a:r>
              <a:rPr sz="1100" b="0">
                <a:solidFill>
                  <a:srgbClr val="1F2933"/>
                </a:solidFill>
                <a:latin typeface="Arial"/>
              </a:rPr>
              <a:t>Bằng chứng: cùng một buổi họp, người nắm chắc dự án viết note mất ~5 phút; người vừa nhận việc mất ~15 phút.</a:t>
            </a:r>
          </a:p>
        </p:txBody>
      </p:sp>
      <p:sp>
        <p:nvSpPr>
          <p:cNvPr id="44" name="Rectangle 43"/>
          <p:cNvSpPr/>
          <p:nvPr/>
        </p:nvSpPr>
        <p:spPr>
          <a:xfrm>
            <a:off x="548640" y="5166360"/>
            <a:ext cx="11109960" cy="100584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5166360"/>
            <a:ext cx="64008" cy="1005840"/>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4672" y="5330952"/>
            <a:ext cx="10652760" cy="365760"/>
          </a:xfrm>
          <a:prstGeom prst="rect">
            <a:avLst/>
          </a:prstGeom>
          <a:noFill/>
        </p:spPr>
        <p:txBody>
          <a:bodyPr wrap="square" anchor="t" lIns="0" rIns="0" tIns="0" bIns="0">
            <a:spAutoFit/>
          </a:bodyPr>
          <a:lstStyle/>
          <a:p>
            <a:pPr algn="l">
              <a:lnSpc>
                <a:spcPct val="105000"/>
              </a:lnSpc>
              <a:spcAft>
                <a:spcPts val="600"/>
              </a:spcAft>
            </a:pPr>
            <a:r>
              <a:rPr sz="1300" b="1">
                <a:solidFill>
                  <a:srgbClr val="E0A458"/>
                </a:solidFill>
                <a:latin typeface="Arial"/>
              </a:rPr>
              <a:t>Chi phí đắt nhất lại KHÔNG nằm trong 10–15 phút này</a:t>
            </a:r>
          </a:p>
        </p:txBody>
      </p:sp>
      <p:sp>
        <p:nvSpPr>
          <p:cNvPr id="47" name="TextBox 46"/>
          <p:cNvSpPr txBox="1"/>
          <p:nvPr/>
        </p:nvSpPr>
        <p:spPr>
          <a:xfrm>
            <a:off x="804672" y="5733288"/>
            <a:ext cx="10652760" cy="27432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1–2 action item của chính mình bị rơi mỗi tuần · phải hỏi lại đồng đội (tốn cả thời gian người thứ hai) · note cũ đọc lại sau 1 tuần không còn hiểu.</a:t>
            </a:r>
          </a:p>
        </p:txBody>
      </p:sp>
      <p:sp>
        <p:nvSpPr>
          <p:cNvPr id="48" name="TextBox 47"/>
          <p:cNvSpPr txBox="1"/>
          <p:nvPr/>
        </p:nvSpPr>
        <p:spPr>
          <a:xfrm>
            <a:off x="640080" y="6400800"/>
            <a:ext cx="8229600" cy="274320"/>
          </a:xfrm>
          <a:prstGeom prst="rect">
            <a:avLst/>
          </a:prstGeom>
          <a:noFill/>
        </p:spPr>
        <p:txBody>
          <a:bodyPr wrap="square" anchor="t" lIns="0" rIns="0" tIns="0" bIns="0">
            <a:spAutoFit/>
          </a:bodyPr>
          <a:lstStyle/>
          <a:p>
            <a:pPr algn="l">
              <a:lnSpc>
                <a:spcPct val="105000"/>
              </a:lnSpc>
              <a:spcAft>
                <a:spcPts val="600"/>
              </a:spcAft>
            </a:pPr>
            <a:r>
              <a:rPr sz="900" b="0">
                <a:solidFill>
                  <a:srgbClr val="6B7280"/>
                </a:solidFill>
                <a:latin typeface="Arial"/>
              </a:rPr>
              <a:t>Day 02 Lab · K4A · Nhóm 6 người · Candidate: Meeting note</a:t>
            </a:r>
          </a:p>
        </p:txBody>
      </p:sp>
      <p:sp>
        <p:nvSpPr>
          <p:cNvPr id="49" name="TextBox 48"/>
          <p:cNvSpPr txBox="1"/>
          <p:nvPr/>
        </p:nvSpPr>
        <p:spPr>
          <a:xfrm>
            <a:off x="11002975" y="6400800"/>
            <a:ext cx="548640" cy="274320"/>
          </a:xfrm>
          <a:prstGeom prst="rect">
            <a:avLst/>
          </a:prstGeom>
          <a:noFill/>
        </p:spPr>
        <p:txBody>
          <a:bodyPr wrap="square" anchor="t" lIns="0" rIns="0" tIns="0" bIns="0">
            <a:spAutoFit/>
          </a:bodyPr>
          <a:lstStyle/>
          <a:p>
            <a:pPr algn="r">
              <a:lnSpc>
                <a:spcPct val="105000"/>
              </a:lnSpc>
              <a:spcAft>
                <a:spcPts val="600"/>
              </a:spcAft>
            </a:pPr>
            <a:r>
              <a:rPr sz="900" b="1">
                <a:solidFill>
                  <a:srgbClr val="6B728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
            <a:ext cx="10972800" cy="274320"/>
          </a:xfrm>
          <a:prstGeom prst="rect">
            <a:avLst/>
          </a:prstGeom>
          <a:noFill/>
        </p:spPr>
        <p:txBody>
          <a:bodyPr wrap="square" anchor="t" lIns="0" rIns="0" tIns="0" bIns="0">
            <a:spAutoFit/>
          </a:bodyPr>
          <a:lstStyle/>
          <a:p>
            <a:pPr algn="l">
              <a:lnSpc>
                <a:spcPct val="105000"/>
              </a:lnSpc>
              <a:spcAft>
                <a:spcPts val="600"/>
              </a:spcAft>
            </a:pPr>
            <a:r>
              <a:rPr sz="1100" b="1">
                <a:solidFill>
                  <a:srgbClr val="E0A458"/>
                </a:solidFill>
                <a:latin typeface="Arial"/>
              </a:rPr>
              <a:t>PHASE 5.2</a:t>
            </a:r>
          </a:p>
        </p:txBody>
      </p:sp>
      <p:sp>
        <p:nvSpPr>
          <p:cNvPr id="6" name="TextBox 5"/>
          <p:cNvSpPr txBox="1"/>
          <p:nvPr/>
        </p:nvSpPr>
        <p:spPr>
          <a:xfrm>
            <a:off x="640080" y="475488"/>
            <a:ext cx="10972800" cy="548640"/>
          </a:xfrm>
          <a:prstGeom prst="rect">
            <a:avLst/>
          </a:prstGeom>
          <a:noFill/>
        </p:spPr>
        <p:txBody>
          <a:bodyPr wrap="square" anchor="t" lIns="0" rIns="0" tIns="0" bIns="0">
            <a:spAutoFit/>
          </a:bodyPr>
          <a:lstStyle/>
          <a:p>
            <a:pPr algn="l">
              <a:lnSpc>
                <a:spcPct val="105000"/>
              </a:lnSpc>
              <a:spcAft>
                <a:spcPts val="600"/>
              </a:spcAft>
            </a:pPr>
            <a:r>
              <a:rPr sz="2600" b="1">
                <a:solidFill>
                  <a:srgbClr val="FFFFFF"/>
                </a:solidFill>
                <a:latin typeface="Arial"/>
              </a:rPr>
              <a:t>Workflow sau tối ưu — 5 bước, mục tiêu ≤ 5 phút</a:t>
            </a:r>
          </a:p>
        </p:txBody>
      </p:sp>
      <p:sp>
        <p:nvSpPr>
          <p:cNvPr id="7" name="Rectangle 6"/>
          <p:cNvSpPr/>
          <p:nvPr/>
        </p:nvSpPr>
        <p:spPr>
          <a:xfrm>
            <a:off x="548640" y="1783080"/>
            <a:ext cx="2148840" cy="1874519"/>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2148840" cy="73152"/>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65960"/>
            <a:ext cx="2148840" cy="274320"/>
          </a:xfrm>
          <a:prstGeom prst="rect">
            <a:avLst/>
          </a:prstGeom>
          <a:noFill/>
        </p:spPr>
        <p:txBody>
          <a:bodyPr wrap="square" anchor="t" lIns="0" rIns="0" tIns="0" bIns="0">
            <a:spAutoFit/>
          </a:bodyPr>
          <a:lstStyle/>
          <a:p>
            <a:pPr algn="ctr">
              <a:lnSpc>
                <a:spcPct val="105000"/>
              </a:lnSpc>
              <a:spcAft>
                <a:spcPts val="600"/>
              </a:spcAft>
            </a:pPr>
            <a:r>
              <a:rPr sz="1300" b="1">
                <a:solidFill>
                  <a:srgbClr val="6B7280"/>
                </a:solidFill>
                <a:latin typeface="Arial"/>
              </a:rPr>
              <a:t>1</a:t>
            </a:r>
          </a:p>
        </p:txBody>
      </p:sp>
      <p:sp>
        <p:nvSpPr>
          <p:cNvPr id="10" name="TextBox 9"/>
          <p:cNvSpPr txBox="1"/>
          <p:nvPr/>
        </p:nvSpPr>
        <p:spPr>
          <a:xfrm>
            <a:off x="658368" y="2304288"/>
            <a:ext cx="1929384" cy="822960"/>
          </a:xfrm>
          <a:prstGeom prst="rect">
            <a:avLst/>
          </a:prstGeom>
          <a:noFill/>
        </p:spPr>
        <p:txBody>
          <a:bodyPr wrap="square" anchor="t" lIns="0" rIns="0" tIns="0" bIns="0">
            <a:spAutoFit/>
          </a:bodyPr>
          <a:lstStyle/>
          <a:p>
            <a:pPr algn="ctr">
              <a:lnSpc>
                <a:spcPct val="105000"/>
              </a:lnSpc>
              <a:spcAft>
                <a:spcPts val="100"/>
              </a:spcAft>
            </a:pPr>
            <a:r>
              <a:rPr sz="1100" b="0">
                <a:solidFill>
                  <a:srgbClr val="1F2933"/>
                </a:solidFill>
                <a:latin typeface="Arial"/>
              </a:rPr>
              <a:t>Ghi âm + auto</a:t>
            </a:r>
          </a:p>
          <a:p>
            <a:pPr algn="ctr">
              <a:lnSpc>
                <a:spcPct val="105000"/>
              </a:lnSpc>
              <a:spcAft>
                <a:spcPts val="100"/>
              </a:spcAft>
            </a:pPr>
            <a:r>
              <a:rPr sz="1100" b="0">
                <a:solidFill>
                  <a:srgbClr val="1F2933"/>
                </a:solidFill>
                <a:latin typeface="Arial"/>
              </a:rPr>
              <a:t>transcript</a:t>
            </a:r>
          </a:p>
        </p:txBody>
      </p:sp>
      <p:sp>
        <p:nvSpPr>
          <p:cNvPr id="11" name="TextBox 10"/>
          <p:cNvSpPr txBox="1"/>
          <p:nvPr/>
        </p:nvSpPr>
        <p:spPr>
          <a:xfrm>
            <a:off x="548640" y="3127248"/>
            <a:ext cx="2148840" cy="274320"/>
          </a:xfrm>
          <a:prstGeom prst="rect">
            <a:avLst/>
          </a:prstGeom>
          <a:noFill/>
        </p:spPr>
        <p:txBody>
          <a:bodyPr wrap="square" anchor="t" lIns="0" rIns="0" tIns="0" bIns="0">
            <a:spAutoFit/>
          </a:bodyPr>
          <a:lstStyle/>
          <a:p>
            <a:pPr algn="ctr">
              <a:lnSpc>
                <a:spcPct val="105000"/>
              </a:lnSpc>
              <a:spcAft>
                <a:spcPts val="600"/>
              </a:spcAft>
            </a:pPr>
            <a:r>
              <a:rPr sz="1500" b="1">
                <a:solidFill>
                  <a:srgbClr val="1F2933"/>
                </a:solidFill>
                <a:latin typeface="Arial"/>
              </a:rPr>
              <a:t>0' người</a:t>
            </a:r>
          </a:p>
        </p:txBody>
      </p:sp>
      <p:sp>
        <p:nvSpPr>
          <p:cNvPr id="12" name="TextBox 11"/>
          <p:cNvSpPr txBox="1"/>
          <p:nvPr/>
        </p:nvSpPr>
        <p:spPr>
          <a:xfrm>
            <a:off x="548640" y="3401568"/>
            <a:ext cx="2148840" cy="228600"/>
          </a:xfrm>
          <a:prstGeom prst="rect">
            <a:avLst/>
          </a:prstGeom>
          <a:noFill/>
        </p:spPr>
        <p:txBody>
          <a:bodyPr wrap="square" anchor="t" lIns="0" rIns="0" tIns="0" bIns="0">
            <a:spAutoFit/>
          </a:bodyPr>
          <a:lstStyle/>
          <a:p>
            <a:pPr algn="ctr">
              <a:lnSpc>
                <a:spcPct val="105000"/>
              </a:lnSpc>
              <a:spcAft>
                <a:spcPts val="600"/>
              </a:spcAft>
            </a:pPr>
            <a:r>
              <a:rPr sz="850" b="1">
                <a:solidFill>
                  <a:srgbClr val="6B7280"/>
                </a:solidFill>
                <a:latin typeface="Arial"/>
              </a:rPr>
              <a:t>MÁY</a:t>
            </a:r>
          </a:p>
        </p:txBody>
      </p:sp>
      <p:sp>
        <p:nvSpPr>
          <p:cNvPr id="13" name="Rectangle 12"/>
          <p:cNvSpPr/>
          <p:nvPr/>
        </p:nvSpPr>
        <p:spPr>
          <a:xfrm>
            <a:off x="2807208" y="1783080"/>
            <a:ext cx="2148840" cy="1874519"/>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07208" y="1783080"/>
            <a:ext cx="2148840" cy="73152"/>
          </a:xfrm>
          <a:prstGeom prst="rect">
            <a:avLst/>
          </a:prstGeom>
          <a:solidFill>
            <a:srgbClr val="1F77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07208" y="1965960"/>
            <a:ext cx="2148840" cy="274320"/>
          </a:xfrm>
          <a:prstGeom prst="rect">
            <a:avLst/>
          </a:prstGeom>
          <a:noFill/>
        </p:spPr>
        <p:txBody>
          <a:bodyPr wrap="square" anchor="t" lIns="0" rIns="0" tIns="0" bIns="0">
            <a:spAutoFit/>
          </a:bodyPr>
          <a:lstStyle/>
          <a:p>
            <a:pPr algn="ctr">
              <a:lnSpc>
                <a:spcPct val="105000"/>
              </a:lnSpc>
              <a:spcAft>
                <a:spcPts val="600"/>
              </a:spcAft>
            </a:pPr>
            <a:r>
              <a:rPr sz="1300" b="1">
                <a:solidFill>
                  <a:srgbClr val="1F7772"/>
                </a:solidFill>
                <a:latin typeface="Arial"/>
              </a:rPr>
              <a:t>2</a:t>
            </a:r>
          </a:p>
        </p:txBody>
      </p:sp>
      <p:sp>
        <p:nvSpPr>
          <p:cNvPr id="16" name="TextBox 15"/>
          <p:cNvSpPr txBox="1"/>
          <p:nvPr/>
        </p:nvSpPr>
        <p:spPr>
          <a:xfrm>
            <a:off x="2916936" y="2304288"/>
            <a:ext cx="1929384" cy="822960"/>
          </a:xfrm>
          <a:prstGeom prst="rect">
            <a:avLst/>
          </a:prstGeom>
          <a:noFill/>
        </p:spPr>
        <p:txBody>
          <a:bodyPr wrap="square" anchor="t" lIns="0" rIns="0" tIns="0" bIns="0">
            <a:spAutoFit/>
          </a:bodyPr>
          <a:lstStyle/>
          <a:p>
            <a:pPr algn="ctr">
              <a:lnSpc>
                <a:spcPct val="105000"/>
              </a:lnSpc>
              <a:spcAft>
                <a:spcPts val="100"/>
              </a:spcAft>
            </a:pPr>
            <a:r>
              <a:rPr sz="1100" b="0">
                <a:solidFill>
                  <a:srgbClr val="1F2933"/>
                </a:solidFill>
                <a:latin typeface="Arial"/>
              </a:rPr>
              <a:t>Nạp gói ngữ cảnh:</a:t>
            </a:r>
          </a:p>
          <a:p>
            <a:pPr algn="ctr">
              <a:lnSpc>
                <a:spcPct val="105000"/>
              </a:lnSpc>
              <a:spcAft>
                <a:spcPts val="100"/>
              </a:spcAft>
            </a:pPr>
            <a:r>
              <a:rPr sz="1100" b="0">
                <a:solidFill>
                  <a:srgbClr val="1F2933"/>
                </a:solidFill>
                <a:latin typeface="Arial"/>
              </a:rPr>
              <a:t>glossary + milestone</a:t>
            </a:r>
          </a:p>
        </p:txBody>
      </p:sp>
      <p:sp>
        <p:nvSpPr>
          <p:cNvPr id="17" name="TextBox 16"/>
          <p:cNvSpPr txBox="1"/>
          <p:nvPr/>
        </p:nvSpPr>
        <p:spPr>
          <a:xfrm>
            <a:off x="2807208" y="3127248"/>
            <a:ext cx="2148840" cy="274320"/>
          </a:xfrm>
          <a:prstGeom prst="rect">
            <a:avLst/>
          </a:prstGeom>
          <a:noFill/>
        </p:spPr>
        <p:txBody>
          <a:bodyPr wrap="square" anchor="t" lIns="0" rIns="0" tIns="0" bIns="0">
            <a:spAutoFit/>
          </a:bodyPr>
          <a:lstStyle/>
          <a:p>
            <a:pPr algn="ctr">
              <a:lnSpc>
                <a:spcPct val="105000"/>
              </a:lnSpc>
              <a:spcAft>
                <a:spcPts val="600"/>
              </a:spcAft>
            </a:pPr>
            <a:r>
              <a:rPr sz="1500" b="1">
                <a:solidFill>
                  <a:srgbClr val="1F2933"/>
                </a:solidFill>
                <a:latin typeface="Arial"/>
              </a:rPr>
              <a:t>0.5'</a:t>
            </a:r>
          </a:p>
        </p:txBody>
      </p:sp>
      <p:sp>
        <p:nvSpPr>
          <p:cNvPr id="18" name="TextBox 17"/>
          <p:cNvSpPr txBox="1"/>
          <p:nvPr/>
        </p:nvSpPr>
        <p:spPr>
          <a:xfrm>
            <a:off x="2807208" y="3401568"/>
            <a:ext cx="2148840" cy="228600"/>
          </a:xfrm>
          <a:prstGeom prst="rect">
            <a:avLst/>
          </a:prstGeom>
          <a:noFill/>
        </p:spPr>
        <p:txBody>
          <a:bodyPr wrap="square" anchor="t" lIns="0" rIns="0" tIns="0" bIns="0">
            <a:spAutoFit/>
          </a:bodyPr>
          <a:lstStyle/>
          <a:p>
            <a:pPr algn="ctr">
              <a:lnSpc>
                <a:spcPct val="105000"/>
              </a:lnSpc>
              <a:spcAft>
                <a:spcPts val="600"/>
              </a:spcAft>
            </a:pPr>
            <a:r>
              <a:rPr sz="850" b="1">
                <a:solidFill>
                  <a:srgbClr val="1F7772"/>
                </a:solidFill>
                <a:latin typeface="Arial"/>
              </a:rPr>
              <a:t>RULE</a:t>
            </a:r>
          </a:p>
        </p:txBody>
      </p:sp>
      <p:sp>
        <p:nvSpPr>
          <p:cNvPr id="19" name="Rectangle 18"/>
          <p:cNvSpPr/>
          <p:nvPr/>
        </p:nvSpPr>
        <p:spPr>
          <a:xfrm>
            <a:off x="5065776" y="1783080"/>
            <a:ext cx="2148840" cy="1874519"/>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65776" y="1783080"/>
            <a:ext cx="2148840" cy="73152"/>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65776" y="1965960"/>
            <a:ext cx="2148840" cy="274320"/>
          </a:xfrm>
          <a:prstGeom prst="rect">
            <a:avLst/>
          </a:prstGeom>
          <a:noFill/>
        </p:spPr>
        <p:txBody>
          <a:bodyPr wrap="square" anchor="t" lIns="0" rIns="0" tIns="0" bIns="0">
            <a:spAutoFit/>
          </a:bodyPr>
          <a:lstStyle/>
          <a:p>
            <a:pPr algn="ctr">
              <a:lnSpc>
                <a:spcPct val="105000"/>
              </a:lnSpc>
              <a:spcAft>
                <a:spcPts val="600"/>
              </a:spcAft>
            </a:pPr>
            <a:r>
              <a:rPr sz="1300" b="1">
                <a:solidFill>
                  <a:srgbClr val="10263A"/>
                </a:solidFill>
                <a:latin typeface="Arial"/>
              </a:rPr>
              <a:t>3</a:t>
            </a:r>
          </a:p>
        </p:txBody>
      </p:sp>
      <p:sp>
        <p:nvSpPr>
          <p:cNvPr id="22" name="TextBox 21"/>
          <p:cNvSpPr txBox="1"/>
          <p:nvPr/>
        </p:nvSpPr>
        <p:spPr>
          <a:xfrm>
            <a:off x="5175504" y="2304288"/>
            <a:ext cx="1929384" cy="822960"/>
          </a:xfrm>
          <a:prstGeom prst="rect">
            <a:avLst/>
          </a:prstGeom>
          <a:noFill/>
        </p:spPr>
        <p:txBody>
          <a:bodyPr wrap="square" anchor="t" lIns="0" rIns="0" tIns="0" bIns="0">
            <a:spAutoFit/>
          </a:bodyPr>
          <a:lstStyle/>
          <a:p>
            <a:pPr algn="ctr">
              <a:lnSpc>
                <a:spcPct val="105000"/>
              </a:lnSpc>
              <a:spcAft>
                <a:spcPts val="100"/>
              </a:spcAft>
            </a:pPr>
            <a:r>
              <a:rPr sz="1100" b="0">
                <a:solidFill>
                  <a:srgbClr val="1F2933"/>
                </a:solidFill>
                <a:latin typeface="Arial"/>
              </a:rPr>
              <a:t>AI draft theo</a:t>
            </a:r>
          </a:p>
          <a:p>
            <a:pPr algn="ctr">
              <a:lnSpc>
                <a:spcPct val="105000"/>
              </a:lnSpc>
              <a:spcAft>
                <a:spcPts val="100"/>
              </a:spcAft>
            </a:pPr>
            <a:r>
              <a:rPr sz="1100" b="0">
                <a:solidFill>
                  <a:srgbClr val="1F2933"/>
                </a:solidFill>
                <a:latin typeface="Arial"/>
              </a:rPr>
              <a:t>template 4 mục</a:t>
            </a:r>
          </a:p>
        </p:txBody>
      </p:sp>
      <p:sp>
        <p:nvSpPr>
          <p:cNvPr id="23" name="TextBox 22"/>
          <p:cNvSpPr txBox="1"/>
          <p:nvPr/>
        </p:nvSpPr>
        <p:spPr>
          <a:xfrm>
            <a:off x="5065776" y="3127248"/>
            <a:ext cx="2148840" cy="274320"/>
          </a:xfrm>
          <a:prstGeom prst="rect">
            <a:avLst/>
          </a:prstGeom>
          <a:noFill/>
        </p:spPr>
        <p:txBody>
          <a:bodyPr wrap="square" anchor="t" lIns="0" rIns="0" tIns="0" bIns="0">
            <a:spAutoFit/>
          </a:bodyPr>
          <a:lstStyle/>
          <a:p>
            <a:pPr algn="ctr">
              <a:lnSpc>
                <a:spcPct val="105000"/>
              </a:lnSpc>
              <a:spcAft>
                <a:spcPts val="600"/>
              </a:spcAft>
            </a:pPr>
            <a:r>
              <a:rPr sz="1500" b="1">
                <a:solidFill>
                  <a:srgbClr val="1F2933"/>
                </a:solidFill>
                <a:latin typeface="Arial"/>
              </a:rPr>
              <a:t>1'</a:t>
            </a:r>
          </a:p>
        </p:txBody>
      </p:sp>
      <p:sp>
        <p:nvSpPr>
          <p:cNvPr id="24" name="TextBox 23"/>
          <p:cNvSpPr txBox="1"/>
          <p:nvPr/>
        </p:nvSpPr>
        <p:spPr>
          <a:xfrm>
            <a:off x="5065776" y="3401568"/>
            <a:ext cx="2148840" cy="228600"/>
          </a:xfrm>
          <a:prstGeom prst="rect">
            <a:avLst/>
          </a:prstGeom>
          <a:noFill/>
        </p:spPr>
        <p:txBody>
          <a:bodyPr wrap="square" anchor="t" lIns="0" rIns="0" tIns="0" bIns="0">
            <a:spAutoFit/>
          </a:bodyPr>
          <a:lstStyle/>
          <a:p>
            <a:pPr algn="ctr">
              <a:lnSpc>
                <a:spcPct val="105000"/>
              </a:lnSpc>
              <a:spcAft>
                <a:spcPts val="600"/>
              </a:spcAft>
            </a:pPr>
            <a:r>
              <a:rPr sz="850" b="1">
                <a:solidFill>
                  <a:srgbClr val="10263A"/>
                </a:solidFill>
                <a:latin typeface="Arial"/>
              </a:rPr>
              <a:t>AI</a:t>
            </a:r>
          </a:p>
        </p:txBody>
      </p:sp>
      <p:sp>
        <p:nvSpPr>
          <p:cNvPr id="25" name="Rectangle 24"/>
          <p:cNvSpPr/>
          <p:nvPr/>
        </p:nvSpPr>
        <p:spPr>
          <a:xfrm>
            <a:off x="7324344" y="1783080"/>
            <a:ext cx="2148840" cy="1874519"/>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4344" y="1783080"/>
            <a:ext cx="2148840" cy="73152"/>
          </a:xfrm>
          <a:prstGeom prst="rect">
            <a:avLst/>
          </a:prstGeom>
          <a:solidFill>
            <a:srgbClr val="B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24344" y="1965960"/>
            <a:ext cx="2148840" cy="274320"/>
          </a:xfrm>
          <a:prstGeom prst="rect">
            <a:avLst/>
          </a:prstGeom>
          <a:noFill/>
        </p:spPr>
        <p:txBody>
          <a:bodyPr wrap="square" anchor="t" lIns="0" rIns="0" tIns="0" bIns="0">
            <a:spAutoFit/>
          </a:bodyPr>
          <a:lstStyle/>
          <a:p>
            <a:pPr algn="ctr">
              <a:lnSpc>
                <a:spcPct val="105000"/>
              </a:lnSpc>
              <a:spcAft>
                <a:spcPts val="600"/>
              </a:spcAft>
            </a:pPr>
            <a:r>
              <a:rPr sz="1300" b="1">
                <a:solidFill>
                  <a:srgbClr val="B03A2B"/>
                </a:solidFill>
                <a:latin typeface="Arial"/>
              </a:rPr>
              <a:t>4</a:t>
            </a:r>
          </a:p>
        </p:txBody>
      </p:sp>
      <p:sp>
        <p:nvSpPr>
          <p:cNvPr id="28" name="TextBox 27"/>
          <p:cNvSpPr txBox="1"/>
          <p:nvPr/>
        </p:nvSpPr>
        <p:spPr>
          <a:xfrm>
            <a:off x="7434072" y="2304288"/>
            <a:ext cx="1929384" cy="822960"/>
          </a:xfrm>
          <a:prstGeom prst="rect">
            <a:avLst/>
          </a:prstGeom>
          <a:noFill/>
        </p:spPr>
        <p:txBody>
          <a:bodyPr wrap="square" anchor="t" lIns="0" rIns="0" tIns="0" bIns="0">
            <a:spAutoFit/>
          </a:bodyPr>
          <a:lstStyle/>
          <a:p>
            <a:pPr algn="ctr">
              <a:lnSpc>
                <a:spcPct val="105000"/>
              </a:lnSpc>
              <a:spcAft>
                <a:spcPts val="100"/>
              </a:spcAft>
            </a:pPr>
            <a:r>
              <a:rPr sz="1100" b="0">
                <a:solidFill>
                  <a:srgbClr val="1F2933"/>
                </a:solidFill>
                <a:latin typeface="Arial"/>
              </a:rPr>
              <a:t>Người dự họp</a:t>
            </a:r>
          </a:p>
          <a:p>
            <a:pPr algn="ctr">
              <a:lnSpc>
                <a:spcPct val="105000"/>
              </a:lnSpc>
              <a:spcAft>
                <a:spcPts val="100"/>
              </a:spcAft>
            </a:pPr>
            <a:r>
              <a:rPr sz="1100" b="0">
                <a:solidFill>
                  <a:srgbClr val="1F2933"/>
                </a:solidFill>
                <a:latin typeface="Arial"/>
              </a:rPr>
              <a:t>review &amp; sửa</a:t>
            </a:r>
          </a:p>
        </p:txBody>
      </p:sp>
      <p:sp>
        <p:nvSpPr>
          <p:cNvPr id="29" name="TextBox 28"/>
          <p:cNvSpPr txBox="1"/>
          <p:nvPr/>
        </p:nvSpPr>
        <p:spPr>
          <a:xfrm>
            <a:off x="7324344" y="3127248"/>
            <a:ext cx="2148840" cy="274320"/>
          </a:xfrm>
          <a:prstGeom prst="rect">
            <a:avLst/>
          </a:prstGeom>
          <a:noFill/>
        </p:spPr>
        <p:txBody>
          <a:bodyPr wrap="square" anchor="t" lIns="0" rIns="0" tIns="0" bIns="0">
            <a:spAutoFit/>
          </a:bodyPr>
          <a:lstStyle/>
          <a:p>
            <a:pPr algn="ctr">
              <a:lnSpc>
                <a:spcPct val="105000"/>
              </a:lnSpc>
              <a:spcAft>
                <a:spcPts val="600"/>
              </a:spcAft>
            </a:pPr>
            <a:r>
              <a:rPr sz="1500" b="1">
                <a:solidFill>
                  <a:srgbClr val="1F2933"/>
                </a:solidFill>
                <a:latin typeface="Arial"/>
              </a:rPr>
              <a:t>3–4'</a:t>
            </a:r>
          </a:p>
        </p:txBody>
      </p:sp>
      <p:sp>
        <p:nvSpPr>
          <p:cNvPr id="30" name="TextBox 29"/>
          <p:cNvSpPr txBox="1"/>
          <p:nvPr/>
        </p:nvSpPr>
        <p:spPr>
          <a:xfrm>
            <a:off x="7324344" y="3401568"/>
            <a:ext cx="2148840" cy="228600"/>
          </a:xfrm>
          <a:prstGeom prst="rect">
            <a:avLst/>
          </a:prstGeom>
          <a:noFill/>
        </p:spPr>
        <p:txBody>
          <a:bodyPr wrap="square" anchor="t" lIns="0" rIns="0" tIns="0" bIns="0">
            <a:spAutoFit/>
          </a:bodyPr>
          <a:lstStyle/>
          <a:p>
            <a:pPr algn="ctr">
              <a:lnSpc>
                <a:spcPct val="105000"/>
              </a:lnSpc>
              <a:spcAft>
                <a:spcPts val="600"/>
              </a:spcAft>
            </a:pPr>
            <a:r>
              <a:rPr sz="850" b="1">
                <a:solidFill>
                  <a:srgbClr val="B03A2B"/>
                </a:solidFill>
                <a:latin typeface="Arial"/>
              </a:rPr>
              <a:t>NGƯỜI · BOUNDARY</a:t>
            </a:r>
          </a:p>
        </p:txBody>
      </p:sp>
      <p:sp>
        <p:nvSpPr>
          <p:cNvPr id="31" name="Rectangle 30"/>
          <p:cNvSpPr/>
          <p:nvPr/>
        </p:nvSpPr>
        <p:spPr>
          <a:xfrm>
            <a:off x="9582912" y="1783080"/>
            <a:ext cx="2148840" cy="1874519"/>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82912" y="1783080"/>
            <a:ext cx="2148840" cy="73152"/>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82912" y="1965960"/>
            <a:ext cx="2148840" cy="274320"/>
          </a:xfrm>
          <a:prstGeom prst="rect">
            <a:avLst/>
          </a:prstGeom>
          <a:noFill/>
        </p:spPr>
        <p:txBody>
          <a:bodyPr wrap="square" anchor="t" lIns="0" rIns="0" tIns="0" bIns="0">
            <a:spAutoFit/>
          </a:bodyPr>
          <a:lstStyle/>
          <a:p>
            <a:pPr algn="ctr">
              <a:lnSpc>
                <a:spcPct val="105000"/>
              </a:lnSpc>
              <a:spcAft>
                <a:spcPts val="600"/>
              </a:spcAft>
            </a:pPr>
            <a:r>
              <a:rPr sz="1300" b="1">
                <a:solidFill>
                  <a:srgbClr val="6B7280"/>
                </a:solidFill>
                <a:latin typeface="Arial"/>
              </a:rPr>
              <a:t>5</a:t>
            </a:r>
          </a:p>
        </p:txBody>
      </p:sp>
      <p:sp>
        <p:nvSpPr>
          <p:cNvPr id="34" name="TextBox 33"/>
          <p:cNvSpPr txBox="1"/>
          <p:nvPr/>
        </p:nvSpPr>
        <p:spPr>
          <a:xfrm>
            <a:off x="9692640" y="2304288"/>
            <a:ext cx="1929384" cy="822960"/>
          </a:xfrm>
          <a:prstGeom prst="rect">
            <a:avLst/>
          </a:prstGeom>
          <a:noFill/>
        </p:spPr>
        <p:txBody>
          <a:bodyPr wrap="square" anchor="t" lIns="0" rIns="0" tIns="0" bIns="0">
            <a:spAutoFit/>
          </a:bodyPr>
          <a:lstStyle/>
          <a:p>
            <a:pPr algn="ctr">
              <a:lnSpc>
                <a:spcPct val="105000"/>
              </a:lnSpc>
              <a:spcAft>
                <a:spcPts val="100"/>
              </a:spcAft>
            </a:pPr>
            <a:r>
              <a:rPr sz="1100" b="0">
                <a:solidFill>
                  <a:srgbClr val="1F2933"/>
                </a:solidFill>
                <a:latin typeface="Arial"/>
              </a:rPr>
              <a:t>Lưu vào Notion</a:t>
            </a:r>
          </a:p>
        </p:txBody>
      </p:sp>
      <p:sp>
        <p:nvSpPr>
          <p:cNvPr id="35" name="TextBox 34"/>
          <p:cNvSpPr txBox="1"/>
          <p:nvPr/>
        </p:nvSpPr>
        <p:spPr>
          <a:xfrm>
            <a:off x="9582912" y="3127248"/>
            <a:ext cx="2148840" cy="274320"/>
          </a:xfrm>
          <a:prstGeom prst="rect">
            <a:avLst/>
          </a:prstGeom>
          <a:noFill/>
        </p:spPr>
        <p:txBody>
          <a:bodyPr wrap="square" anchor="t" lIns="0" rIns="0" tIns="0" bIns="0">
            <a:spAutoFit/>
          </a:bodyPr>
          <a:lstStyle/>
          <a:p>
            <a:pPr algn="ctr">
              <a:lnSpc>
                <a:spcPct val="105000"/>
              </a:lnSpc>
              <a:spcAft>
                <a:spcPts val="600"/>
              </a:spcAft>
            </a:pPr>
            <a:r>
              <a:rPr sz="1500" b="1">
                <a:solidFill>
                  <a:srgbClr val="1F2933"/>
                </a:solidFill>
                <a:latin typeface="Arial"/>
              </a:rPr>
              <a:t>0.5'</a:t>
            </a:r>
          </a:p>
        </p:txBody>
      </p:sp>
      <p:sp>
        <p:nvSpPr>
          <p:cNvPr id="36" name="TextBox 35"/>
          <p:cNvSpPr txBox="1"/>
          <p:nvPr/>
        </p:nvSpPr>
        <p:spPr>
          <a:xfrm>
            <a:off x="9582912" y="3401568"/>
            <a:ext cx="2148840" cy="228600"/>
          </a:xfrm>
          <a:prstGeom prst="rect">
            <a:avLst/>
          </a:prstGeom>
          <a:noFill/>
        </p:spPr>
        <p:txBody>
          <a:bodyPr wrap="square" anchor="t" lIns="0" rIns="0" tIns="0" bIns="0">
            <a:spAutoFit/>
          </a:bodyPr>
          <a:lstStyle/>
          <a:p>
            <a:pPr algn="ctr">
              <a:lnSpc>
                <a:spcPct val="105000"/>
              </a:lnSpc>
              <a:spcAft>
                <a:spcPts val="600"/>
              </a:spcAft>
            </a:pPr>
            <a:r>
              <a:rPr sz="850" b="1">
                <a:solidFill>
                  <a:srgbClr val="6B7280"/>
                </a:solidFill>
                <a:latin typeface="Arial"/>
              </a:rPr>
              <a:t>MÁY</a:t>
            </a:r>
          </a:p>
        </p:txBody>
      </p:sp>
      <p:sp>
        <p:nvSpPr>
          <p:cNvPr id="37" name="Rectangle 36"/>
          <p:cNvSpPr/>
          <p:nvPr/>
        </p:nvSpPr>
        <p:spPr>
          <a:xfrm>
            <a:off x="548640" y="3886200"/>
            <a:ext cx="5440680" cy="123444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3886200"/>
            <a:ext cx="64008" cy="1234440"/>
          </a:xfrm>
          <a:prstGeom prst="rect">
            <a:avLst/>
          </a:prstGeom>
          <a:solidFill>
            <a:srgbClr val="1F77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2" y="4050792"/>
            <a:ext cx="4983480" cy="365760"/>
          </a:xfrm>
          <a:prstGeom prst="rect">
            <a:avLst/>
          </a:prstGeom>
          <a:noFill/>
        </p:spPr>
        <p:txBody>
          <a:bodyPr wrap="square" anchor="t" lIns="0" rIns="0" tIns="0" bIns="0">
            <a:spAutoFit/>
          </a:bodyPr>
          <a:lstStyle/>
          <a:p>
            <a:pPr algn="l">
              <a:lnSpc>
                <a:spcPct val="105000"/>
              </a:lnSpc>
              <a:spcAft>
                <a:spcPts val="600"/>
              </a:spcAft>
            </a:pPr>
            <a:r>
              <a:rPr sz="1300" b="1">
                <a:solidFill>
                  <a:srgbClr val="1F7772"/>
                </a:solidFill>
                <a:latin typeface="Arial"/>
              </a:rPr>
              <a:t>Bước giải nghẽn lại là bước KHÔNG dùng AI</a:t>
            </a:r>
          </a:p>
        </p:txBody>
      </p:sp>
      <p:sp>
        <p:nvSpPr>
          <p:cNvPr id="40" name="TextBox 39"/>
          <p:cNvSpPr txBox="1"/>
          <p:nvPr/>
        </p:nvSpPr>
        <p:spPr>
          <a:xfrm>
            <a:off x="804672" y="4453128"/>
            <a:ext cx="4983480" cy="50292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Bước 2 chỉ là ghép một file glossary.md do team duy trì: tên module, từ viết tắt, tên người + vai trò, milestone, 3 quyết định gần nhất.</a:t>
            </a:r>
          </a:p>
          <a:p>
            <a:pPr algn="l">
              <a:lnSpc>
                <a:spcPct val="112000"/>
              </a:lnSpc>
              <a:spcAft>
                <a:spcPts val="500"/>
              </a:spcAft>
            </a:pPr>
            <a:r>
              <a:rPr sz="1100" b="0">
                <a:solidFill>
                  <a:srgbClr val="1F2933"/>
                </a:solidFill>
                <a:latin typeface="Arial"/>
              </a:rPr>
              <a:t>Nghẽn được giải bằng ngữ cảnh, không bằng mô hình thông minh hơn.</a:t>
            </a:r>
          </a:p>
        </p:txBody>
      </p:sp>
      <p:sp>
        <p:nvSpPr>
          <p:cNvPr id="41" name="Rectangle 40"/>
          <p:cNvSpPr/>
          <p:nvPr/>
        </p:nvSpPr>
        <p:spPr>
          <a:xfrm>
            <a:off x="6217920" y="3886200"/>
            <a:ext cx="5440680" cy="123444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17920" y="3886200"/>
            <a:ext cx="64008" cy="123444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73952" y="4050792"/>
            <a:ext cx="4983480" cy="365760"/>
          </a:xfrm>
          <a:prstGeom prst="rect">
            <a:avLst/>
          </a:prstGeom>
          <a:noFill/>
        </p:spPr>
        <p:txBody>
          <a:bodyPr wrap="square" anchor="t" lIns="0" rIns="0" tIns="0" bIns="0">
            <a:spAutoFit/>
          </a:bodyPr>
          <a:lstStyle/>
          <a:p>
            <a:pPr algn="l">
              <a:lnSpc>
                <a:spcPct val="105000"/>
              </a:lnSpc>
              <a:spcAft>
                <a:spcPts val="600"/>
              </a:spcAft>
            </a:pPr>
            <a:r>
              <a:rPr sz="1300" b="1">
                <a:solidFill>
                  <a:srgbClr val="10263A"/>
                </a:solidFill>
                <a:latin typeface="Arial"/>
              </a:rPr>
              <a:t>Template 4 mục — cũng là tài sản non-AI</a:t>
            </a:r>
          </a:p>
        </p:txBody>
      </p:sp>
      <p:sp>
        <p:nvSpPr>
          <p:cNvPr id="44" name="TextBox 43"/>
          <p:cNvSpPr txBox="1"/>
          <p:nvPr/>
        </p:nvSpPr>
        <p:spPr>
          <a:xfrm>
            <a:off x="6473952" y="4453128"/>
            <a:ext cx="4983480" cy="50292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(a) Quyết định đã chốt   (b) Câu hỏi còn mở</a:t>
            </a:r>
          </a:p>
          <a:p>
            <a:pPr algn="l">
              <a:lnSpc>
                <a:spcPct val="112000"/>
              </a:lnSpc>
              <a:spcAft>
                <a:spcPts val="500"/>
              </a:spcAft>
            </a:pPr>
            <a:r>
              <a:rPr sz="1100" b="0">
                <a:solidFill>
                  <a:srgbClr val="1F2933"/>
                </a:solidFill>
                <a:latin typeface="Arial"/>
              </a:rPr>
              <a:t>(c) ACTION ITEM CỦA TÔI   (d) Thuật ngữ &amp; số liệu được nhắc</a:t>
            </a:r>
          </a:p>
          <a:p>
            <a:pPr algn="l">
              <a:lnSpc>
                <a:spcPct val="112000"/>
              </a:lnSpc>
              <a:spcAft>
                <a:spcPts val="500"/>
              </a:spcAft>
            </a:pPr>
            <a:r>
              <a:rPr sz="1100" b="0">
                <a:solidFill>
                  <a:srgbClr val="1F2933"/>
                </a:solidFill>
                <a:latin typeface="Arial"/>
              </a:rPr>
              <a:t>Mỗi dòng bắt buộc trích được câu gốc trong transcript.</a:t>
            </a:r>
          </a:p>
        </p:txBody>
      </p:sp>
      <p:sp>
        <p:nvSpPr>
          <p:cNvPr id="45" name="Rectangle 44"/>
          <p:cNvSpPr/>
          <p:nvPr/>
        </p:nvSpPr>
        <p:spPr>
          <a:xfrm>
            <a:off x="548640" y="5212080"/>
            <a:ext cx="11109960" cy="96012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12080"/>
            <a:ext cx="64008" cy="960120"/>
          </a:xfrm>
          <a:prstGeom prst="rect">
            <a:avLst/>
          </a:prstGeom>
          <a:solidFill>
            <a:srgbClr val="B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4672" y="5376672"/>
            <a:ext cx="10652760" cy="365760"/>
          </a:xfrm>
          <a:prstGeom prst="rect">
            <a:avLst/>
          </a:prstGeom>
          <a:noFill/>
        </p:spPr>
        <p:txBody>
          <a:bodyPr wrap="square" anchor="t" lIns="0" rIns="0" tIns="0" bIns="0">
            <a:spAutoFit/>
          </a:bodyPr>
          <a:lstStyle/>
          <a:p>
            <a:pPr algn="l">
              <a:lnSpc>
                <a:spcPct val="105000"/>
              </a:lnSpc>
              <a:spcAft>
                <a:spcPts val="600"/>
              </a:spcAft>
            </a:pPr>
            <a:r>
              <a:rPr sz="1200" b="1">
                <a:solidFill>
                  <a:srgbClr val="B03A2B"/>
                </a:solidFill>
                <a:latin typeface="Arial"/>
              </a:rPr>
              <a:t>Fallback — quy tắc cứng, không phải khuyến nghị</a:t>
            </a:r>
          </a:p>
        </p:txBody>
      </p:sp>
      <p:sp>
        <p:nvSpPr>
          <p:cNvPr id="48" name="TextBox 47"/>
          <p:cNvSpPr txBox="1"/>
          <p:nvPr/>
        </p:nvSpPr>
        <p:spPr>
          <a:xfrm>
            <a:off x="804672" y="5779008"/>
            <a:ext cx="10652760" cy="22860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Không ghi âm được → viết tay theo đúng template (~8', vẫn tốt hơn 12') · AI bịa một quyết định → bỏ cả draft, viết tay, ghi log lỗi · Meeting nhạy cảm (nhân sự, lương, dữ liệu khách hàng) → KHÔNG đưa vào pipeline</a:t>
            </a:r>
          </a:p>
        </p:txBody>
      </p:sp>
      <p:sp>
        <p:nvSpPr>
          <p:cNvPr id="49" name="TextBox 48"/>
          <p:cNvSpPr txBox="1"/>
          <p:nvPr/>
        </p:nvSpPr>
        <p:spPr>
          <a:xfrm>
            <a:off x="640080" y="6400800"/>
            <a:ext cx="8229600" cy="274320"/>
          </a:xfrm>
          <a:prstGeom prst="rect">
            <a:avLst/>
          </a:prstGeom>
          <a:noFill/>
        </p:spPr>
        <p:txBody>
          <a:bodyPr wrap="square" anchor="t" lIns="0" rIns="0" tIns="0" bIns="0">
            <a:spAutoFit/>
          </a:bodyPr>
          <a:lstStyle/>
          <a:p>
            <a:pPr algn="l">
              <a:lnSpc>
                <a:spcPct val="105000"/>
              </a:lnSpc>
              <a:spcAft>
                <a:spcPts val="600"/>
              </a:spcAft>
            </a:pPr>
            <a:r>
              <a:rPr sz="900" b="0">
                <a:solidFill>
                  <a:srgbClr val="6B7280"/>
                </a:solidFill>
                <a:latin typeface="Arial"/>
              </a:rPr>
              <a:t>Day 02 Lab · K4A · Nhóm 6 người · Candidate: Meeting note</a:t>
            </a:r>
          </a:p>
        </p:txBody>
      </p:sp>
      <p:sp>
        <p:nvSpPr>
          <p:cNvPr id="50" name="TextBox 49"/>
          <p:cNvSpPr txBox="1"/>
          <p:nvPr/>
        </p:nvSpPr>
        <p:spPr>
          <a:xfrm>
            <a:off x="11002975" y="6400800"/>
            <a:ext cx="548640" cy="274320"/>
          </a:xfrm>
          <a:prstGeom prst="rect">
            <a:avLst/>
          </a:prstGeom>
          <a:noFill/>
        </p:spPr>
        <p:txBody>
          <a:bodyPr wrap="square" anchor="t" lIns="0" rIns="0" tIns="0" bIns="0">
            <a:spAutoFit/>
          </a:bodyPr>
          <a:lstStyle/>
          <a:p>
            <a:pPr algn="r">
              <a:lnSpc>
                <a:spcPct val="105000"/>
              </a:lnSpc>
              <a:spcAft>
                <a:spcPts val="600"/>
              </a:spcAft>
            </a:pPr>
            <a:r>
              <a:rPr sz="900" b="1">
                <a:solidFill>
                  <a:srgbClr val="6B728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
            <a:ext cx="10972800" cy="274320"/>
          </a:xfrm>
          <a:prstGeom prst="rect">
            <a:avLst/>
          </a:prstGeom>
          <a:noFill/>
        </p:spPr>
        <p:txBody>
          <a:bodyPr wrap="square" anchor="t" lIns="0" rIns="0" tIns="0" bIns="0">
            <a:spAutoFit/>
          </a:bodyPr>
          <a:lstStyle/>
          <a:p>
            <a:pPr algn="l">
              <a:lnSpc>
                <a:spcPct val="105000"/>
              </a:lnSpc>
              <a:spcAft>
                <a:spcPts val="600"/>
              </a:spcAft>
            </a:pPr>
            <a:r>
              <a:rPr sz="1100" b="1">
                <a:solidFill>
                  <a:srgbClr val="E0A458"/>
                </a:solidFill>
                <a:latin typeface="Arial"/>
              </a:rPr>
              <a:t>PHASE 5.2</a:t>
            </a:r>
          </a:p>
        </p:txBody>
      </p:sp>
      <p:sp>
        <p:nvSpPr>
          <p:cNvPr id="6" name="TextBox 5"/>
          <p:cNvSpPr txBox="1"/>
          <p:nvPr/>
        </p:nvSpPr>
        <p:spPr>
          <a:xfrm>
            <a:off x="640080" y="475488"/>
            <a:ext cx="10972800" cy="548640"/>
          </a:xfrm>
          <a:prstGeom prst="rect">
            <a:avLst/>
          </a:prstGeom>
          <a:noFill/>
        </p:spPr>
        <p:txBody>
          <a:bodyPr wrap="square" anchor="t" lIns="0" rIns="0" tIns="0" bIns="0">
            <a:spAutoFit/>
          </a:bodyPr>
          <a:lstStyle/>
          <a:p>
            <a:pPr algn="l">
              <a:lnSpc>
                <a:spcPct val="105000"/>
              </a:lnSpc>
              <a:spcAft>
                <a:spcPts val="600"/>
              </a:spcAft>
            </a:pPr>
            <a:r>
              <a:rPr sz="2600" b="1">
                <a:solidFill>
                  <a:srgbClr val="FFFFFF"/>
                </a:solidFill>
                <a:latin typeface="Arial"/>
              </a:rPr>
              <a:t>Before / After — và một metric cố ý đặt ngược</a:t>
            </a:r>
          </a:p>
        </p:txBody>
      </p:sp>
      <p:graphicFrame>
        <p:nvGraphicFramePr>
          <p:cNvPr id="7" name="Table 6"/>
          <p:cNvGraphicFramePr>
            <a:graphicFrameLocks noGrp="1"/>
          </p:cNvGraphicFramePr>
          <p:nvPr/>
        </p:nvGraphicFramePr>
        <p:xfrm>
          <a:off x="548640" y="1645920"/>
          <a:ext cx="11109960" cy="4096512"/>
        </p:xfrm>
        <a:graphic>
          <a:graphicData uri="http://schemas.openxmlformats.org/drawingml/2006/table">
            <a:tbl>
              <a:tblPr firstRow="1" bandRow="1">
                <a:tableStyleId>{5C22544A-7EE6-4342-B048-85BDC9FD1C3A}</a:tableStyleId>
              </a:tblPr>
              <a:tblGrid>
                <a:gridCol w="2743200"/>
                <a:gridCol w="1828800"/>
                <a:gridCol w="2057400"/>
                <a:gridCol w="4480560"/>
              </a:tblGrid>
              <a:tr h="365760">
                <a:tc>
                  <a:txBody>
                    <a:bodyPr wrap="square"/>
                    <a:lstStyle/>
                    <a:p>
                      <a:pPr algn="l"/>
                      <a:r>
                        <a:rPr sz="1050" b="1">
                          <a:solidFill>
                            <a:srgbClr val="FFFFFF"/>
                          </a:solidFill>
                          <a:latin typeface="Arial"/>
                        </a:rPr>
                        <a:t>Metric</a:t>
                      </a:r>
                    </a:p>
                  </a:txBody>
                  <a:tcPr marL="73152" marR="73152" marT="36576" marB="36576" anchor="ctr">
                    <a:solidFill>
                      <a:srgbClr val="10263A"/>
                    </a:solidFill>
                  </a:tcPr>
                </a:tc>
                <a:tc>
                  <a:txBody>
                    <a:bodyPr wrap="square"/>
                    <a:lstStyle/>
                    <a:p>
                      <a:pPr algn="l"/>
                      <a:r>
                        <a:rPr sz="1050" b="1">
                          <a:solidFill>
                            <a:srgbClr val="FFFFFF"/>
                          </a:solidFill>
                          <a:latin typeface="Arial"/>
                        </a:rPr>
                        <a:t>Trước</a:t>
                      </a:r>
                    </a:p>
                  </a:txBody>
                  <a:tcPr marL="73152" marR="73152" marT="36576" marB="36576" anchor="ctr">
                    <a:solidFill>
                      <a:srgbClr val="10263A"/>
                    </a:solidFill>
                  </a:tcPr>
                </a:tc>
                <a:tc>
                  <a:txBody>
                    <a:bodyPr wrap="square"/>
                    <a:lstStyle/>
                    <a:p>
                      <a:pPr algn="l"/>
                      <a:r>
                        <a:rPr sz="1050" b="1">
                          <a:solidFill>
                            <a:srgbClr val="FFFFFF"/>
                          </a:solidFill>
                          <a:latin typeface="Arial"/>
                        </a:rPr>
                        <a:t>Sau kỳ vọng</a:t>
                      </a:r>
                    </a:p>
                  </a:txBody>
                  <a:tcPr marL="73152" marR="73152" marT="36576" marB="36576" anchor="ctr">
                    <a:solidFill>
                      <a:srgbClr val="10263A"/>
                    </a:solidFill>
                  </a:tcPr>
                </a:tc>
                <a:tc>
                  <a:txBody>
                    <a:bodyPr wrap="square"/>
                    <a:lstStyle/>
                    <a:p>
                      <a:pPr algn="l"/>
                      <a:r>
                        <a:rPr sz="1050" b="1">
                          <a:solidFill>
                            <a:srgbClr val="FFFFFF"/>
                          </a:solidFill>
                          <a:latin typeface="Arial"/>
                        </a:rPr>
                        <a:t>Cách đo</a:t>
                      </a:r>
                    </a:p>
                  </a:txBody>
                  <a:tcPr marL="73152" marR="73152" marT="36576" marB="36576" anchor="ctr">
                    <a:solidFill>
                      <a:srgbClr val="10263A"/>
                    </a:solidFill>
                  </a:tcPr>
                </a:tc>
              </a:tr>
              <a:tr h="621792">
                <a:tc>
                  <a:txBody>
                    <a:bodyPr wrap="square"/>
                    <a:lstStyle/>
                    <a:p>
                      <a:pPr algn="l"/>
                      <a:r>
                        <a:rPr sz="1000" b="0">
                          <a:solidFill>
                            <a:srgbClr val="1F2933"/>
                          </a:solidFill>
                          <a:latin typeface="Arial"/>
                        </a:rPr>
                        <a:t>Tổng thời gian</a:t>
                      </a:r>
                    </a:p>
                  </a:txBody>
                  <a:tcPr marL="73152" marR="73152" marT="36576" marB="36576" anchor="ctr">
                    <a:solidFill>
                      <a:srgbClr val="FFFFFF"/>
                    </a:solidFill>
                  </a:tcPr>
                </a:tc>
                <a:tc>
                  <a:txBody>
                    <a:bodyPr wrap="square"/>
                    <a:lstStyle/>
                    <a:p>
                      <a:pPr algn="l"/>
                      <a:r>
                        <a:rPr sz="1000" b="0">
                          <a:solidFill>
                            <a:srgbClr val="1F2933"/>
                          </a:solidFill>
                          <a:latin typeface="Arial"/>
                        </a:rPr>
                        <a:t>10–15'/meeting  [ƯỚC]</a:t>
                      </a:r>
                    </a:p>
                  </a:txBody>
                  <a:tcPr marL="73152" marR="73152" marT="36576" marB="36576" anchor="ctr">
                    <a:solidFill>
                      <a:srgbClr val="FFFFFF"/>
                    </a:solidFill>
                  </a:tcPr>
                </a:tc>
                <a:tc>
                  <a:txBody>
                    <a:bodyPr wrap="square"/>
                    <a:lstStyle/>
                    <a:p>
                      <a:pPr algn="l"/>
                      <a:r>
                        <a:rPr sz="1000" b="0">
                          <a:solidFill>
                            <a:srgbClr val="1F2933"/>
                          </a:solidFill>
                          <a:latin typeface="Arial"/>
                        </a:rPr>
                        <a:t>≤ 5'/meeting</a:t>
                      </a:r>
                    </a:p>
                  </a:txBody>
                  <a:tcPr marL="73152" marR="73152" marT="36576" marB="36576" anchor="ctr">
                    <a:solidFill>
                      <a:srgbClr val="FFFFFF"/>
                    </a:solidFill>
                  </a:tcPr>
                </a:tc>
                <a:tc>
                  <a:txBody>
                    <a:bodyPr wrap="square"/>
                    <a:lstStyle/>
                    <a:p>
                      <a:pPr algn="l"/>
                      <a:r>
                        <a:rPr sz="1000" b="0">
                          <a:solidFill>
                            <a:srgbClr val="1F2933"/>
                          </a:solidFill>
                          <a:latin typeface="Arial"/>
                        </a:rPr>
                        <a:t>Bấm giờ từ lúc họp xong đến lúc note được lưu — 5 buổi trước, 5 buổi sau</a:t>
                      </a:r>
                    </a:p>
                  </a:txBody>
                  <a:tcPr marL="73152" marR="73152" marT="36576" marB="36576" anchor="ctr">
                    <a:solidFill>
                      <a:srgbClr val="FFFFFF"/>
                    </a:solidFill>
                  </a:tcPr>
                </a:tc>
              </a:tr>
              <a:tr h="621792">
                <a:tc>
                  <a:txBody>
                    <a:bodyPr wrap="square"/>
                    <a:lstStyle/>
                    <a:p>
                      <a:pPr algn="l"/>
                      <a:r>
                        <a:rPr sz="1000" b="0">
                          <a:solidFill>
                            <a:srgbClr val="1F2933"/>
                          </a:solidFill>
                          <a:latin typeface="Arial"/>
                        </a:rPr>
                        <a:t>Số bước người phải làm</a:t>
                      </a:r>
                    </a:p>
                  </a:txBody>
                  <a:tcPr marL="73152" marR="73152" marT="36576" marB="36576" anchor="ctr">
                    <a:solidFill>
                      <a:srgbClr val="EEEEEA"/>
                    </a:solidFill>
                  </a:tcPr>
                </a:tc>
                <a:tc>
                  <a:txBody>
                    <a:bodyPr wrap="square"/>
                    <a:lstStyle/>
                    <a:p>
                      <a:pPr algn="l"/>
                      <a:r>
                        <a:rPr sz="1000" b="0">
                          <a:solidFill>
                            <a:srgbClr val="1F2933"/>
                          </a:solidFill>
                          <a:latin typeface="Arial"/>
                        </a:rPr>
                        <a:t>6/6</a:t>
                      </a:r>
                    </a:p>
                  </a:txBody>
                  <a:tcPr marL="73152" marR="73152" marT="36576" marB="36576" anchor="ctr">
                    <a:solidFill>
                      <a:srgbClr val="EEEEEA"/>
                    </a:solidFill>
                  </a:tcPr>
                </a:tc>
                <a:tc>
                  <a:txBody>
                    <a:bodyPr wrap="square"/>
                    <a:lstStyle/>
                    <a:p>
                      <a:pPr algn="l"/>
                      <a:r>
                        <a:rPr sz="1000" b="0">
                          <a:solidFill>
                            <a:srgbClr val="1F2933"/>
                          </a:solidFill>
                          <a:latin typeface="Arial"/>
                        </a:rPr>
                        <a:t>1/5</a:t>
                      </a:r>
                    </a:p>
                  </a:txBody>
                  <a:tcPr marL="73152" marR="73152" marT="36576" marB="36576" anchor="ctr">
                    <a:solidFill>
                      <a:srgbClr val="EEEEEA"/>
                    </a:solidFill>
                  </a:tcPr>
                </a:tc>
                <a:tc>
                  <a:txBody>
                    <a:bodyPr wrap="square"/>
                    <a:lstStyle/>
                    <a:p>
                      <a:pPr algn="l"/>
                      <a:r>
                        <a:rPr sz="1000" b="0">
                          <a:solidFill>
                            <a:srgbClr val="1F2933"/>
                          </a:solidFill>
                          <a:latin typeface="Arial"/>
                        </a:rPr>
                        <a:t>Đếm bước có actor là người</a:t>
                      </a:r>
                    </a:p>
                  </a:txBody>
                  <a:tcPr marL="73152" marR="73152" marT="36576" marB="36576" anchor="ctr">
                    <a:solidFill>
                      <a:srgbClr val="EEEEEA"/>
                    </a:solidFill>
                  </a:tcPr>
                </a:tc>
              </a:tr>
              <a:tr h="621792">
                <a:tc>
                  <a:txBody>
                    <a:bodyPr wrap="square"/>
                    <a:lstStyle/>
                    <a:p>
                      <a:pPr algn="l"/>
                      <a:r>
                        <a:rPr sz="1000" b="0">
                          <a:solidFill>
                            <a:srgbClr val="1F2933"/>
                          </a:solidFill>
                          <a:latin typeface="Arial"/>
                        </a:rPr>
                        <a:t>Bottleneck chính</a:t>
                      </a:r>
                    </a:p>
                  </a:txBody>
                  <a:tcPr marL="73152" marR="73152" marT="36576" marB="36576" anchor="ctr">
                    <a:solidFill>
                      <a:srgbClr val="FFFFFF"/>
                    </a:solidFill>
                  </a:tcPr>
                </a:tc>
                <a:tc>
                  <a:txBody>
                    <a:bodyPr wrap="square"/>
                    <a:lstStyle/>
                    <a:p>
                      <a:pPr algn="l"/>
                      <a:r>
                        <a:rPr sz="1000" b="0">
                          <a:solidFill>
                            <a:srgbClr val="1F2933"/>
                          </a:solidFill>
                          <a:latin typeface="Arial"/>
                        </a:rPr>
                        <a:t>Tra lại ngữ cảnh (3–5')</a:t>
                      </a:r>
                    </a:p>
                  </a:txBody>
                  <a:tcPr marL="73152" marR="73152" marT="36576" marB="36576" anchor="ctr">
                    <a:solidFill>
                      <a:srgbClr val="FFFFFF"/>
                    </a:solidFill>
                  </a:tcPr>
                </a:tc>
                <a:tc>
                  <a:txBody>
                    <a:bodyPr wrap="square"/>
                    <a:lstStyle/>
                    <a:p>
                      <a:pPr algn="l"/>
                      <a:r>
                        <a:rPr sz="1000" b="0">
                          <a:solidFill>
                            <a:srgbClr val="1F2933"/>
                          </a:solidFill>
                          <a:latin typeface="Arial"/>
                        </a:rPr>
                        <a:t>Người review draft (3–4')</a:t>
                      </a:r>
                    </a:p>
                  </a:txBody>
                  <a:tcPr marL="73152" marR="73152" marT="36576" marB="36576" anchor="ctr">
                    <a:solidFill>
                      <a:srgbClr val="FFFFFF"/>
                    </a:solidFill>
                  </a:tcPr>
                </a:tc>
                <a:tc>
                  <a:txBody>
                    <a:bodyPr wrap="square"/>
                    <a:lstStyle/>
                    <a:p>
                      <a:pPr algn="l"/>
                      <a:r>
                        <a:rPr sz="1000" b="0">
                          <a:solidFill>
                            <a:srgbClr val="1F2933"/>
                          </a:solidFill>
                          <a:latin typeface="Arial"/>
                        </a:rPr>
                        <a:t>Nghẽn dịch từ "moi lại thông tin" sang "kiểm chứng" — đắt tương đương nhưng đáng làm</a:t>
                      </a:r>
                    </a:p>
                  </a:txBody>
                  <a:tcPr marL="73152" marR="73152" marT="36576" marB="36576" anchor="ctr">
                    <a:solidFill>
                      <a:srgbClr val="FFFFFF"/>
                    </a:solidFill>
                  </a:tcPr>
                </a:tc>
              </a:tr>
              <a:tr h="621792">
                <a:tc>
                  <a:txBody>
                    <a:bodyPr wrap="square"/>
                    <a:lstStyle/>
                    <a:p>
                      <a:pPr algn="l"/>
                      <a:r>
                        <a:rPr sz="1000" b="0">
                          <a:solidFill>
                            <a:srgbClr val="1F2933"/>
                          </a:solidFill>
                          <a:latin typeface="Arial"/>
                        </a:rPr>
                        <a:t>Tỉ lệ meeting có note trong 24h</a:t>
                      </a:r>
                    </a:p>
                  </a:txBody>
                  <a:tcPr marL="73152" marR="73152" marT="36576" marB="36576" anchor="ctr">
                    <a:solidFill>
                      <a:srgbClr val="EEEEEA"/>
                    </a:solidFill>
                  </a:tcPr>
                </a:tc>
                <a:tc>
                  <a:txBody>
                    <a:bodyPr wrap="square"/>
                    <a:lstStyle/>
                    <a:p>
                      <a:pPr algn="l"/>
                      <a:r>
                        <a:rPr sz="1000" b="0">
                          <a:solidFill>
                            <a:srgbClr val="1F2933"/>
                          </a:solidFill>
                          <a:latin typeface="Arial"/>
                        </a:rPr>
                        <a:t>[CHƯA ĐO]</a:t>
                      </a:r>
                    </a:p>
                  </a:txBody>
                  <a:tcPr marL="73152" marR="73152" marT="36576" marB="36576" anchor="ctr">
                    <a:solidFill>
                      <a:srgbClr val="EEEEEA"/>
                    </a:solidFill>
                  </a:tcPr>
                </a:tc>
                <a:tc>
                  <a:txBody>
                    <a:bodyPr wrap="square"/>
                    <a:lstStyle/>
                    <a:p>
                      <a:pPr algn="l"/>
                      <a:r>
                        <a:rPr sz="1000" b="0">
                          <a:solidFill>
                            <a:srgbClr val="1F2933"/>
                          </a:solidFill>
                          <a:latin typeface="Arial"/>
                        </a:rPr>
                        <a:t>100%</a:t>
                      </a:r>
                    </a:p>
                  </a:txBody>
                  <a:tcPr marL="73152" marR="73152" marT="36576" marB="36576" anchor="ctr">
                    <a:solidFill>
                      <a:srgbClr val="EEEEEA"/>
                    </a:solidFill>
                  </a:tcPr>
                </a:tc>
                <a:tc>
                  <a:txBody>
                    <a:bodyPr wrap="square"/>
                    <a:lstStyle/>
                    <a:p>
                      <a:pPr algn="l"/>
                      <a:r>
                        <a:rPr sz="1000" b="0">
                          <a:solidFill>
                            <a:srgbClr val="1F2933"/>
                          </a:solidFill>
                          <a:latin typeface="Arial"/>
                        </a:rPr>
                        <a:t>Đối chiếu lịch Calendar với số note thực có</a:t>
                      </a:r>
                    </a:p>
                  </a:txBody>
                  <a:tcPr marL="73152" marR="73152" marT="36576" marB="36576" anchor="ctr">
                    <a:solidFill>
                      <a:srgbClr val="EEEEEA"/>
                    </a:solidFill>
                  </a:tcPr>
                </a:tc>
              </a:tr>
              <a:tr h="621792">
                <a:tc>
                  <a:txBody>
                    <a:bodyPr wrap="square"/>
                    <a:lstStyle/>
                    <a:p>
                      <a:pPr algn="l"/>
                      <a:r>
                        <a:rPr sz="1000" b="0">
                          <a:solidFill>
                            <a:srgbClr val="1F2933"/>
                          </a:solidFill>
                          <a:latin typeface="Arial"/>
                        </a:rPr>
                        <a:t>Action item của mình bị rơi</a:t>
                      </a:r>
                    </a:p>
                  </a:txBody>
                  <a:tcPr marL="73152" marR="73152" marT="36576" marB="36576" anchor="ctr">
                    <a:solidFill>
                      <a:srgbClr val="FFFFFF"/>
                    </a:solidFill>
                  </a:tcPr>
                </a:tc>
                <a:tc>
                  <a:txBody>
                    <a:bodyPr wrap="square"/>
                    <a:lstStyle/>
                    <a:p>
                      <a:pPr algn="l"/>
                      <a:r>
                        <a:rPr sz="1000" b="0">
                          <a:solidFill>
                            <a:srgbClr val="1F2933"/>
                          </a:solidFill>
                          <a:latin typeface="Arial"/>
                        </a:rPr>
                        <a:t>[CHƯA ĐO]</a:t>
                      </a:r>
                    </a:p>
                  </a:txBody>
                  <a:tcPr marL="73152" marR="73152" marT="36576" marB="36576" anchor="ctr">
                    <a:solidFill>
                      <a:srgbClr val="FFFFFF"/>
                    </a:solidFill>
                  </a:tcPr>
                </a:tc>
                <a:tc>
                  <a:txBody>
                    <a:bodyPr wrap="square"/>
                    <a:lstStyle/>
                    <a:p>
                      <a:pPr algn="l"/>
                      <a:r>
                        <a:rPr sz="1000" b="0">
                          <a:solidFill>
                            <a:srgbClr val="1F2933"/>
                          </a:solidFill>
                          <a:latin typeface="Arial"/>
                        </a:rPr>
                        <a:t>0</a:t>
                      </a:r>
                    </a:p>
                  </a:txBody>
                  <a:tcPr marL="73152" marR="73152" marT="36576" marB="36576" anchor="ctr">
                    <a:solidFill>
                      <a:srgbClr val="FFFFFF"/>
                    </a:solidFill>
                  </a:tcPr>
                </a:tc>
                <a:tc>
                  <a:txBody>
                    <a:bodyPr wrap="square"/>
                    <a:lstStyle/>
                    <a:p>
                      <a:pPr algn="l"/>
                      <a:r>
                        <a:rPr sz="1000" b="0">
                          <a:solidFill>
                            <a:srgbClr val="1F2933"/>
                          </a:solidFill>
                          <a:latin typeface="Arial"/>
                        </a:rPr>
                        <a:t>Đếm việc được nhắc lại ở meeting sau mà note buổi trước không hề có</a:t>
                      </a:r>
                    </a:p>
                  </a:txBody>
                  <a:tcPr marL="73152" marR="73152" marT="36576" marB="36576" anchor="ctr">
                    <a:solidFill>
                      <a:srgbClr val="FFFFFF"/>
                    </a:solidFill>
                  </a:tcPr>
                </a:tc>
              </a:tr>
              <a:tr h="621792">
                <a:tc>
                  <a:txBody>
                    <a:bodyPr wrap="square"/>
                    <a:lstStyle/>
                    <a:p>
                      <a:pPr algn="l"/>
                      <a:r>
                        <a:rPr sz="1000" b="0">
                          <a:solidFill>
                            <a:srgbClr val="1F2933"/>
                          </a:solidFill>
                          <a:latin typeface="Arial"/>
                        </a:rPr>
                        <a:t>Tỉ lệ dòng phải sửa trong draft</a:t>
                      </a:r>
                    </a:p>
                  </a:txBody>
                  <a:tcPr marL="73152" marR="73152" marT="36576" marB="36576" anchor="ctr">
                    <a:solidFill>
                      <a:srgbClr val="EEEEEA"/>
                    </a:solidFill>
                  </a:tcPr>
                </a:tc>
                <a:tc>
                  <a:txBody>
                    <a:bodyPr wrap="square"/>
                    <a:lstStyle/>
                    <a:p>
                      <a:pPr algn="l"/>
                      <a:r>
                        <a:rPr sz="1000" b="0">
                          <a:solidFill>
                            <a:srgbClr val="1F2933"/>
                          </a:solidFill>
                          <a:latin typeface="Arial"/>
                        </a:rPr>
                        <a:t>—</a:t>
                      </a:r>
                    </a:p>
                  </a:txBody>
                  <a:tcPr marL="73152" marR="73152" marT="36576" marB="36576" anchor="ctr">
                    <a:solidFill>
                      <a:srgbClr val="EEEEEA"/>
                    </a:solidFill>
                  </a:tcPr>
                </a:tc>
                <a:tc>
                  <a:txBody>
                    <a:bodyPr wrap="square"/>
                    <a:lstStyle/>
                    <a:p>
                      <a:pPr algn="l"/>
                      <a:r>
                        <a:rPr sz="1000" b="0">
                          <a:solidFill>
                            <a:srgbClr val="1F2933"/>
                          </a:solidFill>
                          <a:latin typeface="Arial"/>
                        </a:rPr>
                        <a:t>≤ 30%, và KHÔNG được tụt nhanh về 0</a:t>
                      </a:r>
                    </a:p>
                  </a:txBody>
                  <a:tcPr marL="73152" marR="73152" marT="36576" marB="36576" anchor="ctr">
                    <a:solidFill>
                      <a:srgbClr val="EEEEEA"/>
                    </a:solidFill>
                  </a:tcPr>
                </a:tc>
                <a:tc>
                  <a:txBody>
                    <a:bodyPr wrap="square"/>
                    <a:lstStyle/>
                    <a:p>
                      <a:pPr algn="l"/>
                      <a:r>
                        <a:rPr sz="1000" b="0">
                          <a:solidFill>
                            <a:srgbClr val="1F2933"/>
                          </a:solidFill>
                          <a:latin typeface="Arial"/>
                        </a:rPr>
                        <a:t>Tụt quá nhanh là dấu hiệu người review đọc lướt, chứ chưa chắc AI giỏi lên</a:t>
                      </a:r>
                    </a:p>
                  </a:txBody>
                  <a:tcPr marL="73152" marR="73152" marT="36576" marB="36576" anchor="ctr">
                    <a:solidFill>
                      <a:srgbClr val="EEEEEA"/>
                    </a:solidFill>
                  </a:tcPr>
                </a:tc>
              </a:tr>
            </a:tbl>
          </a:graphicData>
        </a:graphic>
      </p:graphicFrame>
      <p:sp>
        <p:nvSpPr>
          <p:cNvPr id="8" name="Rectangle 7"/>
          <p:cNvSpPr/>
          <p:nvPr/>
        </p:nvSpPr>
        <p:spPr>
          <a:xfrm>
            <a:off x="548640" y="5486400"/>
            <a:ext cx="11109960" cy="77724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486400"/>
            <a:ext cx="64008" cy="777240"/>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5650992"/>
            <a:ext cx="10652760" cy="365760"/>
          </a:xfrm>
          <a:prstGeom prst="rect">
            <a:avLst/>
          </a:prstGeom>
          <a:noFill/>
        </p:spPr>
        <p:txBody>
          <a:bodyPr wrap="square" anchor="t" lIns="0" rIns="0" tIns="0" bIns="0">
            <a:spAutoFit/>
          </a:bodyPr>
          <a:lstStyle/>
          <a:p>
            <a:pPr algn="l">
              <a:lnSpc>
                <a:spcPct val="105000"/>
              </a:lnSpc>
              <a:spcAft>
                <a:spcPts val="600"/>
              </a:spcAft>
            </a:pPr>
            <a:r>
              <a:rPr sz="1200" b="1">
                <a:solidFill>
                  <a:srgbClr val="E0A458"/>
                </a:solidFill>
                <a:latin typeface="Arial"/>
              </a:rPr>
              <a:t>Quy ước trung thực của nhóm</a:t>
            </a:r>
          </a:p>
        </p:txBody>
      </p:sp>
      <p:sp>
        <p:nvSpPr>
          <p:cNvPr id="11" name="TextBox 10"/>
          <p:cNvSpPr txBox="1"/>
          <p:nvPr/>
        </p:nvSpPr>
        <p:spPr>
          <a:xfrm>
            <a:off x="804672" y="6053328"/>
            <a:ext cx="10652760" cy="4572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[ĐO] = có người bấm giờ/đếm thật  ·  [ƯỚC] = ước lượng từ trí nhớ  ·  [CHƯA ĐO] = chưa có baseline, ghi rõ cách sẽ đo. Nhóm không cộng dồn ba loại số này thành một con số impact duy nhất.</a:t>
            </a:r>
          </a:p>
        </p:txBody>
      </p:sp>
      <p:sp>
        <p:nvSpPr>
          <p:cNvPr id="12" name="TextBox 11"/>
          <p:cNvSpPr txBox="1"/>
          <p:nvPr/>
        </p:nvSpPr>
        <p:spPr>
          <a:xfrm>
            <a:off x="640080" y="6400800"/>
            <a:ext cx="8229600" cy="274320"/>
          </a:xfrm>
          <a:prstGeom prst="rect">
            <a:avLst/>
          </a:prstGeom>
          <a:noFill/>
        </p:spPr>
        <p:txBody>
          <a:bodyPr wrap="square" anchor="t" lIns="0" rIns="0" tIns="0" bIns="0">
            <a:spAutoFit/>
          </a:bodyPr>
          <a:lstStyle/>
          <a:p>
            <a:pPr algn="l">
              <a:lnSpc>
                <a:spcPct val="105000"/>
              </a:lnSpc>
              <a:spcAft>
                <a:spcPts val="600"/>
              </a:spcAft>
            </a:pPr>
            <a:r>
              <a:rPr sz="900" b="0">
                <a:solidFill>
                  <a:srgbClr val="6B7280"/>
                </a:solidFill>
                <a:latin typeface="Arial"/>
              </a:rPr>
              <a:t>Day 02 Lab · K4A · Nhóm 6 người · Candidate: Meeting note</a:t>
            </a:r>
          </a:p>
        </p:txBody>
      </p:sp>
      <p:sp>
        <p:nvSpPr>
          <p:cNvPr id="13" name="TextBox 12"/>
          <p:cNvSpPr txBox="1"/>
          <p:nvPr/>
        </p:nvSpPr>
        <p:spPr>
          <a:xfrm>
            <a:off x="11002975" y="6400800"/>
            <a:ext cx="548640" cy="274320"/>
          </a:xfrm>
          <a:prstGeom prst="rect">
            <a:avLst/>
          </a:prstGeom>
          <a:noFill/>
        </p:spPr>
        <p:txBody>
          <a:bodyPr wrap="square" anchor="t" lIns="0" rIns="0" tIns="0" bIns="0">
            <a:spAutoFit/>
          </a:bodyPr>
          <a:lstStyle/>
          <a:p>
            <a:pPr algn="r">
              <a:lnSpc>
                <a:spcPct val="105000"/>
              </a:lnSpc>
              <a:spcAft>
                <a:spcPts val="600"/>
              </a:spcAft>
            </a:pPr>
            <a:r>
              <a:rPr sz="900" b="1">
                <a:solidFill>
                  <a:srgbClr val="6B728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
            <a:ext cx="10972800" cy="274320"/>
          </a:xfrm>
          <a:prstGeom prst="rect">
            <a:avLst/>
          </a:prstGeom>
          <a:noFill/>
        </p:spPr>
        <p:txBody>
          <a:bodyPr wrap="square" anchor="t" lIns="0" rIns="0" tIns="0" bIns="0">
            <a:spAutoFit/>
          </a:bodyPr>
          <a:lstStyle/>
          <a:p>
            <a:pPr algn="l">
              <a:lnSpc>
                <a:spcPct val="105000"/>
              </a:lnSpc>
              <a:spcAft>
                <a:spcPts val="600"/>
              </a:spcAft>
            </a:pPr>
            <a:r>
              <a:rPr sz="1100" b="1">
                <a:solidFill>
                  <a:srgbClr val="E0A458"/>
                </a:solidFill>
                <a:latin typeface="Arial"/>
              </a:rPr>
              <a:t>PHASE 6.2</a:t>
            </a:r>
          </a:p>
        </p:txBody>
      </p:sp>
      <p:sp>
        <p:nvSpPr>
          <p:cNvPr id="6" name="TextBox 5"/>
          <p:cNvSpPr txBox="1"/>
          <p:nvPr/>
        </p:nvSpPr>
        <p:spPr>
          <a:xfrm>
            <a:off x="640080" y="475488"/>
            <a:ext cx="10972800" cy="548640"/>
          </a:xfrm>
          <a:prstGeom prst="rect">
            <a:avLst/>
          </a:prstGeom>
          <a:noFill/>
        </p:spPr>
        <p:txBody>
          <a:bodyPr wrap="square" anchor="t" lIns="0" rIns="0" tIns="0" bIns="0">
            <a:spAutoFit/>
          </a:bodyPr>
          <a:lstStyle/>
          <a:p>
            <a:pPr algn="l">
              <a:lnSpc>
                <a:spcPct val="105000"/>
              </a:lnSpc>
              <a:spcAft>
                <a:spcPts val="600"/>
              </a:spcAft>
            </a:pPr>
            <a:r>
              <a:rPr sz="2600" b="1">
                <a:solidFill>
                  <a:srgbClr val="FFFFFF"/>
                </a:solidFill>
                <a:latin typeface="Arial"/>
              </a:rPr>
              <a:t>Problem Statement v1 (1/2)</a:t>
            </a:r>
          </a:p>
        </p:txBody>
      </p:sp>
      <p:graphicFrame>
        <p:nvGraphicFramePr>
          <p:cNvPr id="7" name="Table 6"/>
          <p:cNvGraphicFramePr>
            <a:graphicFrameLocks noGrp="1"/>
          </p:cNvGraphicFramePr>
          <p:nvPr/>
        </p:nvGraphicFramePr>
        <p:xfrm>
          <a:off x="548640" y="1554480"/>
          <a:ext cx="11109960" cy="4535424"/>
        </p:xfrm>
        <a:graphic>
          <a:graphicData uri="http://schemas.openxmlformats.org/drawingml/2006/table">
            <a:tbl>
              <a:tblPr firstRow="1" bandRow="1">
                <a:tableStyleId>{5C22544A-7EE6-4342-B048-85BDC9FD1C3A}</a:tableStyleId>
              </a:tblPr>
              <a:tblGrid>
                <a:gridCol w="1600200"/>
                <a:gridCol w="9509760"/>
              </a:tblGrid>
              <a:tr h="329184">
                <a:tc>
                  <a:txBody>
                    <a:bodyPr wrap="square"/>
                    <a:lstStyle/>
                    <a:p>
                      <a:pPr algn="l"/>
                      <a:r>
                        <a:rPr sz="1050" b="1">
                          <a:solidFill>
                            <a:srgbClr val="FFFFFF"/>
                          </a:solidFill>
                          <a:latin typeface="Arial"/>
                        </a:rPr>
                        <a:t>Field</a:t>
                      </a:r>
                    </a:p>
                  </a:txBody>
                  <a:tcPr marL="73152" marR="73152" marT="36576" marB="36576" anchor="ctr">
                    <a:solidFill>
                      <a:srgbClr val="10263A"/>
                    </a:solidFill>
                  </a:tcPr>
                </a:tc>
                <a:tc>
                  <a:txBody>
                    <a:bodyPr wrap="square"/>
                    <a:lstStyle/>
                    <a:p>
                      <a:pPr algn="l"/>
                      <a:r>
                        <a:rPr sz="1050" b="1">
                          <a:solidFill>
                            <a:srgbClr val="FFFFFF"/>
                          </a:solidFill>
                          <a:latin typeface="Arial"/>
                        </a:rPr>
                        <a:t>Nội dung</a:t>
                      </a:r>
                    </a:p>
                  </a:txBody>
                  <a:tcPr marL="73152" marR="73152" marT="36576" marB="36576" anchor="ctr">
                    <a:solidFill>
                      <a:srgbClr val="10263A"/>
                    </a:solidFill>
                  </a:tcPr>
                </a:tc>
              </a:tr>
              <a:tr h="841248">
                <a:tc>
                  <a:txBody>
                    <a:bodyPr wrap="square"/>
                    <a:lstStyle/>
                    <a:p>
                      <a:pPr algn="l"/>
                      <a:r>
                        <a:rPr sz="980" b="0">
                          <a:solidFill>
                            <a:srgbClr val="1F2933"/>
                          </a:solidFill>
                          <a:latin typeface="Arial"/>
                        </a:rPr>
                        <a:t>Actor</a:t>
                      </a:r>
                    </a:p>
                  </a:txBody>
                  <a:tcPr marL="73152" marR="73152" marT="36576" marB="36576" anchor="ctr">
                    <a:solidFill>
                      <a:srgbClr val="FFFFFF"/>
                    </a:solidFill>
                  </a:tcPr>
                </a:tc>
                <a:tc>
                  <a:txBody>
                    <a:bodyPr wrap="square"/>
                    <a:lstStyle/>
                    <a:p>
                      <a:pPr algn="l"/>
                      <a:r>
                        <a:rPr sz="980" b="0">
                          <a:solidFill>
                            <a:srgbClr val="1F2933"/>
                          </a:solidFill>
                          <a:latin typeface="Arial"/>
                        </a:rPr>
                        <a:t>Người THAM DỰ meeting dự án — không chủ trì, không phải thư ký — viết note cho chính mình. Đại diện: Dũng, researcher, 3–4 meeting/tuần [ĐO qua Calendar]. Phạm vi: chỉ meeting ≥30 phút, ≥3 người, có bàn quyết định kỹ thuật. Đã loại standup ngắn và họp 1-1 xã giao sau khi validate.</a:t>
                      </a:r>
                    </a:p>
                  </a:txBody>
                  <a:tcPr marL="73152" marR="73152" marT="36576" marB="36576" anchor="ctr">
                    <a:solidFill>
                      <a:srgbClr val="FFFFFF"/>
                    </a:solidFill>
                  </a:tcPr>
                </a:tc>
              </a:tr>
              <a:tr h="841248">
                <a:tc>
                  <a:txBody>
                    <a:bodyPr wrap="square"/>
                    <a:lstStyle/>
                    <a:p>
                      <a:pPr algn="l"/>
                      <a:r>
                        <a:rPr sz="980" b="0">
                          <a:solidFill>
                            <a:srgbClr val="1F2933"/>
                          </a:solidFill>
                          <a:latin typeface="Arial"/>
                        </a:rPr>
                        <a:t>Workflow</a:t>
                      </a:r>
                    </a:p>
                  </a:txBody>
                  <a:tcPr marL="73152" marR="73152" marT="36576" marB="36576" anchor="ctr">
                    <a:solidFill>
                      <a:srgbClr val="EEEEEA"/>
                    </a:solidFill>
                  </a:tcPr>
                </a:tc>
                <a:tc>
                  <a:txBody>
                    <a:bodyPr wrap="square"/>
                    <a:lstStyle/>
                    <a:p>
                      <a:pPr algn="l"/>
                      <a:r>
                        <a:rPr sz="980" b="0">
                          <a:solidFill>
                            <a:srgbClr val="1F2933"/>
                          </a:solidFill>
                          <a:latin typeface="Arial"/>
                        </a:rPr>
                        <a:t>Mở note → nhớ lại mạch họp (3–4') → tra lại ngữ cảnh dự án (3–5') → viết summary + TODO (4–5') → hỏi lại đồng đội (2', 1–2 lần/tuần) → lưu. Tổng 10–15'/buổi, 3–4 buổi/tuần.</a:t>
                      </a:r>
                    </a:p>
                  </a:txBody>
                  <a:tcPr marL="73152" marR="73152" marT="36576" marB="36576" anchor="ctr">
                    <a:solidFill>
                      <a:srgbClr val="EEEEEA"/>
                    </a:solidFill>
                  </a:tcPr>
                </a:tc>
              </a:tr>
              <a:tr h="841248">
                <a:tc>
                  <a:txBody>
                    <a:bodyPr wrap="square"/>
                    <a:lstStyle/>
                    <a:p>
                      <a:pPr algn="l"/>
                      <a:r>
                        <a:rPr sz="980" b="0">
                          <a:solidFill>
                            <a:srgbClr val="1F2933"/>
                          </a:solidFill>
                          <a:latin typeface="Arial"/>
                        </a:rPr>
                        <a:t>Bottleneck</a:t>
                      </a:r>
                    </a:p>
                  </a:txBody>
                  <a:tcPr marL="73152" marR="73152" marT="36576" marB="36576" anchor="ctr">
                    <a:solidFill>
                      <a:srgbClr val="FFFFFF"/>
                    </a:solidFill>
                  </a:tcPr>
                </a:tc>
                <a:tc>
                  <a:txBody>
                    <a:bodyPr wrap="square"/>
                    <a:lstStyle/>
                    <a:p>
                      <a:pPr algn="l"/>
                      <a:r>
                        <a:rPr sz="980" b="0">
                          <a:solidFill>
                            <a:srgbClr val="1F2933"/>
                          </a:solidFill>
                          <a:latin typeface="Arial"/>
                        </a:rPr>
                        <a:t>Bước tra lại ngữ cảnh dự án. Transcript mang được lời nói nhưng không mang được kiến thức nền của dự án, nên người viết phải tự tái dựng nó trong đầu.</a:t>
                      </a:r>
                    </a:p>
                  </a:txBody>
                  <a:tcPr marL="73152" marR="73152" marT="36576" marB="36576" anchor="ctr">
                    <a:solidFill>
                      <a:srgbClr val="FFFFFF"/>
                    </a:solidFill>
                  </a:tcPr>
                </a:tc>
              </a:tr>
              <a:tr h="841248">
                <a:tc>
                  <a:txBody>
                    <a:bodyPr wrap="square"/>
                    <a:lstStyle/>
                    <a:p>
                      <a:pPr algn="l"/>
                      <a:r>
                        <a:rPr sz="980" b="0">
                          <a:solidFill>
                            <a:srgbClr val="1F2933"/>
                          </a:solidFill>
                          <a:latin typeface="Arial"/>
                        </a:rPr>
                        <a:t>Impact</a:t>
                      </a:r>
                    </a:p>
                  </a:txBody>
                  <a:tcPr marL="73152" marR="73152" marT="36576" marB="36576" anchor="ctr">
                    <a:solidFill>
                      <a:srgbClr val="EEEEEA"/>
                    </a:solidFill>
                  </a:tcPr>
                </a:tc>
                <a:tc>
                  <a:txBody>
                    <a:bodyPr wrap="square"/>
                    <a:lstStyle/>
                    <a:p>
                      <a:pPr algn="l"/>
                      <a:r>
                        <a:rPr sz="980" b="0">
                          <a:solidFill>
                            <a:srgbClr val="1F2933"/>
                          </a:solidFill>
                          <a:latin typeface="Arial"/>
                        </a:rPr>
                        <a:t>[ĐO] 40–60 phút/tuần cho riêng việc viết note. [CHƯA ĐO] 1–2 action item bị rơi mỗi tuần; 1–2 lần/tuần phải hỏi lại đồng đội; note cũ đọc lại sau 1 tuần không hiểu.</a:t>
                      </a:r>
                    </a:p>
                  </a:txBody>
                  <a:tcPr marL="73152" marR="73152" marT="36576" marB="36576" anchor="ctr">
                    <a:solidFill>
                      <a:srgbClr val="EEEEEA"/>
                    </a:solidFill>
                  </a:tcPr>
                </a:tc>
              </a:tr>
              <a:tr h="841248">
                <a:tc>
                  <a:txBody>
                    <a:bodyPr wrap="square"/>
                    <a:lstStyle/>
                    <a:p>
                      <a:pPr algn="l"/>
                      <a:r>
                        <a:rPr sz="980" b="0">
                          <a:solidFill>
                            <a:srgbClr val="1F2933"/>
                          </a:solidFill>
                          <a:latin typeface="Arial"/>
                        </a:rPr>
                        <a:t>Success
Metric</a:t>
                      </a:r>
                    </a:p>
                  </a:txBody>
                  <a:tcPr marL="73152" marR="73152" marT="36576" marB="36576" anchor="ctr">
                    <a:solidFill>
                      <a:srgbClr val="FFFFFF"/>
                    </a:solidFill>
                  </a:tcPr>
                </a:tc>
                <a:tc>
                  <a:txBody>
                    <a:bodyPr wrap="square"/>
                    <a:lstStyle/>
                    <a:p>
                      <a:pPr algn="l"/>
                      <a:r>
                        <a:rPr sz="980" b="0">
                          <a:solidFill>
                            <a:srgbClr val="1F2933"/>
                          </a:solidFill>
                          <a:latin typeface="Arial"/>
                        </a:rPr>
                        <a:t>(1) Thời gian họp-xong → note-đã-lưu: 10–15' → ≤5'.  (2) Tỉ lệ meeting có note trong 24h: baseline 2 tuần → 100%.  (3) Action item bị rơi → 0, đo bằng tiêu chí quan sát được TỪ BÊN NGOÀI.  (4) Tỉ lệ dòng phải sửa ≤30% và không tụt nhanh về 0.</a:t>
                      </a:r>
                    </a:p>
                  </a:txBody>
                  <a:tcPr marL="73152" marR="73152" marT="36576" marB="36576" anchor="ctr">
                    <a:solidFill>
                      <a:srgbClr val="FFFFFF"/>
                    </a:solidFill>
                  </a:tcPr>
                </a:tc>
              </a:tr>
            </a:tbl>
          </a:graphicData>
        </a:graphic>
      </p:graphicFrame>
      <p:sp>
        <p:nvSpPr>
          <p:cNvPr id="8" name="TextBox 7"/>
          <p:cNvSpPr txBox="1"/>
          <p:nvPr/>
        </p:nvSpPr>
        <p:spPr>
          <a:xfrm>
            <a:off x="640080" y="6400800"/>
            <a:ext cx="8229600" cy="274320"/>
          </a:xfrm>
          <a:prstGeom prst="rect">
            <a:avLst/>
          </a:prstGeom>
          <a:noFill/>
        </p:spPr>
        <p:txBody>
          <a:bodyPr wrap="square" anchor="t" lIns="0" rIns="0" tIns="0" bIns="0">
            <a:spAutoFit/>
          </a:bodyPr>
          <a:lstStyle/>
          <a:p>
            <a:pPr algn="l">
              <a:lnSpc>
                <a:spcPct val="105000"/>
              </a:lnSpc>
              <a:spcAft>
                <a:spcPts val="600"/>
              </a:spcAft>
            </a:pPr>
            <a:r>
              <a:rPr sz="900" b="0">
                <a:solidFill>
                  <a:srgbClr val="6B7280"/>
                </a:solidFill>
                <a:latin typeface="Arial"/>
              </a:rPr>
              <a:t>Day 02 Lab · K4A · Nhóm 6 người · Candidate: Meeting note</a:t>
            </a:r>
          </a:p>
        </p:txBody>
      </p:sp>
      <p:sp>
        <p:nvSpPr>
          <p:cNvPr id="9" name="TextBox 8"/>
          <p:cNvSpPr txBox="1"/>
          <p:nvPr/>
        </p:nvSpPr>
        <p:spPr>
          <a:xfrm>
            <a:off x="11002975" y="6400800"/>
            <a:ext cx="548640" cy="274320"/>
          </a:xfrm>
          <a:prstGeom prst="rect">
            <a:avLst/>
          </a:prstGeom>
          <a:noFill/>
        </p:spPr>
        <p:txBody>
          <a:bodyPr wrap="square" anchor="t" lIns="0" rIns="0" tIns="0" bIns="0">
            <a:spAutoFit/>
          </a:bodyPr>
          <a:lstStyle/>
          <a:p>
            <a:pPr algn="r">
              <a:lnSpc>
                <a:spcPct val="105000"/>
              </a:lnSpc>
              <a:spcAft>
                <a:spcPts val="600"/>
              </a:spcAft>
            </a:pPr>
            <a:r>
              <a:rPr sz="900" b="1">
                <a:solidFill>
                  <a:srgbClr val="6B728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
            <a:ext cx="10972800" cy="274320"/>
          </a:xfrm>
          <a:prstGeom prst="rect">
            <a:avLst/>
          </a:prstGeom>
          <a:noFill/>
        </p:spPr>
        <p:txBody>
          <a:bodyPr wrap="square" anchor="t" lIns="0" rIns="0" tIns="0" bIns="0">
            <a:spAutoFit/>
          </a:bodyPr>
          <a:lstStyle/>
          <a:p>
            <a:pPr algn="l">
              <a:lnSpc>
                <a:spcPct val="105000"/>
              </a:lnSpc>
              <a:spcAft>
                <a:spcPts val="600"/>
              </a:spcAft>
            </a:pPr>
            <a:r>
              <a:rPr sz="1100" b="1">
                <a:solidFill>
                  <a:srgbClr val="E0A458"/>
                </a:solidFill>
                <a:latin typeface="Arial"/>
              </a:rPr>
              <a:t>PHASE 6.2</a:t>
            </a:r>
          </a:p>
        </p:txBody>
      </p:sp>
      <p:sp>
        <p:nvSpPr>
          <p:cNvPr id="6" name="TextBox 5"/>
          <p:cNvSpPr txBox="1"/>
          <p:nvPr/>
        </p:nvSpPr>
        <p:spPr>
          <a:xfrm>
            <a:off x="640080" y="475488"/>
            <a:ext cx="10972800" cy="548640"/>
          </a:xfrm>
          <a:prstGeom prst="rect">
            <a:avLst/>
          </a:prstGeom>
          <a:noFill/>
        </p:spPr>
        <p:txBody>
          <a:bodyPr wrap="square" anchor="t" lIns="0" rIns="0" tIns="0" bIns="0">
            <a:spAutoFit/>
          </a:bodyPr>
          <a:lstStyle/>
          <a:p>
            <a:pPr algn="l">
              <a:lnSpc>
                <a:spcPct val="105000"/>
              </a:lnSpc>
              <a:spcAft>
                <a:spcPts val="600"/>
              </a:spcAft>
            </a:pPr>
            <a:r>
              <a:rPr sz="2600" b="1">
                <a:solidFill>
                  <a:srgbClr val="FFFFFF"/>
                </a:solidFill>
                <a:latin typeface="Arial"/>
              </a:rPr>
              <a:t>Problem Statement v1 (2/2) — bốn field quyết định độ an toàn</a:t>
            </a:r>
          </a:p>
        </p:txBody>
      </p:sp>
      <p:graphicFrame>
        <p:nvGraphicFramePr>
          <p:cNvPr id="7" name="Table 6"/>
          <p:cNvGraphicFramePr>
            <a:graphicFrameLocks noGrp="1"/>
          </p:cNvGraphicFramePr>
          <p:nvPr/>
        </p:nvGraphicFramePr>
        <p:xfrm>
          <a:off x="548640" y="1554480"/>
          <a:ext cx="11109960" cy="4535424"/>
        </p:xfrm>
        <a:graphic>
          <a:graphicData uri="http://schemas.openxmlformats.org/drawingml/2006/table">
            <a:tbl>
              <a:tblPr firstRow="1" bandRow="1">
                <a:tableStyleId>{5C22544A-7EE6-4342-B048-85BDC9FD1C3A}</a:tableStyleId>
              </a:tblPr>
              <a:tblGrid>
                <a:gridCol w="1737360"/>
                <a:gridCol w="9372600"/>
              </a:tblGrid>
              <a:tr h="329184">
                <a:tc>
                  <a:txBody>
                    <a:bodyPr wrap="square"/>
                    <a:lstStyle/>
                    <a:p>
                      <a:pPr algn="l"/>
                      <a:r>
                        <a:rPr sz="1050" b="1">
                          <a:solidFill>
                            <a:srgbClr val="FFFFFF"/>
                          </a:solidFill>
                          <a:latin typeface="Arial"/>
                        </a:rPr>
                        <a:t>Field</a:t>
                      </a:r>
                    </a:p>
                  </a:txBody>
                  <a:tcPr marL="73152" marR="73152" marT="36576" marB="36576" anchor="ctr">
                    <a:solidFill>
                      <a:srgbClr val="10263A"/>
                    </a:solidFill>
                  </a:tcPr>
                </a:tc>
                <a:tc>
                  <a:txBody>
                    <a:bodyPr wrap="square"/>
                    <a:lstStyle/>
                    <a:p>
                      <a:pPr algn="l"/>
                      <a:r>
                        <a:rPr sz="1050" b="1">
                          <a:solidFill>
                            <a:srgbClr val="FFFFFF"/>
                          </a:solidFill>
                          <a:latin typeface="Arial"/>
                        </a:rPr>
                        <a:t>Nội dung</a:t>
                      </a:r>
                    </a:p>
                  </a:txBody>
                  <a:tcPr marL="73152" marR="73152" marT="36576" marB="36576" anchor="ctr">
                    <a:solidFill>
                      <a:srgbClr val="10263A"/>
                    </a:solidFill>
                  </a:tcPr>
                </a:tc>
              </a:tr>
              <a:tr h="841248">
                <a:tc>
                  <a:txBody>
                    <a:bodyPr wrap="square"/>
                    <a:lstStyle/>
                    <a:p>
                      <a:pPr algn="l"/>
                      <a:r>
                        <a:rPr sz="980" b="0">
                          <a:solidFill>
                            <a:srgbClr val="1F2933"/>
                          </a:solidFill>
                          <a:latin typeface="Arial"/>
                        </a:rPr>
                        <a:t>Boundary
LÀM</a:t>
                      </a:r>
                    </a:p>
                  </a:txBody>
                  <a:tcPr marL="73152" marR="73152" marT="36576" marB="36576" anchor="ctr">
                    <a:solidFill>
                      <a:srgbClr val="FFFFFF"/>
                    </a:solidFill>
                  </a:tcPr>
                </a:tc>
                <a:tc>
                  <a:txBody>
                    <a:bodyPr wrap="square"/>
                    <a:lstStyle/>
                    <a:p>
                      <a:pPr algn="l"/>
                      <a:r>
                        <a:rPr sz="980" b="0">
                          <a:solidFill>
                            <a:srgbClr val="1F2933"/>
                          </a:solidFill>
                          <a:latin typeface="Arial"/>
                        </a:rPr>
                        <a:t>Draft note cá nhân cho đúng MỘT người dự họp · xuất theo template 4 mục · mỗi dòng phải trích được câu gốc trong transcript.</a:t>
                      </a:r>
                    </a:p>
                  </a:txBody>
                  <a:tcPr marL="73152" marR="73152" marT="36576" marB="36576" anchor="ctr">
                    <a:solidFill>
                      <a:srgbClr val="FFFFFF"/>
                    </a:solidFill>
                  </a:tcPr>
                </a:tc>
              </a:tr>
              <a:tr h="841248">
                <a:tc>
                  <a:txBody>
                    <a:bodyPr wrap="square"/>
                    <a:lstStyle/>
                    <a:p>
                      <a:pPr algn="l"/>
                      <a:r>
                        <a:rPr sz="980" b="0">
                          <a:solidFill>
                            <a:srgbClr val="1F2933"/>
                          </a:solidFill>
                          <a:latin typeface="Arial"/>
                        </a:rPr>
                        <a:t>Boundary
KHÔNG LÀM</a:t>
                      </a:r>
                    </a:p>
                  </a:txBody>
                  <a:tcPr marL="73152" marR="73152" marT="36576" marB="36576" anchor="ctr">
                    <a:solidFill>
                      <a:srgbClr val="EEEEEA"/>
                    </a:solidFill>
                  </a:tcPr>
                </a:tc>
                <a:tc>
                  <a:txBody>
                    <a:bodyPr wrap="square"/>
                    <a:lstStyle/>
                    <a:p>
                      <a:pPr algn="l"/>
                      <a:r>
                        <a:rPr sz="980" b="0">
                          <a:solidFill>
                            <a:srgbClr val="1F2933"/>
                          </a:solidFill>
                          <a:latin typeface="Arial"/>
                        </a:rPr>
                        <a:t>Không tự gửi cho team/khách hàng · không tự tạo hay cập nhật task trên Jira · không ghi âm khi chưa có sự đồng ý của TẤT CẢ người trong phòng (quy tắc cứng) · không đưa meeting nhạy cảm vào pipeline · không viết ra quyết định mà transcript không có · không tự suy diễn ai phải làm gì.</a:t>
                      </a:r>
                    </a:p>
                  </a:txBody>
                  <a:tcPr marL="73152" marR="73152" marT="36576" marB="36576" anchor="ctr">
                    <a:solidFill>
                      <a:srgbClr val="EEEEEA"/>
                    </a:solidFill>
                  </a:tcPr>
                </a:tc>
              </a:tr>
              <a:tr h="841248">
                <a:tc>
                  <a:txBody>
                    <a:bodyPr wrap="square"/>
                    <a:lstStyle/>
                    <a:p>
                      <a:pPr algn="l"/>
                      <a:r>
                        <a:rPr sz="980" b="0">
                          <a:solidFill>
                            <a:srgbClr val="1F2933"/>
                          </a:solidFill>
                          <a:latin typeface="Arial"/>
                        </a:rPr>
                        <a:t>AI intervention
point</a:t>
                      </a:r>
                    </a:p>
                  </a:txBody>
                  <a:tcPr marL="73152" marR="73152" marT="36576" marB="36576" anchor="ctr">
                    <a:solidFill>
                      <a:srgbClr val="FFFFFF"/>
                    </a:solidFill>
                  </a:tcPr>
                </a:tc>
                <a:tc>
                  <a:txBody>
                    <a:bodyPr wrap="square"/>
                    <a:lstStyle/>
                    <a:p>
                      <a:pPr algn="l"/>
                      <a:r>
                        <a:rPr sz="980" b="0">
                          <a:solidFill>
                            <a:srgbClr val="1F2933"/>
                          </a:solidFill>
                          <a:latin typeface="Arial"/>
                        </a:rPr>
                        <a:t>SAU khi transcript đã có và gói ngữ cảnh đã nạp (sau bước 2) · TRƯỚC khi người dự họp review (trước bước 4). AI không chạm hai đầu: không tự đi lấy dữ liệu, không lưu hay gửi thay người.</a:t>
                      </a:r>
                    </a:p>
                  </a:txBody>
                  <a:tcPr marL="73152" marR="73152" marT="36576" marB="36576" anchor="ctr">
                    <a:solidFill>
                      <a:srgbClr val="FFFFFF"/>
                    </a:solidFill>
                  </a:tcPr>
                </a:tc>
              </a:tr>
              <a:tr h="841248">
                <a:tc>
                  <a:txBody>
                    <a:bodyPr wrap="square"/>
                    <a:lstStyle/>
                    <a:p>
                      <a:pPr algn="l"/>
                      <a:r>
                        <a:rPr sz="980" b="0">
                          <a:solidFill>
                            <a:srgbClr val="1F2933"/>
                          </a:solidFill>
                          <a:latin typeface="Arial"/>
                        </a:rPr>
                        <a:t>Mức chọn</a:t>
                      </a:r>
                    </a:p>
                  </a:txBody>
                  <a:tcPr marL="73152" marR="73152" marT="36576" marB="36576" anchor="ctr">
                    <a:solidFill>
                      <a:srgbClr val="EEEEEA"/>
                    </a:solidFill>
                  </a:tcPr>
                </a:tc>
                <a:tc>
                  <a:txBody>
                    <a:bodyPr wrap="square"/>
                    <a:lstStyle/>
                    <a:p>
                      <a:pPr algn="l"/>
                      <a:r>
                        <a:rPr sz="980" b="0">
                          <a:solidFill>
                            <a:srgbClr val="1F2933"/>
                          </a:solidFill>
                          <a:latin typeface="Arial"/>
                        </a:rPr>
                        <a:t>WORKFLOW — đường đi cố định nên không cần hệ thống tự lập kế hoạch, nhưng bước viết là việc ngôn ngữ mà Rule thuần không với tới.</a:t>
                      </a:r>
                    </a:p>
                  </a:txBody>
                  <a:tcPr marL="73152" marR="73152" marT="36576" marB="36576" anchor="ctr">
                    <a:solidFill>
                      <a:srgbClr val="EEEEEA"/>
                    </a:solidFill>
                  </a:tcPr>
                </a:tc>
              </a:tr>
              <a:tr h="841248">
                <a:tc>
                  <a:txBody>
                    <a:bodyPr wrap="square"/>
                    <a:lstStyle/>
                    <a:p>
                      <a:pPr algn="l"/>
                      <a:r>
                        <a:rPr sz="980" b="0">
                          <a:solidFill>
                            <a:srgbClr val="1F2933"/>
                          </a:solidFill>
                          <a:latin typeface="Arial"/>
                        </a:rPr>
                        <a:t>Rủi ro lớn nhất
&amp; người kiểm</a:t>
                      </a:r>
                    </a:p>
                  </a:txBody>
                  <a:tcPr marL="73152" marR="73152" marT="36576" marB="36576" anchor="ctr">
                    <a:solidFill>
                      <a:srgbClr val="FFFFFF"/>
                    </a:solidFill>
                  </a:tcPr>
                </a:tc>
                <a:tc>
                  <a:txBody>
                    <a:bodyPr wrap="square"/>
                    <a:lstStyle/>
                    <a:p>
                      <a:pPr algn="l"/>
                      <a:r>
                        <a:rPr sz="980" b="0">
                          <a:solidFill>
                            <a:srgbClr val="1F2933"/>
                          </a:solidFill>
                          <a:latin typeface="Arial"/>
                        </a:rPr>
                        <a:t>RỦI RO: AI viết ra một "quyết định đã chốt" mà buổi họp không hề chốt, người review đọc lướt, một tuần sau cả nhóm làm việc trên một quyết định không có thật.  NGƯỜI KIỂM: chính người dự họp, ở bước 4, bắt buộc.  CÁCH KIỂM: mỗi dòng "quyết định" phải kèm câu trích nguyên văn — không có trích dẫn thì xoá dòng đó.  TRÁCH NHIỆM: note đã duyệt là trách nhiệm của người review; "AI viết vậy" không phải lý do.</a:t>
                      </a:r>
                    </a:p>
                  </a:txBody>
                  <a:tcPr marL="73152" marR="73152" marT="36576" marB="36576" anchor="ctr">
                    <a:solidFill>
                      <a:srgbClr val="FFFFFF"/>
                    </a:solidFill>
                  </a:tcPr>
                </a:tc>
              </a:tr>
            </a:tbl>
          </a:graphicData>
        </a:graphic>
      </p:graphicFrame>
      <p:sp>
        <p:nvSpPr>
          <p:cNvPr id="8" name="TextBox 7"/>
          <p:cNvSpPr txBox="1"/>
          <p:nvPr/>
        </p:nvSpPr>
        <p:spPr>
          <a:xfrm>
            <a:off x="640080" y="6400800"/>
            <a:ext cx="8229600" cy="274320"/>
          </a:xfrm>
          <a:prstGeom prst="rect">
            <a:avLst/>
          </a:prstGeom>
          <a:noFill/>
        </p:spPr>
        <p:txBody>
          <a:bodyPr wrap="square" anchor="t" lIns="0" rIns="0" tIns="0" bIns="0">
            <a:spAutoFit/>
          </a:bodyPr>
          <a:lstStyle/>
          <a:p>
            <a:pPr algn="l">
              <a:lnSpc>
                <a:spcPct val="105000"/>
              </a:lnSpc>
              <a:spcAft>
                <a:spcPts val="600"/>
              </a:spcAft>
            </a:pPr>
            <a:r>
              <a:rPr sz="900" b="0">
                <a:solidFill>
                  <a:srgbClr val="6B7280"/>
                </a:solidFill>
                <a:latin typeface="Arial"/>
              </a:rPr>
              <a:t>Day 02 Lab · K4A · Nhóm 6 người · Candidate: Meeting note</a:t>
            </a:r>
          </a:p>
        </p:txBody>
      </p:sp>
      <p:sp>
        <p:nvSpPr>
          <p:cNvPr id="9" name="TextBox 8"/>
          <p:cNvSpPr txBox="1"/>
          <p:nvPr/>
        </p:nvSpPr>
        <p:spPr>
          <a:xfrm>
            <a:off x="11002975" y="6400800"/>
            <a:ext cx="548640" cy="274320"/>
          </a:xfrm>
          <a:prstGeom prst="rect">
            <a:avLst/>
          </a:prstGeom>
          <a:noFill/>
        </p:spPr>
        <p:txBody>
          <a:bodyPr wrap="square" anchor="t" lIns="0" rIns="0" tIns="0" bIns="0">
            <a:spAutoFit/>
          </a:bodyPr>
          <a:lstStyle/>
          <a:p>
            <a:pPr algn="r">
              <a:lnSpc>
                <a:spcPct val="105000"/>
              </a:lnSpc>
              <a:spcAft>
                <a:spcPts val="600"/>
              </a:spcAft>
            </a:pPr>
            <a:r>
              <a:rPr sz="900" b="1">
                <a:solidFill>
                  <a:srgbClr val="6B728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
            <a:ext cx="10972800" cy="274320"/>
          </a:xfrm>
          <a:prstGeom prst="rect">
            <a:avLst/>
          </a:prstGeom>
          <a:noFill/>
        </p:spPr>
        <p:txBody>
          <a:bodyPr wrap="square" anchor="t" lIns="0" rIns="0" tIns="0" bIns="0">
            <a:spAutoFit/>
          </a:bodyPr>
          <a:lstStyle/>
          <a:p>
            <a:pPr algn="l">
              <a:lnSpc>
                <a:spcPct val="105000"/>
              </a:lnSpc>
              <a:spcAft>
                <a:spcPts val="600"/>
              </a:spcAft>
            </a:pPr>
            <a:r>
              <a:rPr sz="1100" b="1">
                <a:solidFill>
                  <a:srgbClr val="E0A458"/>
                </a:solidFill>
                <a:latin typeface="Arial"/>
              </a:rPr>
              <a:t>PHASE 6.1</a:t>
            </a:r>
          </a:p>
        </p:txBody>
      </p:sp>
      <p:sp>
        <p:nvSpPr>
          <p:cNvPr id="6" name="TextBox 5"/>
          <p:cNvSpPr txBox="1"/>
          <p:nvPr/>
        </p:nvSpPr>
        <p:spPr>
          <a:xfrm>
            <a:off x="640080" y="475488"/>
            <a:ext cx="10972800" cy="548640"/>
          </a:xfrm>
          <a:prstGeom prst="rect">
            <a:avLst/>
          </a:prstGeom>
          <a:noFill/>
        </p:spPr>
        <p:txBody>
          <a:bodyPr wrap="square" anchor="t" lIns="0" rIns="0" tIns="0" bIns="0">
            <a:spAutoFit/>
          </a:bodyPr>
          <a:lstStyle/>
          <a:p>
            <a:pPr algn="l">
              <a:lnSpc>
                <a:spcPct val="105000"/>
              </a:lnSpc>
              <a:spcAft>
                <a:spcPts val="600"/>
              </a:spcAft>
            </a:pPr>
            <a:r>
              <a:rPr sz="2600" b="1">
                <a:solidFill>
                  <a:srgbClr val="FFFFFF"/>
                </a:solidFill>
                <a:latin typeface="Arial"/>
              </a:rPr>
              <a:t>Rule / Workflow / Agent — so trên cùng một bài</a:t>
            </a:r>
          </a:p>
        </p:txBody>
      </p:sp>
      <p:sp>
        <p:nvSpPr>
          <p:cNvPr id="7" name="Rectangle 6"/>
          <p:cNvSpPr/>
          <p:nvPr/>
        </p:nvSpPr>
        <p:spPr>
          <a:xfrm>
            <a:off x="548640" y="1691640"/>
            <a:ext cx="3611880" cy="393192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91640"/>
            <a:ext cx="64008" cy="3931920"/>
          </a:xfrm>
          <a:prstGeom prst="rect">
            <a:avLst/>
          </a:prstGeom>
          <a:solidFill>
            <a:srgbClr val="1F77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856232"/>
            <a:ext cx="3154680" cy="365760"/>
          </a:xfrm>
          <a:prstGeom prst="rect">
            <a:avLst/>
          </a:prstGeom>
          <a:noFill/>
        </p:spPr>
        <p:txBody>
          <a:bodyPr wrap="square" anchor="t" lIns="0" rIns="0" tIns="0" bIns="0">
            <a:spAutoFit/>
          </a:bodyPr>
          <a:lstStyle/>
          <a:p>
            <a:pPr algn="l">
              <a:lnSpc>
                <a:spcPct val="105000"/>
              </a:lnSpc>
              <a:spcAft>
                <a:spcPts val="600"/>
              </a:spcAft>
            </a:pPr>
            <a:r>
              <a:rPr sz="1500" b="1">
                <a:solidFill>
                  <a:srgbClr val="1F7772"/>
                </a:solidFill>
                <a:latin typeface="Arial"/>
              </a:rPr>
              <a:t>RULE</a:t>
            </a:r>
          </a:p>
        </p:txBody>
      </p:sp>
      <p:sp>
        <p:nvSpPr>
          <p:cNvPr id="10" name="TextBox 9"/>
          <p:cNvSpPr txBox="1"/>
          <p:nvPr/>
        </p:nvSpPr>
        <p:spPr>
          <a:xfrm>
            <a:off x="804672" y="2258568"/>
            <a:ext cx="3154680" cy="320040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Template 4 mục + quy tắc dành 5' cuối meeting điền tại chỗ + file glossary.md.</a:t>
            </a:r>
          </a:p>
          <a:p>
            <a:pPr algn="l">
              <a:lnSpc>
                <a:spcPct val="112000"/>
              </a:lnSpc>
              <a:spcAft>
                <a:spcPts val="500"/>
              </a:spcAft>
            </a:pPr>
            <a:r>
              <a:rPr sz="1100" b="0">
                <a:solidFill>
                  <a:srgbClr val="1F2933"/>
                </a:solidFill>
                <a:latin typeface="Arial"/>
              </a:rPr>
              <a:t/>
            </a:r>
          </a:p>
          <a:p>
            <a:pPr algn="l">
              <a:lnSpc>
                <a:spcPct val="112000"/>
              </a:lnSpc>
              <a:spcAft>
                <a:spcPts val="500"/>
              </a:spcAft>
            </a:pPr>
            <a:r>
              <a:rPr sz="1100" b="0">
                <a:solidFill>
                  <a:srgbClr val="1F2933"/>
                </a:solidFill>
                <a:latin typeface="Arial"/>
              </a:rPr>
              <a:t>ĐỦ KHI: người dự họp kỷ luật, meeting ngắn. Giải ~50–60% giá trị với chi phí gần bằng 0.</a:t>
            </a:r>
          </a:p>
          <a:p>
            <a:pPr algn="l">
              <a:lnSpc>
                <a:spcPct val="112000"/>
              </a:lnSpc>
              <a:spcAft>
                <a:spcPts val="500"/>
              </a:spcAft>
            </a:pPr>
            <a:r>
              <a:rPr sz="1100" b="0">
                <a:solidFill>
                  <a:srgbClr val="1F2933"/>
                </a:solidFill>
                <a:latin typeface="Arial"/>
              </a:rPr>
              <a:t/>
            </a:r>
          </a:p>
          <a:p>
            <a:pPr algn="l">
              <a:lnSpc>
                <a:spcPct val="112000"/>
              </a:lnSpc>
              <a:spcAft>
                <a:spcPts val="500"/>
              </a:spcAft>
            </a:pPr>
            <a:r>
              <a:rPr sz="1100" b="0">
                <a:solidFill>
                  <a:srgbClr val="1F2933"/>
                </a:solidFill>
                <a:latin typeface="Arial"/>
              </a:rPr>
              <a:t>RỦI RO: phụ thuộc hoàn toàn kỷ luật cá nhân — ngày mệt là bỏ.</a:t>
            </a:r>
          </a:p>
          <a:p>
            <a:pPr algn="l">
              <a:lnSpc>
                <a:spcPct val="112000"/>
              </a:lnSpc>
              <a:spcAft>
                <a:spcPts val="500"/>
              </a:spcAft>
            </a:pPr>
            <a:r>
              <a:rPr sz="1100" b="0">
                <a:solidFill>
                  <a:srgbClr val="1F2933"/>
                </a:solidFill>
                <a:latin typeface="Arial"/>
              </a:rPr>
              <a:t/>
            </a:r>
          </a:p>
          <a:p>
            <a:pPr algn="l">
              <a:lnSpc>
                <a:spcPct val="112000"/>
              </a:lnSpc>
              <a:spcAft>
                <a:spcPts val="500"/>
              </a:spcAft>
            </a:pPr>
            <a:r>
              <a:rPr sz="1100" b="0">
                <a:solidFill>
                  <a:srgbClr val="1F2933"/>
                </a:solidFill>
                <a:latin typeface="Arial"/>
              </a:rPr>
              <a:t>→ DÙNG cho bước 2 và cho chính cấu trúc template. Cũng là FALLBACK. Nhóm làm phần này TRƯỚC.</a:t>
            </a:r>
          </a:p>
        </p:txBody>
      </p:sp>
      <p:sp>
        <p:nvSpPr>
          <p:cNvPr id="11" name="Rectangle 10"/>
          <p:cNvSpPr/>
          <p:nvPr/>
        </p:nvSpPr>
        <p:spPr>
          <a:xfrm>
            <a:off x="4315968" y="1691640"/>
            <a:ext cx="3611880" cy="393192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15968" y="1691640"/>
            <a:ext cx="64008" cy="393192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856232"/>
            <a:ext cx="3154680" cy="365760"/>
          </a:xfrm>
          <a:prstGeom prst="rect">
            <a:avLst/>
          </a:prstGeom>
          <a:noFill/>
        </p:spPr>
        <p:txBody>
          <a:bodyPr wrap="square" anchor="t" lIns="0" rIns="0" tIns="0" bIns="0">
            <a:spAutoFit/>
          </a:bodyPr>
          <a:lstStyle/>
          <a:p>
            <a:pPr algn="l">
              <a:lnSpc>
                <a:spcPct val="105000"/>
              </a:lnSpc>
              <a:spcAft>
                <a:spcPts val="600"/>
              </a:spcAft>
            </a:pPr>
            <a:r>
              <a:rPr sz="1500" b="1">
                <a:solidFill>
                  <a:srgbClr val="10263A"/>
                </a:solidFill>
                <a:latin typeface="Arial"/>
              </a:rPr>
              <a:t>WORKFLOW  ← CHỌN</a:t>
            </a:r>
          </a:p>
        </p:txBody>
      </p:sp>
      <p:sp>
        <p:nvSpPr>
          <p:cNvPr id="14" name="TextBox 13"/>
          <p:cNvSpPr txBox="1"/>
          <p:nvPr/>
        </p:nvSpPr>
        <p:spPr>
          <a:xfrm>
            <a:off x="4572000" y="2258568"/>
            <a:ext cx="3154680" cy="320040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Transcript → nạp glossary + milestone → AI draft theo template 4 mục, mỗi dòng trích được câu gốc → người review → lưu.</a:t>
            </a:r>
          </a:p>
          <a:p>
            <a:pPr algn="l">
              <a:lnSpc>
                <a:spcPct val="112000"/>
              </a:lnSpc>
              <a:spcAft>
                <a:spcPts val="500"/>
              </a:spcAft>
            </a:pPr>
            <a:r>
              <a:rPr sz="1100" b="0">
                <a:solidFill>
                  <a:srgbClr val="1F2933"/>
                </a:solidFill>
                <a:latin typeface="Arial"/>
              </a:rPr>
              <a:t/>
            </a:r>
          </a:p>
          <a:p>
            <a:pPr algn="l">
              <a:lnSpc>
                <a:spcPct val="112000"/>
              </a:lnSpc>
              <a:spcAft>
                <a:spcPts val="500"/>
              </a:spcAft>
            </a:pPr>
            <a:r>
              <a:rPr sz="1100" b="0">
                <a:solidFill>
                  <a:srgbClr val="1F2933"/>
                </a:solidFill>
                <a:latin typeface="Arial"/>
              </a:rPr>
              <a:t>ĐỦ KHI: các bước đi thẳng một đường, AI chỉ làm đúng một việc ngôn ngữ, có người kiểm ở cuối.</a:t>
            </a:r>
          </a:p>
          <a:p>
            <a:pPr algn="l">
              <a:lnSpc>
                <a:spcPct val="112000"/>
              </a:lnSpc>
              <a:spcAft>
                <a:spcPts val="500"/>
              </a:spcAft>
            </a:pPr>
            <a:r>
              <a:rPr sz="1100" b="0">
                <a:solidFill>
                  <a:srgbClr val="1F2933"/>
                </a:solidFill>
                <a:latin typeface="Arial"/>
              </a:rPr>
              <a:t/>
            </a:r>
          </a:p>
          <a:p>
            <a:pPr algn="l">
              <a:lnSpc>
                <a:spcPct val="112000"/>
              </a:lnSpc>
              <a:spcAft>
                <a:spcPts val="500"/>
              </a:spcAft>
            </a:pPr>
            <a:r>
              <a:rPr sz="1100" b="0">
                <a:solidFill>
                  <a:srgbClr val="1F2933"/>
                </a:solidFill>
                <a:latin typeface="Arial"/>
              </a:rPr>
              <a:t>RỦI RO: AI bịa quyết định · đọc sai tên module/số liệu · người review đọc lướt · nội dung họp rời khỏi máy.</a:t>
            </a:r>
          </a:p>
        </p:txBody>
      </p:sp>
      <p:sp>
        <p:nvSpPr>
          <p:cNvPr id="15" name="Rectangle 14"/>
          <p:cNvSpPr/>
          <p:nvPr/>
        </p:nvSpPr>
        <p:spPr>
          <a:xfrm>
            <a:off x="8083296" y="1691640"/>
            <a:ext cx="3611880" cy="393192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3296" y="1691640"/>
            <a:ext cx="64008" cy="393192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8" y="1856232"/>
            <a:ext cx="3154680" cy="365760"/>
          </a:xfrm>
          <a:prstGeom prst="rect">
            <a:avLst/>
          </a:prstGeom>
          <a:noFill/>
        </p:spPr>
        <p:txBody>
          <a:bodyPr wrap="square" anchor="t" lIns="0" rIns="0" tIns="0" bIns="0">
            <a:spAutoFit/>
          </a:bodyPr>
          <a:lstStyle/>
          <a:p>
            <a:pPr algn="l">
              <a:lnSpc>
                <a:spcPct val="105000"/>
              </a:lnSpc>
              <a:spcAft>
                <a:spcPts val="600"/>
              </a:spcAft>
            </a:pPr>
            <a:r>
              <a:rPr sz="1500" b="1">
                <a:solidFill>
                  <a:srgbClr val="6B7280"/>
                </a:solidFill>
                <a:latin typeface="Arial"/>
              </a:rPr>
              <a:t>AGENT</a:t>
            </a:r>
          </a:p>
        </p:txBody>
      </p:sp>
      <p:sp>
        <p:nvSpPr>
          <p:cNvPr id="18" name="TextBox 17"/>
          <p:cNvSpPr txBox="1"/>
          <p:nvPr/>
        </p:nvSpPr>
        <p:spPr>
          <a:xfrm>
            <a:off x="8339328" y="2258568"/>
            <a:ext cx="3154680" cy="3200400"/>
          </a:xfrm>
          <a:prstGeom prst="rect">
            <a:avLst/>
          </a:prstGeom>
          <a:noFill/>
        </p:spPr>
        <p:txBody>
          <a:bodyPr wrap="square" anchor="t" lIns="0" rIns="0" tIns="0" bIns="0">
            <a:spAutoFit/>
          </a:bodyPr>
          <a:lstStyle/>
          <a:p>
            <a:pPr algn="l">
              <a:lnSpc>
                <a:spcPct val="112000"/>
              </a:lnSpc>
              <a:spcAft>
                <a:spcPts val="500"/>
              </a:spcAft>
            </a:pPr>
            <a:r>
              <a:rPr sz="1050" b="0">
                <a:solidFill>
                  <a:srgbClr val="1F2933"/>
                </a:solidFill>
                <a:latin typeface="Arial"/>
              </a:rPr>
              <a:t>Bot tự vào phòng họp, tự tra Jira/repo/lịch, tự quyết việc nào là action item, tự tạo task, tự gửi cho người liên quan.</a:t>
            </a:r>
          </a:p>
          <a:p>
            <a:pPr algn="l">
              <a:lnSpc>
                <a:spcPct val="112000"/>
              </a:lnSpc>
              <a:spcAft>
                <a:spcPts val="500"/>
              </a:spcAft>
            </a:pPr>
            <a:r>
              <a:rPr sz="1050" b="0">
                <a:solidFill>
                  <a:srgbClr val="1F2933"/>
                </a:solidFill>
                <a:latin typeface="Arial"/>
              </a:rPr>
              <a:t/>
            </a:r>
          </a:p>
          <a:p>
            <a:pPr algn="l">
              <a:lnSpc>
                <a:spcPct val="112000"/>
              </a:lnSpc>
              <a:spcAft>
                <a:spcPts val="500"/>
              </a:spcAft>
            </a:pPr>
            <a:r>
              <a:rPr sz="1050" b="0">
                <a:solidFill>
                  <a:srgbClr val="1F2933"/>
                </a:solidFill>
                <a:latin typeface="Arial"/>
              </a:rPr>
              <a:t>CHỈ CẦN KHI: có nhánh rẽ thật và khối lượng lớn tới mức không kịp review từng bản.</a:t>
            </a:r>
          </a:p>
          <a:p>
            <a:pPr algn="l">
              <a:lnSpc>
                <a:spcPct val="112000"/>
              </a:lnSpc>
              <a:spcAft>
                <a:spcPts val="500"/>
              </a:spcAft>
            </a:pPr>
            <a:r>
              <a:rPr sz="1050" b="0">
                <a:solidFill>
                  <a:srgbClr val="1F2933"/>
                </a:solidFill>
                <a:latin typeface="Arial"/>
              </a:rPr>
              <a:t/>
            </a:r>
          </a:p>
          <a:p>
            <a:pPr algn="l">
              <a:lnSpc>
                <a:spcPct val="112000"/>
              </a:lnSpc>
              <a:spcAft>
                <a:spcPts val="500"/>
              </a:spcAft>
            </a:pPr>
            <a:r>
              <a:rPr sz="1050" b="0">
                <a:solidFill>
                  <a:srgbClr val="1F2933"/>
                </a:solidFill>
                <a:latin typeface="Arial"/>
              </a:rPr>
              <a:t>RỦI RO: cần quyền GHI vào Jira và quyền GỬI tin — hai thứ đắt nhất khi sai. Gửi nhầm một note bịa cho cả team là lỗi không rút lại được.</a:t>
            </a:r>
          </a:p>
          <a:p>
            <a:pPr algn="l">
              <a:lnSpc>
                <a:spcPct val="112000"/>
              </a:lnSpc>
              <a:spcAft>
                <a:spcPts val="500"/>
              </a:spcAft>
            </a:pPr>
            <a:r>
              <a:rPr sz="1050" b="0">
                <a:solidFill>
                  <a:srgbClr val="1F2933"/>
                </a:solidFill>
                <a:latin typeface="Arial"/>
              </a:rPr>
              <a:t/>
            </a:r>
          </a:p>
          <a:p>
            <a:pPr algn="l">
              <a:lnSpc>
                <a:spcPct val="112000"/>
              </a:lnSpc>
              <a:spcAft>
                <a:spcPts val="500"/>
              </a:spcAft>
            </a:pPr>
            <a:r>
              <a:rPr sz="1050" b="0">
                <a:solidFill>
                  <a:srgbClr val="1F2933"/>
                </a:solidFill>
                <a:latin typeface="Arial"/>
              </a:rPr>
              <a:t>→ Chỉ xét lại sau khi Workflow chạy ổn ≥3 tháng.</a:t>
            </a:r>
          </a:p>
        </p:txBody>
      </p:sp>
      <p:sp>
        <p:nvSpPr>
          <p:cNvPr id="19" name="TextBox 18"/>
          <p:cNvSpPr txBox="1"/>
          <p:nvPr/>
        </p:nvSpPr>
        <p:spPr>
          <a:xfrm>
            <a:off x="548640" y="5806440"/>
            <a:ext cx="11109960" cy="457200"/>
          </a:xfrm>
          <a:prstGeom prst="rect">
            <a:avLst/>
          </a:prstGeom>
          <a:noFill/>
        </p:spPr>
        <p:txBody>
          <a:bodyPr wrap="square" anchor="t" lIns="0" rIns="0" tIns="0" bIns="0">
            <a:spAutoFit/>
          </a:bodyPr>
          <a:lstStyle/>
          <a:p>
            <a:pPr algn="ctr">
              <a:lnSpc>
                <a:spcPct val="105000"/>
              </a:lnSpc>
              <a:spcAft>
                <a:spcPts val="600"/>
              </a:spcAft>
            </a:pPr>
            <a:r>
              <a:rPr sz="1400" b="1">
                <a:solidFill>
                  <a:srgbClr val="1F7772"/>
                </a:solidFill>
                <a:latin typeface="Arial"/>
              </a:rPr>
              <a:t>Nhóm không chọn "Workflow thay cho Rule". Nhóm chọn "Rule trước, rồi thêm AI vào đúng một bước".</a:t>
            </a:r>
          </a:p>
        </p:txBody>
      </p:sp>
      <p:sp>
        <p:nvSpPr>
          <p:cNvPr id="20" name="TextBox 19"/>
          <p:cNvSpPr txBox="1"/>
          <p:nvPr/>
        </p:nvSpPr>
        <p:spPr>
          <a:xfrm>
            <a:off x="640080" y="6400800"/>
            <a:ext cx="8229600" cy="274320"/>
          </a:xfrm>
          <a:prstGeom prst="rect">
            <a:avLst/>
          </a:prstGeom>
          <a:noFill/>
        </p:spPr>
        <p:txBody>
          <a:bodyPr wrap="square" anchor="t" lIns="0" rIns="0" tIns="0" bIns="0">
            <a:spAutoFit/>
          </a:bodyPr>
          <a:lstStyle/>
          <a:p>
            <a:pPr algn="l">
              <a:lnSpc>
                <a:spcPct val="105000"/>
              </a:lnSpc>
              <a:spcAft>
                <a:spcPts val="600"/>
              </a:spcAft>
            </a:pPr>
            <a:r>
              <a:rPr sz="900" b="0">
                <a:solidFill>
                  <a:srgbClr val="6B7280"/>
                </a:solidFill>
                <a:latin typeface="Arial"/>
              </a:rPr>
              <a:t>Day 02 Lab · K4A · Nhóm 6 người · Candidate: Meeting note</a:t>
            </a:r>
          </a:p>
        </p:txBody>
      </p:sp>
      <p:sp>
        <p:nvSpPr>
          <p:cNvPr id="21" name="TextBox 20"/>
          <p:cNvSpPr txBox="1"/>
          <p:nvPr/>
        </p:nvSpPr>
        <p:spPr>
          <a:xfrm>
            <a:off x="11002975" y="6400800"/>
            <a:ext cx="548640" cy="274320"/>
          </a:xfrm>
          <a:prstGeom prst="rect">
            <a:avLst/>
          </a:prstGeom>
          <a:noFill/>
        </p:spPr>
        <p:txBody>
          <a:bodyPr wrap="square" anchor="t" lIns="0" rIns="0" tIns="0" bIns="0">
            <a:spAutoFit/>
          </a:bodyPr>
          <a:lstStyle/>
          <a:p>
            <a:pPr algn="r">
              <a:lnSpc>
                <a:spcPct val="105000"/>
              </a:lnSpc>
              <a:spcAft>
                <a:spcPts val="600"/>
              </a:spcAft>
            </a:pPr>
            <a:r>
              <a:rPr sz="900" b="1">
                <a:solidFill>
                  <a:srgbClr val="6B728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
            <a:ext cx="10972800" cy="274320"/>
          </a:xfrm>
          <a:prstGeom prst="rect">
            <a:avLst/>
          </a:prstGeom>
          <a:noFill/>
        </p:spPr>
        <p:txBody>
          <a:bodyPr wrap="square" anchor="t" lIns="0" rIns="0" tIns="0" bIns="0">
            <a:spAutoFit/>
          </a:bodyPr>
          <a:lstStyle/>
          <a:p>
            <a:pPr algn="l">
              <a:lnSpc>
                <a:spcPct val="105000"/>
              </a:lnSpc>
              <a:spcAft>
                <a:spcPts val="600"/>
              </a:spcAft>
            </a:pPr>
            <a:r>
              <a:rPr sz="1100" b="1">
                <a:solidFill>
                  <a:srgbClr val="E0A458"/>
                </a:solidFill>
                <a:latin typeface="Arial"/>
              </a:rPr>
              <a:t>PHASE 6.1</a:t>
            </a:r>
          </a:p>
        </p:txBody>
      </p:sp>
      <p:sp>
        <p:nvSpPr>
          <p:cNvPr id="6" name="TextBox 5"/>
          <p:cNvSpPr txBox="1"/>
          <p:nvPr/>
        </p:nvSpPr>
        <p:spPr>
          <a:xfrm>
            <a:off x="640080" y="475488"/>
            <a:ext cx="10972800" cy="548640"/>
          </a:xfrm>
          <a:prstGeom prst="rect">
            <a:avLst/>
          </a:prstGeom>
          <a:noFill/>
        </p:spPr>
        <p:txBody>
          <a:bodyPr wrap="square" anchor="t" lIns="0" rIns="0" tIns="0" bIns="0">
            <a:spAutoFit/>
          </a:bodyPr>
          <a:lstStyle/>
          <a:p>
            <a:pPr algn="l">
              <a:lnSpc>
                <a:spcPct val="105000"/>
              </a:lnSpc>
              <a:spcAft>
                <a:spcPts val="600"/>
              </a:spcAft>
            </a:pPr>
            <a:r>
              <a:rPr sz="2600" b="1">
                <a:solidFill>
                  <a:srgbClr val="FFFFFF"/>
                </a:solidFill>
                <a:latin typeface="Arial"/>
              </a:rPr>
              <a:t>5 câu hỏi chốt — phần ép nhóm hạ mức xuống</a:t>
            </a:r>
          </a:p>
        </p:txBody>
      </p:sp>
      <p:sp>
        <p:nvSpPr>
          <p:cNvPr id="7" name="Rectangle 6"/>
          <p:cNvSpPr/>
          <p:nvPr/>
        </p:nvSpPr>
        <p:spPr>
          <a:xfrm>
            <a:off x="548640" y="1645920"/>
            <a:ext cx="11109960" cy="841248"/>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54864" cy="841248"/>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755648"/>
            <a:ext cx="3931920" cy="640080"/>
          </a:xfrm>
          <a:prstGeom prst="rect">
            <a:avLst/>
          </a:prstGeom>
          <a:noFill/>
        </p:spPr>
        <p:txBody>
          <a:bodyPr wrap="square" anchor="t" lIns="0" rIns="0" tIns="0" bIns="0">
            <a:spAutoFit/>
          </a:bodyPr>
          <a:lstStyle/>
          <a:p>
            <a:pPr algn="l">
              <a:lnSpc>
                <a:spcPct val="110000"/>
              </a:lnSpc>
              <a:spcAft>
                <a:spcPts val="600"/>
              </a:spcAft>
            </a:pPr>
            <a:r>
              <a:rPr sz="1150" b="1">
                <a:solidFill>
                  <a:srgbClr val="1F2933"/>
                </a:solidFill>
                <a:latin typeface="Arial"/>
              </a:rPr>
              <a:t>1. Rule có giải được 70–80% case không?</a:t>
            </a:r>
          </a:p>
        </p:txBody>
      </p:sp>
      <p:sp>
        <p:nvSpPr>
          <p:cNvPr id="10" name="TextBox 9"/>
          <p:cNvSpPr txBox="1"/>
          <p:nvPr/>
        </p:nvSpPr>
        <p:spPr>
          <a:xfrm>
            <a:off x="4846320" y="1755648"/>
            <a:ext cx="6675120" cy="640080"/>
          </a:xfrm>
          <a:prstGeom prst="rect">
            <a:avLst/>
          </a:prstGeom>
          <a:noFill/>
        </p:spPr>
        <p:txBody>
          <a:bodyPr wrap="square" anchor="t" lIns="0" rIns="0" tIns="0" bIns="0">
            <a:spAutoFit/>
          </a:bodyPr>
          <a:lstStyle/>
          <a:p>
            <a:pPr algn="l">
              <a:lnSpc>
                <a:spcPct val="112000"/>
              </a:lnSpc>
              <a:spcAft>
                <a:spcPts val="600"/>
              </a:spcAft>
            </a:pPr>
            <a:r>
              <a:rPr sz="1050" b="0">
                <a:solidFill>
                  <a:srgbClr val="6B7280"/>
                </a:solidFill>
                <a:latin typeface="Arial"/>
              </a:rPr>
              <a:t>Không — khoảng 50–60%. Template giải trọn "viết cái gì"; nhưng phần nhớ lại mạch họp khi đã viết muộn vài tiếng thì không luật nào thay được.</a:t>
            </a:r>
          </a:p>
        </p:txBody>
      </p:sp>
      <p:sp>
        <p:nvSpPr>
          <p:cNvPr id="11" name="Rectangle 10"/>
          <p:cNvSpPr/>
          <p:nvPr/>
        </p:nvSpPr>
        <p:spPr>
          <a:xfrm>
            <a:off x="548640" y="2560320"/>
            <a:ext cx="11109960" cy="841248"/>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560320"/>
            <a:ext cx="54864" cy="841248"/>
          </a:xfrm>
          <a:prstGeom prst="rect">
            <a:avLst/>
          </a:prstGeom>
          <a:solidFill>
            <a:srgbClr val="1F77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670048"/>
            <a:ext cx="3931920" cy="640080"/>
          </a:xfrm>
          <a:prstGeom prst="rect">
            <a:avLst/>
          </a:prstGeom>
          <a:noFill/>
        </p:spPr>
        <p:txBody>
          <a:bodyPr wrap="square" anchor="t" lIns="0" rIns="0" tIns="0" bIns="0">
            <a:spAutoFit/>
          </a:bodyPr>
          <a:lstStyle/>
          <a:p>
            <a:pPr algn="l">
              <a:lnSpc>
                <a:spcPct val="110000"/>
              </a:lnSpc>
              <a:spcAft>
                <a:spcPts val="600"/>
              </a:spcAft>
            </a:pPr>
            <a:r>
              <a:rPr sz="1150" b="1">
                <a:solidFill>
                  <a:srgbClr val="1F2933"/>
                </a:solidFill>
                <a:latin typeface="Arial"/>
              </a:rPr>
              <a:t>2. Các bước đi thẳng hay phải rẽ nhánh?</a:t>
            </a:r>
          </a:p>
        </p:txBody>
      </p:sp>
      <p:sp>
        <p:nvSpPr>
          <p:cNvPr id="14" name="TextBox 13"/>
          <p:cNvSpPr txBox="1"/>
          <p:nvPr/>
        </p:nvSpPr>
        <p:spPr>
          <a:xfrm>
            <a:off x="4846320" y="2670048"/>
            <a:ext cx="6675120" cy="640080"/>
          </a:xfrm>
          <a:prstGeom prst="rect">
            <a:avLst/>
          </a:prstGeom>
          <a:noFill/>
        </p:spPr>
        <p:txBody>
          <a:bodyPr wrap="square" anchor="t" lIns="0" rIns="0" tIns="0" bIns="0">
            <a:spAutoFit/>
          </a:bodyPr>
          <a:lstStyle/>
          <a:p>
            <a:pPr algn="l">
              <a:lnSpc>
                <a:spcPct val="112000"/>
              </a:lnSpc>
              <a:spcAft>
                <a:spcPts val="600"/>
              </a:spcAft>
            </a:pPr>
            <a:r>
              <a:rPr sz="1050" b="0">
                <a:solidFill>
                  <a:srgbClr val="6B7280"/>
                </a:solidFill>
                <a:latin typeface="Arial"/>
              </a:rPr>
              <a:t>Đi thẳng một đường cho mọi buổi họp. Chỉ có đúng một nhánh rẽ, và nó do NGƯỜI quyết: meeting nhạy cảm thì không đưa vào pipeline.</a:t>
            </a:r>
          </a:p>
        </p:txBody>
      </p:sp>
      <p:sp>
        <p:nvSpPr>
          <p:cNvPr id="15" name="Rectangle 14"/>
          <p:cNvSpPr/>
          <p:nvPr/>
        </p:nvSpPr>
        <p:spPr>
          <a:xfrm>
            <a:off x="548640" y="3474720"/>
            <a:ext cx="11109960" cy="841248"/>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474720"/>
            <a:ext cx="54864" cy="841248"/>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584448"/>
            <a:ext cx="3931920" cy="640080"/>
          </a:xfrm>
          <a:prstGeom prst="rect">
            <a:avLst/>
          </a:prstGeom>
          <a:noFill/>
        </p:spPr>
        <p:txBody>
          <a:bodyPr wrap="square" anchor="t" lIns="0" rIns="0" tIns="0" bIns="0">
            <a:spAutoFit/>
          </a:bodyPr>
          <a:lstStyle/>
          <a:p>
            <a:pPr algn="l">
              <a:lnSpc>
                <a:spcPct val="110000"/>
              </a:lnSpc>
              <a:spcAft>
                <a:spcPts val="600"/>
              </a:spcAft>
            </a:pPr>
            <a:r>
              <a:rPr sz="1150" b="1">
                <a:solidFill>
                  <a:srgbClr val="1F2933"/>
                </a:solidFill>
                <a:latin typeface="Arial"/>
              </a:rPr>
              <a:t>3. Có thật sự cần Agent tự lập kế hoạch + gọi tool?</a:t>
            </a:r>
          </a:p>
        </p:txBody>
      </p:sp>
      <p:sp>
        <p:nvSpPr>
          <p:cNvPr id="18" name="TextBox 17"/>
          <p:cNvSpPr txBox="1"/>
          <p:nvPr/>
        </p:nvSpPr>
        <p:spPr>
          <a:xfrm>
            <a:off x="4846320" y="3584448"/>
            <a:ext cx="6675120" cy="640080"/>
          </a:xfrm>
          <a:prstGeom prst="rect">
            <a:avLst/>
          </a:prstGeom>
          <a:noFill/>
        </p:spPr>
        <p:txBody>
          <a:bodyPr wrap="square" anchor="t" lIns="0" rIns="0" tIns="0" bIns="0">
            <a:spAutoFit/>
          </a:bodyPr>
          <a:lstStyle/>
          <a:p>
            <a:pPr algn="l">
              <a:lnSpc>
                <a:spcPct val="112000"/>
              </a:lnSpc>
              <a:spcAft>
                <a:spcPts val="600"/>
              </a:spcAft>
            </a:pPr>
            <a:r>
              <a:rPr sz="1050" b="0">
                <a:solidFill>
                  <a:srgbClr val="6B7280"/>
                </a:solidFill>
                <a:latin typeface="Arial"/>
              </a:rPr>
              <a:t>Không. Thứ duy nhất từng khiến nhóm nghĩ tới Agent là "tự tra Jira lấy ngữ cảnh" — nhưng ý đó đã được giải rẻ hơn hẳn bằng một file glossary.</a:t>
            </a:r>
          </a:p>
        </p:txBody>
      </p:sp>
      <p:sp>
        <p:nvSpPr>
          <p:cNvPr id="19" name="Rectangle 18"/>
          <p:cNvSpPr/>
          <p:nvPr/>
        </p:nvSpPr>
        <p:spPr>
          <a:xfrm>
            <a:off x="548640" y="4389120"/>
            <a:ext cx="11109960" cy="841248"/>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4389120"/>
            <a:ext cx="54864" cy="841248"/>
          </a:xfrm>
          <a:prstGeom prst="rect">
            <a:avLst/>
          </a:prstGeom>
          <a:solidFill>
            <a:srgbClr val="1F77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498848"/>
            <a:ext cx="3931920" cy="640080"/>
          </a:xfrm>
          <a:prstGeom prst="rect">
            <a:avLst/>
          </a:prstGeom>
          <a:noFill/>
        </p:spPr>
        <p:txBody>
          <a:bodyPr wrap="square" anchor="t" lIns="0" rIns="0" tIns="0" bIns="0">
            <a:spAutoFit/>
          </a:bodyPr>
          <a:lstStyle/>
          <a:p>
            <a:pPr algn="l">
              <a:lnSpc>
                <a:spcPct val="110000"/>
              </a:lnSpc>
              <a:spcAft>
                <a:spcPts val="600"/>
              </a:spcAft>
            </a:pPr>
            <a:r>
              <a:rPr sz="1150" b="1">
                <a:solidFill>
                  <a:srgbClr val="1F2933"/>
                </a:solidFill>
                <a:latin typeface="Arial"/>
              </a:rPr>
              <a:t>4. Nếu AI sai, ai phát hiện đầu tiên, sửa bao lâu?</a:t>
            </a:r>
          </a:p>
        </p:txBody>
      </p:sp>
      <p:sp>
        <p:nvSpPr>
          <p:cNvPr id="22" name="TextBox 21"/>
          <p:cNvSpPr txBox="1"/>
          <p:nvPr/>
        </p:nvSpPr>
        <p:spPr>
          <a:xfrm>
            <a:off x="4846320" y="4498848"/>
            <a:ext cx="6675120" cy="640080"/>
          </a:xfrm>
          <a:prstGeom prst="rect">
            <a:avLst/>
          </a:prstGeom>
          <a:noFill/>
        </p:spPr>
        <p:txBody>
          <a:bodyPr wrap="square" anchor="t" lIns="0" rIns="0" tIns="0" bIns="0">
            <a:spAutoFit/>
          </a:bodyPr>
          <a:lstStyle/>
          <a:p>
            <a:pPr algn="l">
              <a:lnSpc>
                <a:spcPct val="112000"/>
              </a:lnSpc>
              <a:spcAft>
                <a:spcPts val="600"/>
              </a:spcAft>
            </a:pPr>
            <a:r>
              <a:rPr sz="1050" b="0">
                <a:solidFill>
                  <a:srgbClr val="6B7280"/>
                </a:solidFill>
                <a:latin typeface="Arial"/>
              </a:rPr>
              <a:t>Chính người dự họp, ngay ở bước 4. Vài chục giây cho lỗi tên module; ~8 phút nếu phải bỏ draft viết tay. Người phát hiện lỗi và người chịu hậu quả là CÙNG MỘT NGƯỜI.</a:t>
            </a:r>
          </a:p>
        </p:txBody>
      </p:sp>
      <p:sp>
        <p:nvSpPr>
          <p:cNvPr id="23" name="Rectangle 22"/>
          <p:cNvSpPr/>
          <p:nvPr/>
        </p:nvSpPr>
        <p:spPr>
          <a:xfrm>
            <a:off x="548640" y="5303520"/>
            <a:ext cx="11109960" cy="841248"/>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303520"/>
            <a:ext cx="54864" cy="841248"/>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5413248"/>
            <a:ext cx="3931920" cy="640080"/>
          </a:xfrm>
          <a:prstGeom prst="rect">
            <a:avLst/>
          </a:prstGeom>
          <a:noFill/>
        </p:spPr>
        <p:txBody>
          <a:bodyPr wrap="square" anchor="t" lIns="0" rIns="0" tIns="0" bIns="0">
            <a:spAutoFit/>
          </a:bodyPr>
          <a:lstStyle/>
          <a:p>
            <a:pPr algn="l">
              <a:lnSpc>
                <a:spcPct val="110000"/>
              </a:lnSpc>
              <a:spcAft>
                <a:spcPts val="600"/>
              </a:spcAft>
            </a:pPr>
            <a:r>
              <a:rPr sz="1150" b="1">
                <a:solidFill>
                  <a:srgbClr val="1F2933"/>
                </a:solidFill>
                <a:latin typeface="Arial"/>
              </a:rPr>
              <a:t>5. Có hạ được Agent → Workflow → Rule không?</a:t>
            </a:r>
          </a:p>
        </p:txBody>
      </p:sp>
      <p:sp>
        <p:nvSpPr>
          <p:cNvPr id="26" name="TextBox 25"/>
          <p:cNvSpPr txBox="1"/>
          <p:nvPr/>
        </p:nvSpPr>
        <p:spPr>
          <a:xfrm>
            <a:off x="4846320" y="5413248"/>
            <a:ext cx="6675120" cy="640080"/>
          </a:xfrm>
          <a:prstGeom prst="rect">
            <a:avLst/>
          </a:prstGeom>
          <a:noFill/>
        </p:spPr>
        <p:txBody>
          <a:bodyPr wrap="square" anchor="t" lIns="0" rIns="0" tIns="0" bIns="0">
            <a:spAutoFit/>
          </a:bodyPr>
          <a:lstStyle/>
          <a:p>
            <a:pPr algn="l">
              <a:lnSpc>
                <a:spcPct val="112000"/>
              </a:lnSpc>
              <a:spcAft>
                <a:spcPts val="600"/>
              </a:spcAft>
            </a:pPr>
            <a:r>
              <a:rPr sz="1050" b="0">
                <a:solidFill>
                  <a:srgbClr val="6B7280"/>
                </a:solidFill>
                <a:latin typeface="Arial"/>
              </a:rPr>
              <a:t>Đã hạ một nấc: bỏ quyền tự tạo task và tự gửi. Thử hạ tiếp xuống Rule thuần thì không đủ — nhưng Rule không bị vứt đi, nó nằm nguyên bên trong phương án Workflow.</a:t>
            </a:r>
          </a:p>
        </p:txBody>
      </p:sp>
      <p:sp>
        <p:nvSpPr>
          <p:cNvPr id="27" name="TextBox 26"/>
          <p:cNvSpPr txBox="1"/>
          <p:nvPr/>
        </p:nvSpPr>
        <p:spPr>
          <a:xfrm>
            <a:off x="640080" y="6400800"/>
            <a:ext cx="8229600" cy="274320"/>
          </a:xfrm>
          <a:prstGeom prst="rect">
            <a:avLst/>
          </a:prstGeom>
          <a:noFill/>
        </p:spPr>
        <p:txBody>
          <a:bodyPr wrap="square" anchor="t" lIns="0" rIns="0" tIns="0" bIns="0">
            <a:spAutoFit/>
          </a:bodyPr>
          <a:lstStyle/>
          <a:p>
            <a:pPr algn="l">
              <a:lnSpc>
                <a:spcPct val="105000"/>
              </a:lnSpc>
              <a:spcAft>
                <a:spcPts val="600"/>
              </a:spcAft>
            </a:pPr>
            <a:r>
              <a:rPr sz="900" b="0">
                <a:solidFill>
                  <a:srgbClr val="6B7280"/>
                </a:solidFill>
                <a:latin typeface="Arial"/>
              </a:rPr>
              <a:t>Day 02 Lab · K4A · Nhóm 6 người · Candidate: Meeting note</a:t>
            </a:r>
          </a:p>
        </p:txBody>
      </p:sp>
      <p:sp>
        <p:nvSpPr>
          <p:cNvPr id="28" name="TextBox 27"/>
          <p:cNvSpPr txBox="1"/>
          <p:nvPr/>
        </p:nvSpPr>
        <p:spPr>
          <a:xfrm>
            <a:off x="11002975" y="6400800"/>
            <a:ext cx="548640" cy="274320"/>
          </a:xfrm>
          <a:prstGeom prst="rect">
            <a:avLst/>
          </a:prstGeom>
          <a:noFill/>
        </p:spPr>
        <p:txBody>
          <a:bodyPr wrap="square" anchor="t" lIns="0" rIns="0" tIns="0" bIns="0">
            <a:spAutoFit/>
          </a:bodyPr>
          <a:lstStyle/>
          <a:p>
            <a:pPr algn="r">
              <a:lnSpc>
                <a:spcPct val="105000"/>
              </a:lnSpc>
              <a:spcAft>
                <a:spcPts val="600"/>
              </a:spcAft>
            </a:pPr>
            <a:r>
              <a:rPr sz="900" b="1">
                <a:solidFill>
                  <a:srgbClr val="6B728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
            <a:ext cx="10972800" cy="274320"/>
          </a:xfrm>
          <a:prstGeom prst="rect">
            <a:avLst/>
          </a:prstGeom>
          <a:noFill/>
        </p:spPr>
        <p:txBody>
          <a:bodyPr wrap="square" anchor="t" lIns="0" rIns="0" tIns="0" bIns="0">
            <a:spAutoFit/>
          </a:bodyPr>
          <a:lstStyle/>
          <a:p>
            <a:pPr algn="l">
              <a:lnSpc>
                <a:spcPct val="105000"/>
              </a:lnSpc>
              <a:spcAft>
                <a:spcPts val="600"/>
              </a:spcAft>
            </a:pPr>
            <a:r>
              <a:rPr sz="1100" b="1">
                <a:solidFill>
                  <a:srgbClr val="E0A458"/>
                </a:solidFill>
                <a:latin typeface="Arial"/>
              </a:rPr>
              <a:t>PHASE 6.3</a:t>
            </a:r>
          </a:p>
        </p:txBody>
      </p:sp>
      <p:sp>
        <p:nvSpPr>
          <p:cNvPr id="6" name="TextBox 5"/>
          <p:cNvSpPr txBox="1"/>
          <p:nvPr/>
        </p:nvSpPr>
        <p:spPr>
          <a:xfrm>
            <a:off x="640080" y="475488"/>
            <a:ext cx="10972800" cy="548640"/>
          </a:xfrm>
          <a:prstGeom prst="rect">
            <a:avLst/>
          </a:prstGeom>
          <a:noFill/>
        </p:spPr>
        <p:txBody>
          <a:bodyPr wrap="square" anchor="t" lIns="0" rIns="0" tIns="0" bIns="0">
            <a:spAutoFit/>
          </a:bodyPr>
          <a:lstStyle/>
          <a:p>
            <a:pPr algn="l">
              <a:lnSpc>
                <a:spcPct val="105000"/>
              </a:lnSpc>
              <a:spcAft>
                <a:spcPts val="600"/>
              </a:spcAft>
            </a:pPr>
            <a:r>
              <a:rPr sz="2600" b="1">
                <a:solidFill>
                  <a:srgbClr val="FFFFFF"/>
                </a:solidFill>
                <a:latin typeface="Arial"/>
              </a:rPr>
              <a:t>Quyết định cuối</a:t>
            </a:r>
          </a:p>
        </p:txBody>
      </p:sp>
      <p:sp>
        <p:nvSpPr>
          <p:cNvPr id="7" name="Rectangle 6"/>
          <p:cNvSpPr/>
          <p:nvPr/>
        </p:nvSpPr>
        <p:spPr>
          <a:xfrm>
            <a:off x="548640" y="1645920"/>
            <a:ext cx="11109960" cy="13716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10424160" cy="502920"/>
          </a:xfrm>
          <a:prstGeom prst="rect">
            <a:avLst/>
          </a:prstGeom>
          <a:noFill/>
        </p:spPr>
        <p:txBody>
          <a:bodyPr wrap="square" anchor="t" lIns="0" rIns="0" tIns="0" bIns="0">
            <a:spAutoFit/>
          </a:bodyPr>
          <a:lstStyle/>
          <a:p>
            <a:pPr algn="l">
              <a:lnSpc>
                <a:spcPct val="105000"/>
              </a:lnSpc>
              <a:spcAft>
                <a:spcPts val="600"/>
              </a:spcAft>
            </a:pPr>
            <a:r>
              <a:rPr sz="3200" b="1">
                <a:solidFill>
                  <a:srgbClr val="FFFFFF"/>
                </a:solidFill>
                <a:latin typeface="Arial"/>
              </a:rPr>
              <a:t>GO — scope nhỏ, CÓ ĐIỀU KIỆN</a:t>
            </a:r>
          </a:p>
        </p:txBody>
      </p:sp>
      <p:sp>
        <p:nvSpPr>
          <p:cNvPr id="9" name="TextBox 8"/>
          <p:cNvSpPr txBox="1"/>
          <p:nvPr/>
        </p:nvSpPr>
        <p:spPr>
          <a:xfrm>
            <a:off x="914400" y="2450592"/>
            <a:ext cx="10424160" cy="411480"/>
          </a:xfrm>
          <a:prstGeom prst="rect">
            <a:avLst/>
          </a:prstGeom>
          <a:noFill/>
        </p:spPr>
        <p:txBody>
          <a:bodyPr wrap="square" anchor="t" lIns="0" rIns="0" tIns="0" bIns="0">
            <a:spAutoFit/>
          </a:bodyPr>
          <a:lstStyle/>
          <a:p>
            <a:pPr algn="l">
              <a:lnSpc>
                <a:spcPct val="105000"/>
              </a:lnSpc>
              <a:spcAft>
                <a:spcPts val="600"/>
              </a:spcAft>
            </a:pPr>
            <a:r>
              <a:rPr sz="1300" b="0">
                <a:solidFill>
                  <a:srgbClr val="E0A458"/>
                </a:solidFill>
                <a:latin typeface="Arial"/>
              </a:rPr>
              <a:t>Pilot 3 tuần · 1 người (Dũng) · 9–12 meeting · Tuần 1 chạy RULE THUẦN để lấy baseline, tuần 2–3 mới bật AI</a:t>
            </a:r>
          </a:p>
        </p:txBody>
      </p:sp>
      <p:graphicFrame>
        <p:nvGraphicFramePr>
          <p:cNvPr id="10" name="Table 9"/>
          <p:cNvGraphicFramePr>
            <a:graphicFrameLocks noGrp="1"/>
          </p:cNvGraphicFramePr>
          <p:nvPr/>
        </p:nvGraphicFramePr>
        <p:xfrm>
          <a:off x="548640" y="3200400"/>
          <a:ext cx="11109960" cy="3163824"/>
        </p:xfrm>
        <a:graphic>
          <a:graphicData uri="http://schemas.openxmlformats.org/drawingml/2006/table">
            <a:tbl>
              <a:tblPr firstRow="1" bandRow="1">
                <a:tableStyleId>{5C22544A-7EE6-4342-B048-85BDC9FD1C3A}</a:tableStyleId>
              </a:tblPr>
              <a:tblGrid>
                <a:gridCol w="2926080"/>
                <a:gridCol w="1691640"/>
                <a:gridCol w="6492240"/>
              </a:tblGrid>
              <a:tr h="365760">
                <a:tc>
                  <a:txBody>
                    <a:bodyPr wrap="square"/>
                    <a:lstStyle/>
                    <a:p>
                      <a:pPr algn="l"/>
                      <a:r>
                        <a:rPr sz="1050" b="1">
                          <a:solidFill>
                            <a:srgbClr val="FFFFFF"/>
                          </a:solidFill>
                          <a:latin typeface="Arial"/>
                        </a:rPr>
                        <a:t>Câu hỏi</a:t>
                      </a:r>
                    </a:p>
                  </a:txBody>
                  <a:tcPr marL="73152" marR="73152" marT="36576" marB="36576" anchor="ctr">
                    <a:solidFill>
                      <a:srgbClr val="10263A"/>
                    </a:solidFill>
                  </a:tcPr>
                </a:tc>
                <a:tc>
                  <a:txBody>
                    <a:bodyPr wrap="square"/>
                    <a:lstStyle/>
                    <a:p>
                      <a:pPr algn="l"/>
                      <a:r>
                        <a:rPr sz="1050" b="1">
                          <a:solidFill>
                            <a:srgbClr val="FFFFFF"/>
                          </a:solidFill>
                          <a:latin typeface="Arial"/>
                        </a:rPr>
                        <a:t>Trả lời</a:t>
                      </a:r>
                    </a:p>
                  </a:txBody>
                  <a:tcPr marL="73152" marR="73152" marT="36576" marB="36576" anchor="ctr">
                    <a:solidFill>
                      <a:srgbClr val="10263A"/>
                    </a:solidFill>
                  </a:tcPr>
                </a:tc>
                <a:tc>
                  <a:txBody>
                    <a:bodyPr wrap="square"/>
                    <a:lstStyle/>
                    <a:p>
                      <a:pPr algn="l"/>
                      <a:r>
                        <a:rPr sz="1050" b="1">
                          <a:solidFill>
                            <a:srgbClr val="FFFFFF"/>
                          </a:solidFill>
                          <a:latin typeface="Arial"/>
                        </a:rPr>
                        <a:t>Ghi chú</a:t>
                      </a:r>
                    </a:p>
                  </a:txBody>
                  <a:tcPr marL="73152" marR="73152" marT="36576" marB="36576" anchor="ctr">
                    <a:solidFill>
                      <a:srgbClr val="10263A"/>
                    </a:solidFill>
                  </a:tcPr>
                </a:tc>
              </a:tr>
              <a:tr h="466344">
                <a:tc>
                  <a:txBody>
                    <a:bodyPr wrap="square"/>
                    <a:lstStyle/>
                    <a:p>
                      <a:pPr algn="l"/>
                      <a:r>
                        <a:rPr sz="1000" b="0">
                          <a:solidFill>
                            <a:srgbClr val="1F2933"/>
                          </a:solidFill>
                          <a:latin typeface="Arial"/>
                        </a:rPr>
                        <a:t>Actor + workflow rõ chưa?</a:t>
                      </a:r>
                    </a:p>
                  </a:txBody>
                  <a:tcPr marL="73152" marR="73152" marT="36576" marB="36576" anchor="ctr">
                    <a:solidFill>
                      <a:srgbClr val="FFFFFF"/>
                    </a:solidFill>
                  </a:tcPr>
                </a:tc>
                <a:tc>
                  <a:txBody>
                    <a:bodyPr wrap="square"/>
                    <a:lstStyle/>
                    <a:p>
                      <a:pPr algn="l"/>
                      <a:r>
                        <a:rPr sz="1000" b="0">
                          <a:solidFill>
                            <a:srgbClr val="1F2933"/>
                          </a:solidFill>
                          <a:latin typeface="Arial"/>
                        </a:rPr>
                        <a:t>Yes</a:t>
                      </a:r>
                    </a:p>
                  </a:txBody>
                  <a:tcPr marL="73152" marR="73152" marT="36576" marB="36576" anchor="ctr">
                    <a:solidFill>
                      <a:srgbClr val="FFFFFF"/>
                    </a:solidFill>
                  </a:tcPr>
                </a:tc>
                <a:tc>
                  <a:txBody>
                    <a:bodyPr wrap="square"/>
                    <a:lstStyle/>
                    <a:p>
                      <a:pPr algn="l"/>
                      <a:r>
                        <a:rPr sz="1000" b="0">
                          <a:solidFill>
                            <a:srgbClr val="1F2933"/>
                          </a:solidFill>
                          <a:latin typeface="Arial"/>
                        </a:rPr>
                        <a:t>Actor đã thu hẹp từ "User" thành "người tham dự meeting ≥30 phút, không chủ trì", và người đó ngồi ngay trong nhóm</a:t>
                      </a:r>
                    </a:p>
                  </a:txBody>
                  <a:tcPr marL="73152" marR="73152" marT="36576" marB="36576" anchor="ctr">
                    <a:solidFill>
                      <a:srgbClr val="FFFFFF"/>
                    </a:solidFill>
                  </a:tcPr>
                </a:tc>
              </a:tr>
              <a:tr h="466344">
                <a:tc>
                  <a:txBody>
                    <a:bodyPr wrap="square"/>
                    <a:lstStyle/>
                    <a:p>
                      <a:pPr algn="l"/>
                      <a:r>
                        <a:rPr sz="1000" b="0">
                          <a:solidFill>
                            <a:srgbClr val="1F2933"/>
                          </a:solidFill>
                          <a:latin typeface="Arial"/>
                        </a:rPr>
                        <a:t>Baseline + metric đo được chưa?</a:t>
                      </a:r>
                    </a:p>
                  </a:txBody>
                  <a:tcPr marL="73152" marR="73152" marT="36576" marB="36576" anchor="ctr">
                    <a:solidFill>
                      <a:srgbClr val="EEEEEA"/>
                    </a:solidFill>
                  </a:tcPr>
                </a:tc>
                <a:tc>
                  <a:txBody>
                    <a:bodyPr wrap="square"/>
                    <a:lstStyle/>
                    <a:p>
                      <a:pPr algn="l"/>
                      <a:r>
                        <a:rPr sz="1000" b="0">
                          <a:solidFill>
                            <a:srgbClr val="1F2933"/>
                          </a:solidFill>
                          <a:latin typeface="Arial"/>
                        </a:rPr>
                        <a:t>Một phần</a:t>
                      </a:r>
                    </a:p>
                  </a:txBody>
                  <a:tcPr marL="73152" marR="73152" marT="36576" marB="36576" anchor="ctr">
                    <a:solidFill>
                      <a:srgbClr val="EEEEEA"/>
                    </a:solidFill>
                  </a:tcPr>
                </a:tc>
                <a:tc>
                  <a:txBody>
                    <a:bodyPr wrap="square"/>
                    <a:lstStyle/>
                    <a:p>
                      <a:pPr algn="l"/>
                      <a:r>
                        <a:rPr sz="1000" b="0">
                          <a:solidFill>
                            <a:srgbClr val="1F2933"/>
                          </a:solidFill>
                          <a:latin typeface="Arial"/>
                        </a:rPr>
                        <a:t>Tần suất [ĐO]; thời gian mới [ƯỚC]; hai metric bỏ sót [CHƯA ĐO] → chính là lý do tuần 1 dành riêng để đo</a:t>
                      </a:r>
                    </a:p>
                  </a:txBody>
                  <a:tcPr marL="73152" marR="73152" marT="36576" marB="36576" anchor="ctr">
                    <a:solidFill>
                      <a:srgbClr val="EEEEEA"/>
                    </a:solidFill>
                  </a:tcPr>
                </a:tc>
              </a:tr>
              <a:tr h="466344">
                <a:tc>
                  <a:txBody>
                    <a:bodyPr wrap="square"/>
                    <a:lstStyle/>
                    <a:p>
                      <a:pPr algn="l"/>
                      <a:r>
                        <a:rPr sz="1000" b="0">
                          <a:solidFill>
                            <a:srgbClr val="1F2933"/>
                          </a:solidFill>
                          <a:latin typeface="Arial"/>
                        </a:rPr>
                        <a:t>Data/input đủ dùng chưa?</a:t>
                      </a:r>
                    </a:p>
                  </a:txBody>
                  <a:tcPr marL="73152" marR="73152" marT="36576" marB="36576" anchor="ctr">
                    <a:solidFill>
                      <a:srgbClr val="FFFFFF"/>
                    </a:solidFill>
                  </a:tcPr>
                </a:tc>
                <a:tc>
                  <a:txBody>
                    <a:bodyPr wrap="square"/>
                    <a:lstStyle/>
                    <a:p>
                      <a:pPr algn="l"/>
                      <a:r>
                        <a:rPr sz="1000" b="0">
                          <a:solidFill>
                            <a:srgbClr val="1F2933"/>
                          </a:solidFill>
                          <a:latin typeface="Arial"/>
                        </a:rPr>
                        <a:t>Yes</a:t>
                      </a:r>
                    </a:p>
                  </a:txBody>
                  <a:tcPr marL="73152" marR="73152" marT="36576" marB="36576" anchor="ctr">
                    <a:solidFill>
                      <a:srgbClr val="FFFFFF"/>
                    </a:solidFill>
                  </a:tcPr>
                </a:tc>
                <a:tc>
                  <a:txBody>
                    <a:bodyPr wrap="square"/>
                    <a:lstStyle/>
                    <a:p>
                      <a:pPr algn="l"/>
                      <a:r>
                        <a:rPr sz="1000" b="0">
                          <a:solidFill>
                            <a:srgbClr val="1F2933"/>
                          </a:solidFill>
                          <a:latin typeface="Arial"/>
                        </a:rPr>
                        <a:t>Transcript có tool sẵn, glossary nhóm tự viết trong 30', milestone đã có. Không phải xin dữ liệu của tổ chức nào</a:t>
                      </a:r>
                    </a:p>
                  </a:txBody>
                  <a:tcPr marL="73152" marR="73152" marT="36576" marB="36576" anchor="ctr">
                    <a:solidFill>
                      <a:srgbClr val="FFFFFF"/>
                    </a:solidFill>
                  </a:tcPr>
                </a:tc>
              </a:tr>
              <a:tr h="466344">
                <a:tc>
                  <a:txBody>
                    <a:bodyPr wrap="square"/>
                    <a:lstStyle/>
                    <a:p>
                      <a:pPr algn="l"/>
                      <a:r>
                        <a:rPr sz="1000" b="0">
                          <a:solidFill>
                            <a:srgbClr val="1F2933"/>
                          </a:solidFill>
                          <a:latin typeface="Arial"/>
                        </a:rPr>
                        <a:t>AI sai, hậu quả chấp nhận được?</a:t>
                      </a:r>
                    </a:p>
                  </a:txBody>
                  <a:tcPr marL="73152" marR="73152" marT="36576" marB="36576" anchor="ctr">
                    <a:solidFill>
                      <a:srgbClr val="EEEEEA"/>
                    </a:solidFill>
                  </a:tcPr>
                </a:tc>
                <a:tc>
                  <a:txBody>
                    <a:bodyPr wrap="square"/>
                    <a:lstStyle/>
                    <a:p>
                      <a:pPr algn="l"/>
                      <a:r>
                        <a:rPr sz="1000" b="0">
                          <a:solidFill>
                            <a:srgbClr val="1F2933"/>
                          </a:solidFill>
                          <a:latin typeface="Arial"/>
                        </a:rPr>
                        <a:t>Yes, có điều kiện</a:t>
                      </a:r>
                    </a:p>
                  </a:txBody>
                  <a:tcPr marL="73152" marR="73152" marT="36576" marB="36576" anchor="ctr">
                    <a:solidFill>
                      <a:srgbClr val="EEEEEA"/>
                    </a:solidFill>
                  </a:tcPr>
                </a:tc>
                <a:tc>
                  <a:txBody>
                    <a:bodyPr wrap="square"/>
                    <a:lstStyle/>
                    <a:p>
                      <a:pPr algn="l"/>
                      <a:r>
                        <a:rPr sz="1000" b="0">
                          <a:solidFill>
                            <a:srgbClr val="1F2933"/>
                          </a:solidFill>
                          <a:latin typeface="Arial"/>
                        </a:rPr>
                        <a:t>Điều kiện: giữ quy tắc trích dẫn gốc + lệnh cấm tự gửi/tự tạo task. Bỏ một trong hai thì câu trả lời đổi thành No</a:t>
                      </a:r>
                    </a:p>
                  </a:txBody>
                  <a:tcPr marL="73152" marR="73152" marT="36576" marB="36576" anchor="ctr">
                    <a:solidFill>
                      <a:srgbClr val="EEEEEA"/>
                    </a:solidFill>
                  </a:tcPr>
                </a:tc>
              </a:tr>
              <a:tr h="466344">
                <a:tc>
                  <a:txBody>
                    <a:bodyPr wrap="square"/>
                    <a:lstStyle/>
                    <a:p>
                      <a:pPr algn="l"/>
                      <a:r>
                        <a:rPr sz="1000" b="0">
                          <a:solidFill>
                            <a:srgbClr val="1F2933"/>
                          </a:solidFill>
                          <a:latin typeface="Arial"/>
                        </a:rPr>
                        <a:t>Có người review / owner không?</a:t>
                      </a:r>
                    </a:p>
                  </a:txBody>
                  <a:tcPr marL="73152" marR="73152" marT="36576" marB="36576" anchor="ctr">
                    <a:solidFill>
                      <a:srgbClr val="FFFFFF"/>
                    </a:solidFill>
                  </a:tcPr>
                </a:tc>
                <a:tc>
                  <a:txBody>
                    <a:bodyPr wrap="square"/>
                    <a:lstStyle/>
                    <a:p>
                      <a:pPr algn="l"/>
                      <a:r>
                        <a:rPr sz="1000" b="0">
                          <a:solidFill>
                            <a:srgbClr val="1F2933"/>
                          </a:solidFill>
                          <a:latin typeface="Arial"/>
                        </a:rPr>
                        <a:t>Yes</a:t>
                      </a:r>
                    </a:p>
                  </a:txBody>
                  <a:tcPr marL="73152" marR="73152" marT="36576" marB="36576" anchor="ctr">
                    <a:solidFill>
                      <a:srgbClr val="FFFFFF"/>
                    </a:solidFill>
                  </a:tcPr>
                </a:tc>
                <a:tc>
                  <a:txBody>
                    <a:bodyPr wrap="square"/>
                    <a:lstStyle/>
                    <a:p>
                      <a:pPr algn="l"/>
                      <a:r>
                        <a:rPr sz="1000" b="0">
                          <a:solidFill>
                            <a:srgbClr val="1F2933"/>
                          </a:solidFill>
                          <a:latin typeface="Arial"/>
                        </a:rPr>
                        <a:t>Dũng — vừa là người gặp vấn đề, vừa review, vừa chịu trách nhiệm. Không có chuyện "ai cũng dùng, không ai chịu trách nhiệm"</a:t>
                      </a:r>
                    </a:p>
                  </a:txBody>
                  <a:tcPr marL="73152" marR="73152" marT="36576" marB="36576" anchor="ctr">
                    <a:solidFill>
                      <a:srgbClr val="FFFFFF"/>
                    </a:solidFill>
                  </a:tcPr>
                </a:tc>
              </a:tr>
              <a:tr h="466344">
                <a:tc>
                  <a:txBody>
                    <a:bodyPr wrap="square"/>
                    <a:lstStyle/>
                    <a:p>
                      <a:pPr algn="l"/>
                      <a:r>
                        <a:rPr sz="1000" b="0">
                          <a:solidFill>
                            <a:srgbClr val="1F2933"/>
                          </a:solidFill>
                          <a:latin typeface="Arial"/>
                        </a:rPr>
                        <a:t>Có cách non-AI đơn giản hơn?</a:t>
                      </a:r>
                    </a:p>
                  </a:txBody>
                  <a:tcPr marL="73152" marR="73152" marT="36576" marB="36576" anchor="ctr">
                    <a:solidFill>
                      <a:srgbClr val="EEEEEA"/>
                    </a:solidFill>
                  </a:tcPr>
                </a:tc>
                <a:tc>
                  <a:txBody>
                    <a:bodyPr wrap="square"/>
                    <a:lstStyle/>
                    <a:p>
                      <a:pPr algn="l"/>
                      <a:r>
                        <a:rPr sz="1000" b="0">
                          <a:solidFill>
                            <a:srgbClr val="1F2933"/>
                          </a:solidFill>
                          <a:latin typeface="Arial"/>
                        </a:rPr>
                        <a:t>Có — và làm nó TRƯỚC</a:t>
                      </a:r>
                    </a:p>
                  </a:txBody>
                  <a:tcPr marL="73152" marR="73152" marT="36576" marB="36576" anchor="ctr">
                    <a:solidFill>
                      <a:srgbClr val="EEEEEA"/>
                    </a:solidFill>
                  </a:tcPr>
                </a:tc>
                <a:tc>
                  <a:txBody>
                    <a:bodyPr wrap="square"/>
                    <a:lstStyle/>
                    <a:p>
                      <a:pPr algn="l"/>
                      <a:r>
                        <a:rPr sz="1000" b="0">
                          <a:solidFill>
                            <a:srgbClr val="1F2933"/>
                          </a:solidFill>
                          <a:latin typeface="Arial"/>
                        </a:rPr>
                        <a:t>Template + glossary giải 50–60% với chi phí ~0. Không phải lý do bỏ AI, mà là THỨ TỰ THI CÔNG</a:t>
                      </a:r>
                    </a:p>
                  </a:txBody>
                  <a:tcPr marL="73152" marR="73152" marT="36576" marB="36576" anchor="ctr">
                    <a:solidFill>
                      <a:srgbClr val="EEEEEA"/>
                    </a:solidFill>
                  </a:tcPr>
                </a:tc>
              </a:tr>
            </a:tbl>
          </a:graphicData>
        </a:graphic>
      </p:graphicFrame>
      <p:sp>
        <p:nvSpPr>
          <p:cNvPr id="11" name="TextBox 10"/>
          <p:cNvSpPr txBox="1"/>
          <p:nvPr/>
        </p:nvSpPr>
        <p:spPr>
          <a:xfrm>
            <a:off x="640080" y="6400800"/>
            <a:ext cx="8229600" cy="274320"/>
          </a:xfrm>
          <a:prstGeom prst="rect">
            <a:avLst/>
          </a:prstGeom>
          <a:noFill/>
        </p:spPr>
        <p:txBody>
          <a:bodyPr wrap="square" anchor="t" lIns="0" rIns="0" tIns="0" bIns="0">
            <a:spAutoFit/>
          </a:bodyPr>
          <a:lstStyle/>
          <a:p>
            <a:pPr algn="l">
              <a:lnSpc>
                <a:spcPct val="105000"/>
              </a:lnSpc>
              <a:spcAft>
                <a:spcPts val="600"/>
              </a:spcAft>
            </a:pPr>
            <a:r>
              <a:rPr sz="900" b="0">
                <a:solidFill>
                  <a:srgbClr val="6B7280"/>
                </a:solidFill>
                <a:latin typeface="Arial"/>
              </a:rPr>
              <a:t>Day 02 Lab · K4A · Nhóm 6 người · Candidate: Meeting note</a:t>
            </a:r>
          </a:p>
        </p:txBody>
      </p:sp>
      <p:sp>
        <p:nvSpPr>
          <p:cNvPr id="12" name="TextBox 11"/>
          <p:cNvSpPr txBox="1"/>
          <p:nvPr/>
        </p:nvSpPr>
        <p:spPr>
          <a:xfrm>
            <a:off x="11002975" y="6400800"/>
            <a:ext cx="548640" cy="274320"/>
          </a:xfrm>
          <a:prstGeom prst="rect">
            <a:avLst/>
          </a:prstGeom>
          <a:noFill/>
        </p:spPr>
        <p:txBody>
          <a:bodyPr wrap="square" anchor="t" lIns="0" rIns="0" tIns="0" bIns="0">
            <a:spAutoFit/>
          </a:bodyPr>
          <a:lstStyle/>
          <a:p>
            <a:pPr algn="r">
              <a:lnSpc>
                <a:spcPct val="105000"/>
              </a:lnSpc>
              <a:spcAft>
                <a:spcPts val="600"/>
              </a:spcAft>
            </a:pPr>
            <a:r>
              <a:rPr sz="900" b="1">
                <a:solidFill>
                  <a:srgbClr val="6B728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
            <a:ext cx="10972800" cy="274320"/>
          </a:xfrm>
          <a:prstGeom prst="rect">
            <a:avLst/>
          </a:prstGeom>
          <a:noFill/>
        </p:spPr>
        <p:txBody>
          <a:bodyPr wrap="square" anchor="t" lIns="0" rIns="0" tIns="0" bIns="0">
            <a:spAutoFit/>
          </a:bodyPr>
          <a:lstStyle/>
          <a:p>
            <a:pPr algn="l">
              <a:lnSpc>
                <a:spcPct val="105000"/>
              </a:lnSpc>
              <a:spcAft>
                <a:spcPts val="600"/>
              </a:spcAft>
            </a:pPr>
            <a:r>
              <a:rPr sz="1100" b="1">
                <a:solidFill>
                  <a:srgbClr val="E0A458"/>
                </a:solidFill>
                <a:latin typeface="Arial"/>
              </a:rPr>
              <a:t>PHASE 6.3</a:t>
            </a:r>
          </a:p>
        </p:txBody>
      </p:sp>
      <p:sp>
        <p:nvSpPr>
          <p:cNvPr id="6" name="TextBox 5"/>
          <p:cNvSpPr txBox="1"/>
          <p:nvPr/>
        </p:nvSpPr>
        <p:spPr>
          <a:xfrm>
            <a:off x="640080" y="475488"/>
            <a:ext cx="10972800" cy="548640"/>
          </a:xfrm>
          <a:prstGeom prst="rect">
            <a:avLst/>
          </a:prstGeom>
          <a:noFill/>
        </p:spPr>
        <p:txBody>
          <a:bodyPr wrap="square" anchor="t" lIns="0" rIns="0" tIns="0" bIns="0">
            <a:spAutoFit/>
          </a:bodyPr>
          <a:lstStyle/>
          <a:p>
            <a:pPr algn="l">
              <a:lnSpc>
                <a:spcPct val="105000"/>
              </a:lnSpc>
              <a:spcAft>
                <a:spcPts val="600"/>
              </a:spcAft>
            </a:pPr>
            <a:r>
              <a:rPr sz="2600" b="1">
                <a:solidFill>
                  <a:srgbClr val="FFFFFF"/>
                </a:solidFill>
                <a:latin typeface="Arial"/>
              </a:rPr>
              <a:t>Pilot nhỏ nhất — và đúng 3 con số phải đo</a:t>
            </a:r>
          </a:p>
        </p:txBody>
      </p:sp>
      <p:sp>
        <p:nvSpPr>
          <p:cNvPr id="7" name="Rectangle 6"/>
          <p:cNvSpPr/>
          <p:nvPr/>
        </p:nvSpPr>
        <p:spPr>
          <a:xfrm>
            <a:off x="548640" y="1691640"/>
            <a:ext cx="5440680" cy="219456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91640"/>
            <a:ext cx="64008" cy="219456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856232"/>
            <a:ext cx="4983480" cy="365760"/>
          </a:xfrm>
          <a:prstGeom prst="rect">
            <a:avLst/>
          </a:prstGeom>
          <a:noFill/>
        </p:spPr>
        <p:txBody>
          <a:bodyPr wrap="square" anchor="t" lIns="0" rIns="0" tIns="0" bIns="0">
            <a:spAutoFit/>
          </a:bodyPr>
          <a:lstStyle/>
          <a:p>
            <a:pPr algn="l">
              <a:lnSpc>
                <a:spcPct val="105000"/>
              </a:lnSpc>
              <a:spcAft>
                <a:spcPts val="600"/>
              </a:spcAft>
            </a:pPr>
            <a:r>
              <a:rPr sz="1400" b="1">
                <a:solidFill>
                  <a:srgbClr val="10263A"/>
                </a:solidFill>
                <a:latin typeface="Arial"/>
              </a:rPr>
              <a:t>Chạy tay, không code gì</a:t>
            </a:r>
          </a:p>
        </p:txBody>
      </p:sp>
      <p:sp>
        <p:nvSpPr>
          <p:cNvPr id="10" name="TextBox 9"/>
          <p:cNvSpPr txBox="1"/>
          <p:nvPr/>
        </p:nvSpPr>
        <p:spPr>
          <a:xfrm>
            <a:off x="804672" y="2258568"/>
            <a:ext cx="4983480" cy="146304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TUẦN 1 — CHỈ RULE, KHÔNG AI: viết note bằng template 4 mục, bấm giờ từng buổi. Đây là tuần lấy baseline thật.</a:t>
            </a:r>
          </a:p>
          <a:p>
            <a:pPr algn="l">
              <a:lnSpc>
                <a:spcPct val="112000"/>
              </a:lnSpc>
              <a:spcAft>
                <a:spcPts val="500"/>
              </a:spcAft>
            </a:pPr>
            <a:r>
              <a:rPr sz="1100" b="0">
                <a:solidFill>
                  <a:srgbClr val="1F2933"/>
                </a:solidFill>
                <a:latin typeface="Arial"/>
              </a:rPr>
              <a:t/>
            </a:r>
          </a:p>
          <a:p>
            <a:pPr algn="l">
              <a:lnSpc>
                <a:spcPct val="112000"/>
              </a:lnSpc>
              <a:spcAft>
                <a:spcPts val="500"/>
              </a:spcAft>
            </a:pPr>
            <a:r>
              <a:rPr sz="1100" b="0">
                <a:solidFill>
                  <a:srgbClr val="1F2933"/>
                </a:solidFill>
                <a:latin typeface="Arial"/>
              </a:rPr>
              <a:t>TUẦN 2–3 — BẬT AI: transcript + glossary → dán vào một prompt CỐ ĐỊNH (không sửa giữa chừng để kết quả so được với nhau) → AI draft → Dũng review, đếm số dòng phải sửa → lưu.</a:t>
            </a:r>
          </a:p>
        </p:txBody>
      </p:sp>
      <p:sp>
        <p:nvSpPr>
          <p:cNvPr id="11" name="Rectangle 10"/>
          <p:cNvSpPr/>
          <p:nvPr/>
        </p:nvSpPr>
        <p:spPr>
          <a:xfrm>
            <a:off x="6217920" y="1691640"/>
            <a:ext cx="5440680" cy="219456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691640"/>
            <a:ext cx="64008" cy="2194560"/>
          </a:xfrm>
          <a:prstGeom prst="rect">
            <a:avLst/>
          </a:prstGeom>
          <a:solidFill>
            <a:srgbClr val="1F77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856232"/>
            <a:ext cx="4983480" cy="365760"/>
          </a:xfrm>
          <a:prstGeom prst="rect">
            <a:avLst/>
          </a:prstGeom>
          <a:noFill/>
        </p:spPr>
        <p:txBody>
          <a:bodyPr wrap="square" anchor="t" lIns="0" rIns="0" tIns="0" bIns="0">
            <a:spAutoFit/>
          </a:bodyPr>
          <a:lstStyle/>
          <a:p>
            <a:pPr algn="l">
              <a:lnSpc>
                <a:spcPct val="105000"/>
              </a:lnSpc>
              <a:spcAft>
                <a:spcPts val="600"/>
              </a:spcAft>
            </a:pPr>
            <a:r>
              <a:rPr sz="1400" b="1">
                <a:solidFill>
                  <a:srgbClr val="1F7772"/>
                </a:solidFill>
                <a:latin typeface="Arial"/>
              </a:rPr>
              <a:t>Dữ liệu</a:t>
            </a:r>
          </a:p>
        </p:txBody>
      </p:sp>
      <p:sp>
        <p:nvSpPr>
          <p:cNvPr id="14" name="TextBox 13"/>
          <p:cNvSpPr txBox="1"/>
          <p:nvPr/>
        </p:nvSpPr>
        <p:spPr>
          <a:xfrm>
            <a:off x="6473952" y="2258568"/>
            <a:ext cx="4983480" cy="146304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9–12 meeting THẬT của Dũng trong 3 tuần.</a:t>
            </a:r>
          </a:p>
          <a:p>
            <a:pPr algn="l">
              <a:lnSpc>
                <a:spcPct val="112000"/>
              </a:lnSpc>
              <a:spcAft>
                <a:spcPts val="500"/>
              </a:spcAft>
            </a:pPr>
            <a:r>
              <a:rPr sz="1100" b="0">
                <a:solidFill>
                  <a:srgbClr val="1F2933"/>
                </a:solidFill>
                <a:latin typeface="Arial"/>
              </a:rPr>
              <a:t/>
            </a:r>
          </a:p>
          <a:p>
            <a:pPr algn="l">
              <a:lnSpc>
                <a:spcPct val="112000"/>
              </a:lnSpc>
              <a:spcAft>
                <a:spcPts val="500"/>
              </a:spcAft>
            </a:pPr>
            <a:r>
              <a:rPr sz="1100" b="0">
                <a:solidFill>
                  <a:srgbClr val="1F2933"/>
                </a:solidFill>
                <a:latin typeface="Arial"/>
              </a:rPr>
              <a:t>Một file glossary.md khoảng 1 trang: tên module, từ viết tắt, tên người + vai trò, milestone đang chạy, 3 quyết định gần nhất.</a:t>
            </a:r>
          </a:p>
          <a:p>
            <a:pPr algn="l">
              <a:lnSpc>
                <a:spcPct val="112000"/>
              </a:lnSpc>
              <a:spcAft>
                <a:spcPts val="500"/>
              </a:spcAft>
            </a:pPr>
            <a:r>
              <a:rPr sz="1100" b="0">
                <a:solidFill>
                  <a:srgbClr val="1F2933"/>
                </a:solidFill>
                <a:latin typeface="Arial"/>
              </a:rPr>
              <a:t/>
            </a:r>
          </a:p>
          <a:p>
            <a:pPr algn="l">
              <a:lnSpc>
                <a:spcPct val="112000"/>
              </a:lnSpc>
              <a:spcAft>
                <a:spcPts val="500"/>
              </a:spcAft>
            </a:pPr>
            <a:r>
              <a:rPr sz="1100" b="0">
                <a:solidFill>
                  <a:srgbClr val="1F2933"/>
                </a:solidFill>
                <a:latin typeface="Arial"/>
              </a:rPr>
              <a:t>Không dùng dữ liệu mô phỏng — đây chính là lý do nhóm loại bài y tế.</a:t>
            </a:r>
          </a:p>
        </p:txBody>
      </p:sp>
      <p:sp>
        <p:nvSpPr>
          <p:cNvPr id="15" name="Rectangle 14"/>
          <p:cNvSpPr/>
          <p:nvPr/>
        </p:nvSpPr>
        <p:spPr>
          <a:xfrm>
            <a:off x="548640" y="4069080"/>
            <a:ext cx="3566160" cy="137160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069080"/>
            <a:ext cx="3566160" cy="64008"/>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251960"/>
            <a:ext cx="457200" cy="365760"/>
          </a:xfrm>
          <a:prstGeom prst="rect">
            <a:avLst/>
          </a:prstGeom>
          <a:noFill/>
        </p:spPr>
        <p:txBody>
          <a:bodyPr wrap="square" anchor="t" lIns="0" rIns="0" tIns="0" bIns="0">
            <a:spAutoFit/>
          </a:bodyPr>
          <a:lstStyle/>
          <a:p>
            <a:pPr algn="l">
              <a:lnSpc>
                <a:spcPct val="105000"/>
              </a:lnSpc>
              <a:spcAft>
                <a:spcPts val="600"/>
              </a:spcAft>
            </a:pPr>
            <a:r>
              <a:rPr sz="2200" b="1">
                <a:solidFill>
                  <a:srgbClr val="E0A458"/>
                </a:solidFill>
                <a:latin typeface="Arial"/>
              </a:rPr>
              <a:t>1</a:t>
            </a:r>
          </a:p>
        </p:txBody>
      </p:sp>
      <p:sp>
        <p:nvSpPr>
          <p:cNvPr id="18" name="TextBox 17"/>
          <p:cNvSpPr txBox="1"/>
          <p:nvPr/>
        </p:nvSpPr>
        <p:spPr>
          <a:xfrm>
            <a:off x="1234440" y="4297680"/>
            <a:ext cx="2743200" cy="457200"/>
          </a:xfrm>
          <a:prstGeom prst="rect">
            <a:avLst/>
          </a:prstGeom>
          <a:noFill/>
        </p:spPr>
        <p:txBody>
          <a:bodyPr wrap="square" anchor="t" lIns="0" rIns="0" tIns="0" bIns="0">
            <a:spAutoFit/>
          </a:bodyPr>
          <a:lstStyle/>
          <a:p>
            <a:pPr algn="l">
              <a:lnSpc>
                <a:spcPct val="105000"/>
              </a:lnSpc>
              <a:spcAft>
                <a:spcPts val="600"/>
              </a:spcAft>
            </a:pPr>
            <a:r>
              <a:rPr sz="1200" b="1">
                <a:solidFill>
                  <a:srgbClr val="1F2933"/>
                </a:solidFill>
                <a:latin typeface="Arial"/>
              </a:rPr>
              <a:t>Thời gian họp-xong → note-đã-lưu</a:t>
            </a:r>
          </a:p>
        </p:txBody>
      </p:sp>
      <p:sp>
        <p:nvSpPr>
          <p:cNvPr id="19" name="TextBox 18"/>
          <p:cNvSpPr txBox="1"/>
          <p:nvPr/>
        </p:nvSpPr>
        <p:spPr>
          <a:xfrm>
            <a:off x="777240" y="4892040"/>
            <a:ext cx="3154680" cy="502920"/>
          </a:xfrm>
          <a:prstGeom prst="rect">
            <a:avLst/>
          </a:prstGeom>
          <a:noFill/>
        </p:spPr>
        <p:txBody>
          <a:bodyPr wrap="square" anchor="t" lIns="0" rIns="0" tIns="0" bIns="0">
            <a:spAutoFit/>
          </a:bodyPr>
          <a:lstStyle/>
          <a:p>
            <a:pPr algn="l">
              <a:lnSpc>
                <a:spcPct val="110000"/>
              </a:lnSpc>
              <a:spcAft>
                <a:spcPts val="600"/>
              </a:spcAft>
            </a:pPr>
            <a:r>
              <a:rPr sz="950" b="0">
                <a:solidFill>
                  <a:srgbClr val="6B7280"/>
                </a:solidFill>
                <a:latin typeface="Arial"/>
              </a:rPr>
              <a:t>So tuần 1 với tuần 2–3</a:t>
            </a:r>
          </a:p>
        </p:txBody>
      </p:sp>
      <p:sp>
        <p:nvSpPr>
          <p:cNvPr id="20" name="Rectangle 19"/>
          <p:cNvSpPr/>
          <p:nvPr/>
        </p:nvSpPr>
        <p:spPr>
          <a:xfrm>
            <a:off x="4315968" y="4069080"/>
            <a:ext cx="3566160" cy="137160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15968" y="4069080"/>
            <a:ext cx="3566160" cy="64008"/>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44568" y="4251960"/>
            <a:ext cx="457200" cy="365760"/>
          </a:xfrm>
          <a:prstGeom prst="rect">
            <a:avLst/>
          </a:prstGeom>
          <a:noFill/>
        </p:spPr>
        <p:txBody>
          <a:bodyPr wrap="square" anchor="t" lIns="0" rIns="0" tIns="0" bIns="0">
            <a:spAutoFit/>
          </a:bodyPr>
          <a:lstStyle/>
          <a:p>
            <a:pPr algn="l">
              <a:lnSpc>
                <a:spcPct val="105000"/>
              </a:lnSpc>
              <a:spcAft>
                <a:spcPts val="600"/>
              </a:spcAft>
            </a:pPr>
            <a:r>
              <a:rPr sz="2200" b="1">
                <a:solidFill>
                  <a:srgbClr val="E0A458"/>
                </a:solidFill>
                <a:latin typeface="Arial"/>
              </a:rPr>
              <a:t>2</a:t>
            </a:r>
          </a:p>
        </p:txBody>
      </p:sp>
      <p:sp>
        <p:nvSpPr>
          <p:cNvPr id="23" name="TextBox 22"/>
          <p:cNvSpPr txBox="1"/>
          <p:nvPr/>
        </p:nvSpPr>
        <p:spPr>
          <a:xfrm>
            <a:off x="5001768" y="4297680"/>
            <a:ext cx="2743200" cy="457200"/>
          </a:xfrm>
          <a:prstGeom prst="rect">
            <a:avLst/>
          </a:prstGeom>
          <a:noFill/>
        </p:spPr>
        <p:txBody>
          <a:bodyPr wrap="square" anchor="t" lIns="0" rIns="0" tIns="0" bIns="0">
            <a:spAutoFit/>
          </a:bodyPr>
          <a:lstStyle/>
          <a:p>
            <a:pPr algn="l">
              <a:lnSpc>
                <a:spcPct val="105000"/>
              </a:lnSpc>
              <a:spcAft>
                <a:spcPts val="600"/>
              </a:spcAft>
            </a:pPr>
            <a:r>
              <a:rPr sz="1200" b="1">
                <a:solidFill>
                  <a:srgbClr val="1F2933"/>
                </a:solidFill>
                <a:latin typeface="Arial"/>
              </a:rPr>
              <a:t>Tỉ lệ dòng phải sửa trong draft</a:t>
            </a:r>
          </a:p>
        </p:txBody>
      </p:sp>
      <p:sp>
        <p:nvSpPr>
          <p:cNvPr id="24" name="TextBox 23"/>
          <p:cNvSpPr txBox="1"/>
          <p:nvPr/>
        </p:nvSpPr>
        <p:spPr>
          <a:xfrm>
            <a:off x="4544568" y="4892040"/>
            <a:ext cx="3154680" cy="502920"/>
          </a:xfrm>
          <a:prstGeom prst="rect">
            <a:avLst/>
          </a:prstGeom>
          <a:noFill/>
        </p:spPr>
        <p:txBody>
          <a:bodyPr wrap="square" anchor="t" lIns="0" rIns="0" tIns="0" bIns="0">
            <a:spAutoFit/>
          </a:bodyPr>
          <a:lstStyle/>
          <a:p>
            <a:pPr algn="l">
              <a:lnSpc>
                <a:spcPct val="110000"/>
              </a:lnSpc>
              <a:spcAft>
                <a:spcPts val="600"/>
              </a:spcAft>
            </a:pPr>
            <a:r>
              <a:rPr sz="950" b="0">
                <a:solidFill>
                  <a:srgbClr val="6B7280"/>
                </a:solidFill>
                <a:latin typeface="Arial"/>
              </a:rPr>
              <a:t>Nói lên AI có dùng được không — và cảnh báo nếu tụt quá nhanh về 0</a:t>
            </a:r>
          </a:p>
        </p:txBody>
      </p:sp>
      <p:sp>
        <p:nvSpPr>
          <p:cNvPr id="25" name="Rectangle 24"/>
          <p:cNvSpPr/>
          <p:nvPr/>
        </p:nvSpPr>
        <p:spPr>
          <a:xfrm>
            <a:off x="8083296" y="4069080"/>
            <a:ext cx="3566160" cy="137160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83296" y="4069080"/>
            <a:ext cx="3566160" cy="64008"/>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11896" y="4251960"/>
            <a:ext cx="457200" cy="365760"/>
          </a:xfrm>
          <a:prstGeom prst="rect">
            <a:avLst/>
          </a:prstGeom>
          <a:noFill/>
        </p:spPr>
        <p:txBody>
          <a:bodyPr wrap="square" anchor="t" lIns="0" rIns="0" tIns="0" bIns="0">
            <a:spAutoFit/>
          </a:bodyPr>
          <a:lstStyle/>
          <a:p>
            <a:pPr algn="l">
              <a:lnSpc>
                <a:spcPct val="105000"/>
              </a:lnSpc>
              <a:spcAft>
                <a:spcPts val="600"/>
              </a:spcAft>
            </a:pPr>
            <a:r>
              <a:rPr sz="2200" b="1">
                <a:solidFill>
                  <a:srgbClr val="E0A458"/>
                </a:solidFill>
                <a:latin typeface="Arial"/>
              </a:rPr>
              <a:t>3</a:t>
            </a:r>
          </a:p>
        </p:txBody>
      </p:sp>
      <p:sp>
        <p:nvSpPr>
          <p:cNvPr id="28" name="TextBox 27"/>
          <p:cNvSpPr txBox="1"/>
          <p:nvPr/>
        </p:nvSpPr>
        <p:spPr>
          <a:xfrm>
            <a:off x="8769096" y="4297680"/>
            <a:ext cx="2743200" cy="457200"/>
          </a:xfrm>
          <a:prstGeom prst="rect">
            <a:avLst/>
          </a:prstGeom>
          <a:noFill/>
        </p:spPr>
        <p:txBody>
          <a:bodyPr wrap="square" anchor="t" lIns="0" rIns="0" tIns="0" bIns="0">
            <a:spAutoFit/>
          </a:bodyPr>
          <a:lstStyle/>
          <a:p>
            <a:pPr algn="l">
              <a:lnSpc>
                <a:spcPct val="105000"/>
              </a:lnSpc>
              <a:spcAft>
                <a:spcPts val="600"/>
              </a:spcAft>
            </a:pPr>
            <a:r>
              <a:rPr sz="1200" b="1">
                <a:solidFill>
                  <a:srgbClr val="1F2933"/>
                </a:solidFill>
                <a:latin typeface="Arial"/>
              </a:rPr>
              <a:t>Số action item của mình bị rơi</a:t>
            </a:r>
          </a:p>
        </p:txBody>
      </p:sp>
      <p:sp>
        <p:nvSpPr>
          <p:cNvPr id="29" name="TextBox 28"/>
          <p:cNvSpPr txBox="1"/>
          <p:nvPr/>
        </p:nvSpPr>
        <p:spPr>
          <a:xfrm>
            <a:off x="8311896" y="4892040"/>
            <a:ext cx="3154680" cy="502920"/>
          </a:xfrm>
          <a:prstGeom prst="rect">
            <a:avLst/>
          </a:prstGeom>
          <a:noFill/>
        </p:spPr>
        <p:txBody>
          <a:bodyPr wrap="square" anchor="t" lIns="0" rIns="0" tIns="0" bIns="0">
            <a:spAutoFit/>
          </a:bodyPr>
          <a:lstStyle/>
          <a:p>
            <a:pPr algn="l">
              <a:lnSpc>
                <a:spcPct val="110000"/>
              </a:lnSpc>
              <a:spcAft>
                <a:spcPts val="600"/>
              </a:spcAft>
            </a:pPr>
            <a:r>
              <a:rPr sz="950" b="0">
                <a:solidFill>
                  <a:srgbClr val="6B7280"/>
                </a:solidFill>
                <a:latin typeface="Arial"/>
              </a:rPr>
              <a:t>Đếm bằng tiêu chí bên ngoài: việc được nhắc lại ở meeting sau mà note không có</a:t>
            </a:r>
          </a:p>
        </p:txBody>
      </p:sp>
      <p:sp>
        <p:nvSpPr>
          <p:cNvPr id="30" name="Rectangle 29"/>
          <p:cNvSpPr/>
          <p:nvPr/>
        </p:nvSpPr>
        <p:spPr>
          <a:xfrm>
            <a:off x="548640" y="5577840"/>
            <a:ext cx="11109960" cy="73152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577840"/>
            <a:ext cx="64008" cy="731520"/>
          </a:xfrm>
          <a:prstGeom prst="rect">
            <a:avLst/>
          </a:prstGeom>
          <a:solidFill>
            <a:srgbClr val="B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5742432"/>
            <a:ext cx="10652760" cy="365760"/>
          </a:xfrm>
          <a:prstGeom prst="rect">
            <a:avLst/>
          </a:prstGeom>
          <a:noFill/>
        </p:spPr>
        <p:txBody>
          <a:bodyPr wrap="square" anchor="t" lIns="0" rIns="0" tIns="0" bIns="0">
            <a:spAutoFit/>
          </a:bodyPr>
          <a:lstStyle/>
          <a:p>
            <a:pPr algn="l">
              <a:lnSpc>
                <a:spcPct val="105000"/>
              </a:lnSpc>
              <a:spcAft>
                <a:spcPts val="600"/>
              </a:spcAft>
            </a:pPr>
            <a:r>
              <a:rPr sz="1200" b="1">
                <a:solidFill>
                  <a:srgbClr val="B03A2B"/>
                </a:solidFill>
                <a:latin typeface="Arial"/>
              </a:rPr>
              <a:t>Quan trọng hơn cả ba con số: log lỗi định tính</a:t>
            </a:r>
          </a:p>
        </p:txBody>
      </p:sp>
      <p:sp>
        <p:nvSpPr>
          <p:cNvPr id="33" name="TextBox 32"/>
          <p:cNvSpPr txBox="1"/>
          <p:nvPr/>
        </p:nvSpPr>
        <p:spPr>
          <a:xfrm>
            <a:off x="804672" y="6144768"/>
            <a:ext cx="10652760" cy="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Mỗi lần AI bịa một quyết định không có trong transcript → ghi 1 dòng, kèm câu AI viết và câu gốc. Log này mới là thứ quyết định có dừng hay không.</a:t>
            </a:r>
          </a:p>
        </p:txBody>
      </p:sp>
      <p:sp>
        <p:nvSpPr>
          <p:cNvPr id="34" name="TextBox 33"/>
          <p:cNvSpPr txBox="1"/>
          <p:nvPr/>
        </p:nvSpPr>
        <p:spPr>
          <a:xfrm>
            <a:off x="640080" y="6400800"/>
            <a:ext cx="8229600" cy="274320"/>
          </a:xfrm>
          <a:prstGeom prst="rect">
            <a:avLst/>
          </a:prstGeom>
          <a:noFill/>
        </p:spPr>
        <p:txBody>
          <a:bodyPr wrap="square" anchor="t" lIns="0" rIns="0" tIns="0" bIns="0">
            <a:spAutoFit/>
          </a:bodyPr>
          <a:lstStyle/>
          <a:p>
            <a:pPr algn="l">
              <a:lnSpc>
                <a:spcPct val="105000"/>
              </a:lnSpc>
              <a:spcAft>
                <a:spcPts val="600"/>
              </a:spcAft>
            </a:pPr>
            <a:r>
              <a:rPr sz="900" b="0">
                <a:solidFill>
                  <a:srgbClr val="6B7280"/>
                </a:solidFill>
                <a:latin typeface="Arial"/>
              </a:rPr>
              <a:t>Day 02 Lab · K4A · Nhóm 6 người · Candidate: Meeting note</a:t>
            </a:r>
          </a:p>
        </p:txBody>
      </p:sp>
      <p:sp>
        <p:nvSpPr>
          <p:cNvPr id="35" name="TextBox 34"/>
          <p:cNvSpPr txBox="1"/>
          <p:nvPr/>
        </p:nvSpPr>
        <p:spPr>
          <a:xfrm>
            <a:off x="11002975" y="6400800"/>
            <a:ext cx="548640" cy="274320"/>
          </a:xfrm>
          <a:prstGeom prst="rect">
            <a:avLst/>
          </a:prstGeom>
          <a:noFill/>
        </p:spPr>
        <p:txBody>
          <a:bodyPr wrap="square" anchor="t" lIns="0" rIns="0" tIns="0" bIns="0">
            <a:spAutoFit/>
          </a:bodyPr>
          <a:lstStyle/>
          <a:p>
            <a:pPr algn="r">
              <a:lnSpc>
                <a:spcPct val="105000"/>
              </a:lnSpc>
              <a:spcAft>
                <a:spcPts val="600"/>
              </a:spcAft>
            </a:pPr>
            <a:r>
              <a:rPr sz="900" b="1">
                <a:solidFill>
                  <a:srgbClr val="6B728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
            <a:ext cx="10972800" cy="274320"/>
          </a:xfrm>
          <a:prstGeom prst="rect">
            <a:avLst/>
          </a:prstGeom>
          <a:noFill/>
        </p:spPr>
        <p:txBody>
          <a:bodyPr wrap="square" anchor="t" lIns="0" rIns="0" tIns="0" bIns="0">
            <a:spAutoFit/>
          </a:bodyPr>
          <a:lstStyle/>
          <a:p>
            <a:pPr algn="l">
              <a:lnSpc>
                <a:spcPct val="105000"/>
              </a:lnSpc>
              <a:spcAft>
                <a:spcPts val="600"/>
              </a:spcAft>
            </a:pPr>
            <a:r>
              <a:rPr sz="1100" b="1">
                <a:solidFill>
                  <a:srgbClr val="E0A458"/>
                </a:solidFill>
                <a:latin typeface="Arial"/>
              </a:rPr>
              <a:t>PHASE 6.3</a:t>
            </a:r>
          </a:p>
        </p:txBody>
      </p:sp>
      <p:sp>
        <p:nvSpPr>
          <p:cNvPr id="6" name="TextBox 5"/>
          <p:cNvSpPr txBox="1"/>
          <p:nvPr/>
        </p:nvSpPr>
        <p:spPr>
          <a:xfrm>
            <a:off x="640080" y="475488"/>
            <a:ext cx="10972800" cy="548640"/>
          </a:xfrm>
          <a:prstGeom prst="rect">
            <a:avLst/>
          </a:prstGeom>
          <a:noFill/>
        </p:spPr>
        <p:txBody>
          <a:bodyPr wrap="square" anchor="t" lIns="0" rIns="0" tIns="0" bIns="0">
            <a:spAutoFit/>
          </a:bodyPr>
          <a:lstStyle/>
          <a:p>
            <a:pPr algn="l">
              <a:lnSpc>
                <a:spcPct val="105000"/>
              </a:lnSpc>
              <a:spcAft>
                <a:spcPts val="600"/>
              </a:spcAft>
            </a:pPr>
            <a:r>
              <a:rPr sz="2600" b="1">
                <a:solidFill>
                  <a:srgbClr val="FFFFFF"/>
                </a:solidFill>
                <a:latin typeface="Arial"/>
              </a:rPr>
              <a:t>Ngưỡng dừng — viết ra TRƯỚC khi chạy, không phải sau khi thất bại</a:t>
            </a:r>
          </a:p>
        </p:txBody>
      </p:sp>
      <p:sp>
        <p:nvSpPr>
          <p:cNvPr id="7" name="Rectangle 6"/>
          <p:cNvSpPr/>
          <p:nvPr/>
        </p:nvSpPr>
        <p:spPr>
          <a:xfrm>
            <a:off x="548640" y="1691640"/>
            <a:ext cx="3584448" cy="320040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91640"/>
            <a:ext cx="64008" cy="3200400"/>
          </a:xfrm>
          <a:prstGeom prst="rect">
            <a:avLst/>
          </a:prstGeom>
          <a:solidFill>
            <a:srgbClr val="B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856232"/>
            <a:ext cx="3127248" cy="365760"/>
          </a:xfrm>
          <a:prstGeom prst="rect">
            <a:avLst/>
          </a:prstGeom>
          <a:noFill/>
        </p:spPr>
        <p:txBody>
          <a:bodyPr wrap="square" anchor="t" lIns="0" rIns="0" tIns="0" bIns="0">
            <a:spAutoFit/>
          </a:bodyPr>
          <a:lstStyle/>
          <a:p>
            <a:pPr algn="l">
              <a:lnSpc>
                <a:spcPct val="105000"/>
              </a:lnSpc>
              <a:spcAft>
                <a:spcPts val="600"/>
              </a:spcAft>
            </a:pPr>
            <a:r>
              <a:rPr sz="1400" b="1">
                <a:solidFill>
                  <a:srgbClr val="B03A2B"/>
                </a:solidFill>
                <a:latin typeface="Arial"/>
              </a:rPr>
              <a:t>DỪNG NGAY LẬP TỨC</a:t>
            </a:r>
          </a:p>
        </p:txBody>
      </p:sp>
      <p:sp>
        <p:nvSpPr>
          <p:cNvPr id="10" name="TextBox 9"/>
          <p:cNvSpPr txBox="1"/>
          <p:nvPr/>
        </p:nvSpPr>
        <p:spPr>
          <a:xfrm>
            <a:off x="804672" y="2258568"/>
            <a:ext cx="3127248" cy="246888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Không chờ hết pilot, nếu:</a:t>
            </a:r>
          </a:p>
          <a:p>
            <a:pPr algn="l">
              <a:lnSpc>
                <a:spcPct val="112000"/>
              </a:lnSpc>
              <a:spcAft>
                <a:spcPts val="500"/>
              </a:spcAft>
            </a:pPr>
            <a:r>
              <a:rPr sz="1100" b="0">
                <a:solidFill>
                  <a:srgbClr val="1F2933"/>
                </a:solidFill>
                <a:latin typeface="Arial"/>
              </a:rPr>
              <a:t/>
            </a:r>
          </a:p>
          <a:p>
            <a:pPr algn="l">
              <a:lnSpc>
                <a:spcPct val="112000"/>
              </a:lnSpc>
              <a:spcAft>
                <a:spcPts val="500"/>
              </a:spcAft>
            </a:pPr>
            <a:r>
              <a:rPr sz="1100" b="0">
                <a:solidFill>
                  <a:srgbClr val="1F2933"/>
                </a:solidFill>
                <a:latin typeface="Arial"/>
              </a:rPr>
              <a:t>• AI viết ra một "quyết định đã chốt" không có trong transcript quá 1 lần trong 2 tuần</a:t>
            </a:r>
          </a:p>
          <a:p>
            <a:pPr algn="l">
              <a:lnSpc>
                <a:spcPct val="112000"/>
              </a:lnSpc>
              <a:spcAft>
                <a:spcPts val="500"/>
              </a:spcAft>
            </a:pPr>
            <a:r>
              <a:rPr sz="1100" b="0">
                <a:solidFill>
                  <a:srgbClr val="1F2933"/>
                </a:solidFill>
                <a:latin typeface="Arial"/>
              </a:rPr>
              <a:t/>
            </a:r>
          </a:p>
          <a:p>
            <a:pPr algn="l">
              <a:lnSpc>
                <a:spcPct val="112000"/>
              </a:lnSpc>
              <a:spcAft>
                <a:spcPts val="500"/>
              </a:spcAft>
            </a:pPr>
            <a:r>
              <a:rPr sz="1100" b="0">
                <a:solidFill>
                  <a:srgbClr val="1F2933"/>
                </a:solidFill>
                <a:latin typeface="Arial"/>
              </a:rPr>
              <a:t>• Có nội dung meeting nhạy cảm lọt vào pipeline, dù chỉ 1 lần</a:t>
            </a:r>
          </a:p>
          <a:p>
            <a:pPr algn="l">
              <a:lnSpc>
                <a:spcPct val="112000"/>
              </a:lnSpc>
              <a:spcAft>
                <a:spcPts val="500"/>
              </a:spcAft>
            </a:pPr>
            <a:r>
              <a:rPr sz="1100" b="0">
                <a:solidFill>
                  <a:srgbClr val="1F2933"/>
                </a:solidFill>
                <a:latin typeface="Arial"/>
              </a:rPr>
              <a:t/>
            </a:r>
          </a:p>
          <a:p>
            <a:pPr algn="l">
              <a:lnSpc>
                <a:spcPct val="112000"/>
              </a:lnSpc>
              <a:spcAft>
                <a:spcPts val="500"/>
              </a:spcAft>
            </a:pPr>
            <a:r>
              <a:rPr sz="1100" b="0">
                <a:solidFill>
                  <a:srgbClr val="1F2933"/>
                </a:solidFill>
                <a:latin typeface="Arial"/>
              </a:rPr>
              <a:t>• Ghi âm khi chưa được sự đồng ý của tất cả người trong phòng, dù chỉ 1 lần</a:t>
            </a:r>
          </a:p>
        </p:txBody>
      </p:sp>
      <p:sp>
        <p:nvSpPr>
          <p:cNvPr id="11" name="Rectangle 10"/>
          <p:cNvSpPr/>
          <p:nvPr/>
        </p:nvSpPr>
        <p:spPr>
          <a:xfrm>
            <a:off x="4315968" y="1691640"/>
            <a:ext cx="3584448" cy="320040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15968" y="1691640"/>
            <a:ext cx="64008" cy="3200400"/>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856232"/>
            <a:ext cx="3127248" cy="365760"/>
          </a:xfrm>
          <a:prstGeom prst="rect">
            <a:avLst/>
          </a:prstGeom>
          <a:noFill/>
        </p:spPr>
        <p:txBody>
          <a:bodyPr wrap="square" anchor="t" lIns="0" rIns="0" tIns="0" bIns="0">
            <a:spAutoFit/>
          </a:bodyPr>
          <a:lstStyle/>
          <a:p>
            <a:pPr algn="l">
              <a:lnSpc>
                <a:spcPct val="105000"/>
              </a:lnSpc>
              <a:spcAft>
                <a:spcPts val="600"/>
              </a:spcAft>
            </a:pPr>
            <a:r>
              <a:rPr sz="1400" b="1">
                <a:solidFill>
                  <a:srgbClr val="E0A458"/>
                </a:solidFill>
                <a:latin typeface="Arial"/>
              </a:rPr>
              <a:t>HẠ XUỐNG RULE</a:t>
            </a:r>
          </a:p>
        </p:txBody>
      </p:sp>
      <p:sp>
        <p:nvSpPr>
          <p:cNvPr id="14" name="TextBox 13"/>
          <p:cNvSpPr txBox="1"/>
          <p:nvPr/>
        </p:nvSpPr>
        <p:spPr>
          <a:xfrm>
            <a:off x="4572000" y="2258568"/>
            <a:ext cx="3127248" cy="246888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Giữ template, bỏ AI, nếu sau 3 tuần:</a:t>
            </a:r>
          </a:p>
          <a:p>
            <a:pPr algn="l">
              <a:lnSpc>
                <a:spcPct val="112000"/>
              </a:lnSpc>
              <a:spcAft>
                <a:spcPts val="500"/>
              </a:spcAft>
            </a:pPr>
            <a:r>
              <a:rPr sz="1100" b="0">
                <a:solidFill>
                  <a:srgbClr val="1F2933"/>
                </a:solidFill>
                <a:latin typeface="Arial"/>
              </a:rPr>
              <a:t/>
            </a:r>
          </a:p>
          <a:p>
            <a:pPr algn="l">
              <a:lnSpc>
                <a:spcPct val="112000"/>
              </a:lnSpc>
              <a:spcAft>
                <a:spcPts val="500"/>
              </a:spcAft>
            </a:pPr>
            <a:r>
              <a:rPr sz="1100" b="0">
                <a:solidFill>
                  <a:srgbClr val="1F2933"/>
                </a:solidFill>
                <a:latin typeface="Arial"/>
              </a:rPr>
              <a:t>• Tỉ lệ dòng phải sửa vẫn trên 50% trong 2 tuần liên tiếp</a:t>
            </a:r>
          </a:p>
          <a:p>
            <a:pPr algn="l">
              <a:lnSpc>
                <a:spcPct val="112000"/>
              </a:lnSpc>
              <a:spcAft>
                <a:spcPts val="500"/>
              </a:spcAft>
            </a:pPr>
            <a:r>
              <a:rPr sz="1100" b="0">
                <a:solidFill>
                  <a:srgbClr val="1F2933"/>
                </a:solidFill>
                <a:latin typeface="Arial"/>
              </a:rPr>
              <a:t/>
            </a:r>
          </a:p>
          <a:p>
            <a:pPr algn="l">
              <a:lnSpc>
                <a:spcPct val="112000"/>
              </a:lnSpc>
              <a:spcAft>
                <a:spcPts val="500"/>
              </a:spcAft>
            </a:pPr>
            <a:r>
              <a:rPr sz="1100" b="0">
                <a:solidFill>
                  <a:srgbClr val="1F2933"/>
                </a:solidFill>
                <a:latin typeface="Arial"/>
              </a:rPr>
              <a:t>• Tổng thời gian không giảm dưới 8 phút/buổi</a:t>
            </a:r>
          </a:p>
          <a:p>
            <a:pPr algn="l">
              <a:lnSpc>
                <a:spcPct val="112000"/>
              </a:lnSpc>
              <a:spcAft>
                <a:spcPts val="500"/>
              </a:spcAft>
            </a:pPr>
            <a:r>
              <a:rPr sz="1100" b="0">
                <a:solidFill>
                  <a:srgbClr val="1F2933"/>
                </a:solidFill>
                <a:latin typeface="Arial"/>
              </a:rPr>
              <a:t/>
            </a:r>
          </a:p>
          <a:p>
            <a:pPr algn="l">
              <a:lnSpc>
                <a:spcPct val="112000"/>
              </a:lnSpc>
              <a:spcAft>
                <a:spcPts val="500"/>
              </a:spcAft>
            </a:pPr>
            <a:r>
              <a:rPr sz="1100" b="0">
                <a:solidFill>
                  <a:srgbClr val="1F2933"/>
                </a:solidFill>
                <a:latin typeface="Arial"/>
              </a:rPr>
              <a:t>• Glossary không được cập nhật quá 2 tuần → toàn bộ tiền đề sụp, vì giá trị đến từ ngữ cảnh chứ không từ mô hình</a:t>
            </a:r>
          </a:p>
        </p:txBody>
      </p:sp>
      <p:sp>
        <p:nvSpPr>
          <p:cNvPr id="15" name="Rectangle 14"/>
          <p:cNvSpPr/>
          <p:nvPr/>
        </p:nvSpPr>
        <p:spPr>
          <a:xfrm>
            <a:off x="8083296" y="1691640"/>
            <a:ext cx="3584448" cy="320040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3296" y="1691640"/>
            <a:ext cx="64008" cy="3200400"/>
          </a:xfrm>
          <a:prstGeom prst="rect">
            <a:avLst/>
          </a:prstGeom>
          <a:solidFill>
            <a:srgbClr val="1F77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8" y="1856232"/>
            <a:ext cx="3127248" cy="365760"/>
          </a:xfrm>
          <a:prstGeom prst="rect">
            <a:avLst/>
          </a:prstGeom>
          <a:noFill/>
        </p:spPr>
        <p:txBody>
          <a:bodyPr wrap="square" anchor="t" lIns="0" rIns="0" tIns="0" bIns="0">
            <a:spAutoFit/>
          </a:bodyPr>
          <a:lstStyle/>
          <a:p>
            <a:pPr algn="l">
              <a:lnSpc>
                <a:spcPct val="105000"/>
              </a:lnSpc>
              <a:spcAft>
                <a:spcPts val="600"/>
              </a:spcAft>
            </a:pPr>
            <a:r>
              <a:rPr sz="1400" b="1">
                <a:solidFill>
                  <a:srgbClr val="1F7772"/>
                </a:solidFill>
                <a:latin typeface="Arial"/>
              </a:rPr>
              <a:t>DẤU HIỆU PHẢI SOI, ĐỪNG MỪNG</a:t>
            </a:r>
          </a:p>
        </p:txBody>
      </p:sp>
      <p:sp>
        <p:nvSpPr>
          <p:cNvPr id="18" name="TextBox 17"/>
          <p:cNvSpPr txBox="1"/>
          <p:nvPr/>
        </p:nvSpPr>
        <p:spPr>
          <a:xfrm>
            <a:off x="8339328" y="2258568"/>
            <a:ext cx="3127248" cy="246888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Tỉ lệ dòng phải sửa tụt về gần 0 chỉ sau vài buổi.</a:t>
            </a:r>
          </a:p>
          <a:p>
            <a:pPr algn="l">
              <a:lnSpc>
                <a:spcPct val="112000"/>
              </a:lnSpc>
              <a:spcAft>
                <a:spcPts val="500"/>
              </a:spcAft>
            </a:pPr>
            <a:r>
              <a:rPr sz="1100" b="0">
                <a:solidFill>
                  <a:srgbClr val="1F2933"/>
                </a:solidFill>
                <a:latin typeface="Arial"/>
              </a:rPr>
              <a:t/>
            </a:r>
          </a:p>
          <a:p>
            <a:pPr algn="l">
              <a:lnSpc>
                <a:spcPct val="112000"/>
              </a:lnSpc>
              <a:spcAft>
                <a:spcPts val="500"/>
              </a:spcAft>
            </a:pPr>
            <a:r>
              <a:rPr sz="1100" b="0">
                <a:solidFill>
                  <a:srgbClr val="1F2933"/>
                </a:solidFill>
                <a:latin typeface="Arial"/>
              </a:rPr>
              <a:t>Khả năng cao là người review đã đọc lướt và tin draft, chứ không phải AI đột nhiên chính xác.</a:t>
            </a:r>
          </a:p>
          <a:p>
            <a:pPr algn="l">
              <a:lnSpc>
                <a:spcPct val="112000"/>
              </a:lnSpc>
              <a:spcAft>
                <a:spcPts val="500"/>
              </a:spcAft>
            </a:pPr>
            <a:r>
              <a:rPr sz="1100" b="0">
                <a:solidFill>
                  <a:srgbClr val="1F2933"/>
                </a:solidFill>
                <a:latin typeface="Arial"/>
              </a:rPr>
              <a:t/>
            </a:r>
          </a:p>
          <a:p>
            <a:pPr algn="l">
              <a:lnSpc>
                <a:spcPct val="112000"/>
              </a:lnSpc>
              <a:spcAft>
                <a:spcPts val="500"/>
              </a:spcAft>
            </a:pPr>
            <a:r>
              <a:rPr sz="1100" b="0">
                <a:solidFill>
                  <a:srgbClr val="1F2933"/>
                </a:solidFill>
                <a:latin typeface="Arial"/>
              </a:rPr>
              <a:t>CÁCH KIỂM: lấy ngẫu nhiên 1 note đã duyệt, đối chiếu từng dòng với transcript gốc.</a:t>
            </a:r>
          </a:p>
        </p:txBody>
      </p:sp>
      <p:sp>
        <p:nvSpPr>
          <p:cNvPr id="19" name="Rectangle 18"/>
          <p:cNvSpPr/>
          <p:nvPr/>
        </p:nvSpPr>
        <p:spPr>
          <a:xfrm>
            <a:off x="548640" y="5074920"/>
            <a:ext cx="11109960" cy="1097280"/>
          </a:xfrm>
          <a:prstGeom prst="rect">
            <a:avLst/>
          </a:prstGeom>
          <a:solidFill>
            <a:srgbClr val="FFFFFF"/>
          </a:solidFill>
          <a:ln w="12700">
            <a:solidFill>
              <a:srgbClr val="D8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074920"/>
            <a:ext cx="64008" cy="109728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5239512"/>
            <a:ext cx="10652760" cy="365760"/>
          </a:xfrm>
          <a:prstGeom prst="rect">
            <a:avLst/>
          </a:prstGeom>
          <a:noFill/>
        </p:spPr>
        <p:txBody>
          <a:bodyPr wrap="square" anchor="t" lIns="0" rIns="0" tIns="0" bIns="0">
            <a:spAutoFit/>
          </a:bodyPr>
          <a:lstStyle/>
          <a:p>
            <a:pPr algn="l">
              <a:lnSpc>
                <a:spcPct val="105000"/>
              </a:lnSpc>
              <a:spcAft>
                <a:spcPts val="600"/>
              </a:spcAft>
            </a:pPr>
            <a:r>
              <a:rPr sz="1300" b="1">
                <a:solidFill>
                  <a:srgbClr val="10263A"/>
                </a:solidFill>
                <a:latin typeface="Arial"/>
              </a:rPr>
              <a:t>Nếu No-Go thì cũng không quay về con số 0</a:t>
            </a:r>
          </a:p>
        </p:txBody>
      </p:sp>
      <p:sp>
        <p:nvSpPr>
          <p:cNvPr id="22" name="TextBox 21"/>
          <p:cNvSpPr txBox="1"/>
          <p:nvPr/>
        </p:nvSpPr>
        <p:spPr>
          <a:xfrm>
            <a:off x="804672" y="5641848"/>
            <a:ext cx="10652760" cy="365760"/>
          </a:xfrm>
          <a:prstGeom prst="rect">
            <a:avLst/>
          </a:prstGeom>
          <a:noFill/>
        </p:spPr>
        <p:txBody>
          <a:bodyPr wrap="square" anchor="t" lIns="0" rIns="0" tIns="0" bIns="0">
            <a:spAutoFit/>
          </a:bodyPr>
          <a:lstStyle/>
          <a:p>
            <a:pPr algn="l">
              <a:lnSpc>
                <a:spcPct val="112000"/>
              </a:lnSpc>
              <a:spcAft>
                <a:spcPts val="500"/>
              </a:spcAft>
            </a:pPr>
            <a:r>
              <a:rPr sz="1100" b="0">
                <a:solidFill>
                  <a:srgbClr val="1F2933"/>
                </a:solidFill>
                <a:latin typeface="Arial"/>
              </a:rPr>
              <a:t>Giữ lại toàn bộ phần non-AI đã xây: template 4 mục dùng tay · quy tắc dành 5 phút cuối meeting điền tại chỗ (xoá luôn khoảng trễ giữa lúc họp và lúc viết) · file glossary vẫn duy trì vì nó có ích cho cả người mới vào dự án · người chủ trì đọc to lại "ai nhận việc gì" cuối mỗi buổi — 1 phút, giải trực tiếp rủi ro rơi action item mà không cần công nghệ nào.</a:t>
            </a:r>
          </a:p>
        </p:txBody>
      </p:sp>
      <p:sp>
        <p:nvSpPr>
          <p:cNvPr id="23" name="TextBox 22"/>
          <p:cNvSpPr txBox="1"/>
          <p:nvPr/>
        </p:nvSpPr>
        <p:spPr>
          <a:xfrm>
            <a:off x="640080" y="6400800"/>
            <a:ext cx="8229600" cy="274320"/>
          </a:xfrm>
          <a:prstGeom prst="rect">
            <a:avLst/>
          </a:prstGeom>
          <a:noFill/>
        </p:spPr>
        <p:txBody>
          <a:bodyPr wrap="square" anchor="t" lIns="0" rIns="0" tIns="0" bIns="0">
            <a:spAutoFit/>
          </a:bodyPr>
          <a:lstStyle/>
          <a:p>
            <a:pPr algn="l">
              <a:lnSpc>
                <a:spcPct val="105000"/>
              </a:lnSpc>
              <a:spcAft>
                <a:spcPts val="600"/>
              </a:spcAft>
            </a:pPr>
            <a:r>
              <a:rPr sz="900" b="0">
                <a:solidFill>
                  <a:srgbClr val="6B7280"/>
                </a:solidFill>
                <a:latin typeface="Arial"/>
              </a:rPr>
              <a:t>Day 02 Lab · K4A · Nhóm 6 người · Candidate: Meeting note</a:t>
            </a:r>
          </a:p>
        </p:txBody>
      </p:sp>
      <p:sp>
        <p:nvSpPr>
          <p:cNvPr id="24" name="TextBox 23"/>
          <p:cNvSpPr txBox="1"/>
          <p:nvPr/>
        </p:nvSpPr>
        <p:spPr>
          <a:xfrm>
            <a:off x="11002975" y="6400800"/>
            <a:ext cx="548640" cy="274320"/>
          </a:xfrm>
          <a:prstGeom prst="rect">
            <a:avLst/>
          </a:prstGeom>
          <a:noFill/>
        </p:spPr>
        <p:txBody>
          <a:bodyPr wrap="square" anchor="t" lIns="0" rIns="0" tIns="0" bIns="0">
            <a:spAutoFit/>
          </a:bodyPr>
          <a:lstStyle/>
          <a:p>
            <a:pPr algn="r">
              <a:lnSpc>
                <a:spcPct val="105000"/>
              </a:lnSpc>
              <a:spcAft>
                <a:spcPts val="600"/>
              </a:spcAft>
            </a:pPr>
            <a:r>
              <a:rPr sz="900" b="1">
                <a:solidFill>
                  <a:srgbClr val="6B728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051560"/>
            <a:ext cx="1463040" cy="64008"/>
          </a:xfrm>
          <a:prstGeom prst="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48640"/>
          </a:xfrm>
          <a:prstGeom prst="rect">
            <a:avLst/>
          </a:prstGeom>
          <a:noFill/>
        </p:spPr>
        <p:txBody>
          <a:bodyPr wrap="square" anchor="t" lIns="0" rIns="0" tIns="0" bIns="0">
            <a:spAutoFit/>
          </a:bodyPr>
          <a:lstStyle/>
          <a:p>
            <a:pPr algn="l">
              <a:lnSpc>
                <a:spcPct val="105000"/>
              </a:lnSpc>
              <a:spcAft>
                <a:spcPts val="600"/>
              </a:spcAft>
            </a:pPr>
            <a:r>
              <a:rPr sz="3200" b="1">
                <a:solidFill>
                  <a:srgbClr val="FFFFFF"/>
                </a:solidFill>
                <a:latin typeface="Arial"/>
              </a:rPr>
              <a:t>Ba điều nhóm mang về từ Day 02</a:t>
            </a:r>
          </a:p>
        </p:txBody>
      </p:sp>
      <p:sp>
        <p:nvSpPr>
          <p:cNvPr id="6" name="TextBox 5"/>
          <p:cNvSpPr txBox="1"/>
          <p:nvPr/>
        </p:nvSpPr>
        <p:spPr>
          <a:xfrm>
            <a:off x="822960" y="2240280"/>
            <a:ext cx="548640" cy="457200"/>
          </a:xfrm>
          <a:prstGeom prst="rect">
            <a:avLst/>
          </a:prstGeom>
          <a:noFill/>
        </p:spPr>
        <p:txBody>
          <a:bodyPr wrap="square" anchor="t" lIns="0" rIns="0" tIns="0" bIns="0">
            <a:spAutoFit/>
          </a:bodyPr>
          <a:lstStyle/>
          <a:p>
            <a:pPr algn="l">
              <a:lnSpc>
                <a:spcPct val="105000"/>
              </a:lnSpc>
              <a:spcAft>
                <a:spcPts val="600"/>
              </a:spcAft>
            </a:pPr>
            <a:r>
              <a:rPr sz="2600" b="1">
                <a:solidFill>
                  <a:srgbClr val="E0A458"/>
                </a:solidFill>
                <a:latin typeface="Arial"/>
              </a:rPr>
              <a:t>01</a:t>
            </a:r>
          </a:p>
        </p:txBody>
      </p:sp>
      <p:sp>
        <p:nvSpPr>
          <p:cNvPr id="7" name="TextBox 6"/>
          <p:cNvSpPr txBox="1"/>
          <p:nvPr/>
        </p:nvSpPr>
        <p:spPr>
          <a:xfrm>
            <a:off x="1600200" y="2258568"/>
            <a:ext cx="9784080" cy="365760"/>
          </a:xfrm>
          <a:prstGeom prst="rect">
            <a:avLst/>
          </a:prstGeom>
          <a:noFill/>
        </p:spPr>
        <p:txBody>
          <a:bodyPr wrap="square" anchor="t" lIns="0" rIns="0" tIns="0" bIns="0">
            <a:spAutoFit/>
          </a:bodyPr>
          <a:lstStyle/>
          <a:p>
            <a:pPr algn="l">
              <a:lnSpc>
                <a:spcPct val="105000"/>
              </a:lnSpc>
              <a:spcAft>
                <a:spcPts val="600"/>
              </a:spcAft>
            </a:pPr>
            <a:r>
              <a:rPr sz="1800" b="1">
                <a:solidFill>
                  <a:srgbClr val="FFFFFF"/>
                </a:solidFill>
                <a:latin typeface="Arial"/>
              </a:rPr>
              <a:t>Bài đáng giải nhất và bài chứng minh được nhất là hai thứ khác nhau.</a:t>
            </a:r>
          </a:p>
        </p:txBody>
      </p:sp>
      <p:sp>
        <p:nvSpPr>
          <p:cNvPr id="8" name="TextBox 7"/>
          <p:cNvSpPr txBox="1"/>
          <p:nvPr/>
        </p:nvSpPr>
        <p:spPr>
          <a:xfrm>
            <a:off x="1600200" y="2651760"/>
            <a:ext cx="9784080" cy="640080"/>
          </a:xfrm>
          <a:prstGeom prst="rect">
            <a:avLst/>
          </a:prstGeom>
          <a:noFill/>
        </p:spPr>
        <p:txBody>
          <a:bodyPr wrap="square" anchor="t" lIns="0" rIns="0" tIns="0" bIns="0">
            <a:spAutoFit/>
          </a:bodyPr>
          <a:lstStyle/>
          <a:p>
            <a:pPr algn="l">
              <a:lnSpc>
                <a:spcPct val="115000"/>
              </a:lnSpc>
              <a:spcAft>
                <a:spcPts val="600"/>
              </a:spcAft>
            </a:pPr>
            <a:r>
              <a:rPr sz="1250" b="0">
                <a:solidFill>
                  <a:srgbClr val="AEBDCA"/>
                </a:solidFill>
                <a:latin typeface="Arial"/>
              </a:rPr>
              <a:t>Bài y tế có impact lớn hơn hẳn. Nhóm vẫn bỏ, vì trong 4 tiếng không ai kiểm được output đúng hay sai. Bỏ nó không phải vì nó kém — mà vì nhóm chưa đủ điều kiện.</a:t>
            </a:r>
          </a:p>
        </p:txBody>
      </p:sp>
      <p:sp>
        <p:nvSpPr>
          <p:cNvPr id="9" name="TextBox 8"/>
          <p:cNvSpPr txBox="1"/>
          <p:nvPr/>
        </p:nvSpPr>
        <p:spPr>
          <a:xfrm>
            <a:off x="822960" y="3538728"/>
            <a:ext cx="548640" cy="457200"/>
          </a:xfrm>
          <a:prstGeom prst="rect">
            <a:avLst/>
          </a:prstGeom>
          <a:noFill/>
        </p:spPr>
        <p:txBody>
          <a:bodyPr wrap="square" anchor="t" lIns="0" rIns="0" tIns="0" bIns="0">
            <a:spAutoFit/>
          </a:bodyPr>
          <a:lstStyle/>
          <a:p>
            <a:pPr algn="l">
              <a:lnSpc>
                <a:spcPct val="105000"/>
              </a:lnSpc>
              <a:spcAft>
                <a:spcPts val="600"/>
              </a:spcAft>
            </a:pPr>
            <a:r>
              <a:rPr sz="2600" b="1">
                <a:solidFill>
                  <a:srgbClr val="E0A458"/>
                </a:solidFill>
                <a:latin typeface="Arial"/>
              </a:rPr>
              <a:t>02</a:t>
            </a:r>
          </a:p>
        </p:txBody>
      </p:sp>
      <p:sp>
        <p:nvSpPr>
          <p:cNvPr id="10" name="TextBox 9"/>
          <p:cNvSpPr txBox="1"/>
          <p:nvPr/>
        </p:nvSpPr>
        <p:spPr>
          <a:xfrm>
            <a:off x="1600200" y="3557016"/>
            <a:ext cx="9784080" cy="365760"/>
          </a:xfrm>
          <a:prstGeom prst="rect">
            <a:avLst/>
          </a:prstGeom>
          <a:noFill/>
        </p:spPr>
        <p:txBody>
          <a:bodyPr wrap="square" anchor="t" lIns="0" rIns="0" tIns="0" bIns="0">
            <a:spAutoFit/>
          </a:bodyPr>
          <a:lstStyle/>
          <a:p>
            <a:pPr algn="l">
              <a:lnSpc>
                <a:spcPct val="105000"/>
              </a:lnSpc>
              <a:spcAft>
                <a:spcPts val="600"/>
              </a:spcAft>
            </a:pPr>
            <a:r>
              <a:rPr sz="1800" b="1">
                <a:solidFill>
                  <a:srgbClr val="FFFFFF"/>
                </a:solidFill>
                <a:latin typeface="Arial"/>
              </a:rPr>
              <a:t>Nghẽn nằm ở ngữ cảnh, không nằm ở mô hình.</a:t>
            </a:r>
          </a:p>
        </p:txBody>
      </p:sp>
      <p:sp>
        <p:nvSpPr>
          <p:cNvPr id="11" name="TextBox 10"/>
          <p:cNvSpPr txBox="1"/>
          <p:nvPr/>
        </p:nvSpPr>
        <p:spPr>
          <a:xfrm>
            <a:off x="1600200" y="3950208"/>
            <a:ext cx="9784080" cy="640080"/>
          </a:xfrm>
          <a:prstGeom prst="rect">
            <a:avLst/>
          </a:prstGeom>
          <a:noFill/>
        </p:spPr>
        <p:txBody>
          <a:bodyPr wrap="square" anchor="t" lIns="0" rIns="0" tIns="0" bIns="0">
            <a:spAutoFit/>
          </a:bodyPr>
          <a:lstStyle/>
          <a:p>
            <a:pPr algn="l">
              <a:lnSpc>
                <a:spcPct val="115000"/>
              </a:lnSpc>
              <a:spcAft>
                <a:spcPts val="600"/>
              </a:spcAft>
            </a:pPr>
            <a:r>
              <a:rPr sz="1250" b="0">
                <a:solidFill>
                  <a:srgbClr val="AEBDCA"/>
                </a:solidFill>
                <a:latin typeface="Arial"/>
              </a:rPr>
              <a:t>Bước giải nghẽn của cả giải pháp là bước KHÔNG dùng AI: ghép một file glossary do người duy trì. Nếu chỉ nhìn ma trận mà không nhìn nghẽn, nhóm đã đi tìm model mạnh hơn.</a:t>
            </a:r>
          </a:p>
        </p:txBody>
      </p:sp>
      <p:sp>
        <p:nvSpPr>
          <p:cNvPr id="12" name="TextBox 11"/>
          <p:cNvSpPr txBox="1"/>
          <p:nvPr/>
        </p:nvSpPr>
        <p:spPr>
          <a:xfrm>
            <a:off x="822960" y="4837176"/>
            <a:ext cx="548640" cy="457200"/>
          </a:xfrm>
          <a:prstGeom prst="rect">
            <a:avLst/>
          </a:prstGeom>
          <a:noFill/>
        </p:spPr>
        <p:txBody>
          <a:bodyPr wrap="square" anchor="t" lIns="0" rIns="0" tIns="0" bIns="0">
            <a:spAutoFit/>
          </a:bodyPr>
          <a:lstStyle/>
          <a:p>
            <a:pPr algn="l">
              <a:lnSpc>
                <a:spcPct val="105000"/>
              </a:lnSpc>
              <a:spcAft>
                <a:spcPts val="600"/>
              </a:spcAft>
            </a:pPr>
            <a:r>
              <a:rPr sz="2600" b="1">
                <a:solidFill>
                  <a:srgbClr val="E0A458"/>
                </a:solidFill>
                <a:latin typeface="Arial"/>
              </a:rPr>
              <a:t>03</a:t>
            </a:r>
          </a:p>
        </p:txBody>
      </p:sp>
      <p:sp>
        <p:nvSpPr>
          <p:cNvPr id="13" name="TextBox 12"/>
          <p:cNvSpPr txBox="1"/>
          <p:nvPr/>
        </p:nvSpPr>
        <p:spPr>
          <a:xfrm>
            <a:off x="1600200" y="4855464"/>
            <a:ext cx="9784080" cy="365760"/>
          </a:xfrm>
          <a:prstGeom prst="rect">
            <a:avLst/>
          </a:prstGeom>
          <a:noFill/>
        </p:spPr>
        <p:txBody>
          <a:bodyPr wrap="square" anchor="t" lIns="0" rIns="0" tIns="0" bIns="0">
            <a:spAutoFit/>
          </a:bodyPr>
          <a:lstStyle/>
          <a:p>
            <a:pPr algn="l">
              <a:lnSpc>
                <a:spcPct val="105000"/>
              </a:lnSpc>
              <a:spcAft>
                <a:spcPts val="600"/>
              </a:spcAft>
            </a:pPr>
            <a:r>
              <a:rPr sz="1800" b="1">
                <a:solidFill>
                  <a:srgbClr val="FFFFFF"/>
                </a:solidFill>
                <a:latin typeface="Arial"/>
              </a:rPr>
              <a:t>Rule không bị thay thế — Rule là nền, AI thêm vào đúng một bước.</a:t>
            </a:r>
          </a:p>
        </p:txBody>
      </p:sp>
      <p:sp>
        <p:nvSpPr>
          <p:cNvPr id="14" name="TextBox 13"/>
          <p:cNvSpPr txBox="1"/>
          <p:nvPr/>
        </p:nvSpPr>
        <p:spPr>
          <a:xfrm>
            <a:off x="1600200" y="5248656"/>
            <a:ext cx="9784080" cy="640080"/>
          </a:xfrm>
          <a:prstGeom prst="rect">
            <a:avLst/>
          </a:prstGeom>
          <a:noFill/>
        </p:spPr>
        <p:txBody>
          <a:bodyPr wrap="square" anchor="t" lIns="0" rIns="0" tIns="0" bIns="0">
            <a:spAutoFit/>
          </a:bodyPr>
          <a:lstStyle/>
          <a:p>
            <a:pPr algn="l">
              <a:lnSpc>
                <a:spcPct val="115000"/>
              </a:lnSpc>
              <a:spcAft>
                <a:spcPts val="600"/>
              </a:spcAft>
            </a:pPr>
            <a:r>
              <a:rPr sz="1250" b="0">
                <a:solidFill>
                  <a:srgbClr val="AEBDCA"/>
                </a:solidFill>
                <a:latin typeface="Arial"/>
              </a:rPr>
              <a:t>Nhóm làm Rule trước, đo, rồi mới bật AI ở tuần 2. Nếu tuần 1 cho thấy template giấy đã đủ thì dừng luôn ở Rule. Đó là kết cục nhóm hoàn toàn chấp nhận.</a:t>
            </a:r>
          </a:p>
        </p:txBody>
      </p:sp>
      <p:sp>
        <p:nvSpPr>
          <p:cNvPr id="15" name="TextBox 14"/>
          <p:cNvSpPr txBox="1"/>
          <p:nvPr/>
        </p:nvSpPr>
        <p:spPr>
          <a:xfrm>
            <a:off x="822960" y="6172200"/>
            <a:ext cx="10515600" cy="365760"/>
          </a:xfrm>
          <a:prstGeom prst="rect">
            <a:avLst/>
          </a:prstGeom>
          <a:noFill/>
        </p:spPr>
        <p:txBody>
          <a:bodyPr wrap="square" anchor="t" lIns="0" rIns="0" tIns="0" bIns="0">
            <a:spAutoFit/>
          </a:bodyPr>
          <a:lstStyle/>
          <a:p>
            <a:pPr algn="l">
              <a:lnSpc>
                <a:spcPct val="105000"/>
              </a:lnSpc>
              <a:spcAft>
                <a:spcPts val="600"/>
              </a:spcAft>
            </a:pPr>
            <a:r>
              <a:rPr sz="1100" b="0">
                <a:solidFill>
                  <a:srgbClr val="7E91A1"/>
                </a:solidFill>
                <a:latin typeface="Arial"/>
              </a:rPr>
              <a:t>Day 02 Lab · K4A · Nhóm: Khang · Hiệp · Sơn · Hoàng · Uyên · Dũng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